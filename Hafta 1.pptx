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9" r:id="rId1"/>
  </p:sldMasterIdLst>
  <p:sldIdLst>
    <p:sldId id="256" r:id="rId2"/>
    <p:sldId id="257" r:id="rId3"/>
    <p:sldId id="286" r:id="rId4"/>
    <p:sldId id="267" r:id="rId5"/>
    <p:sldId id="288" r:id="rId6"/>
    <p:sldId id="265" r:id="rId7"/>
    <p:sldId id="268" r:id="rId8"/>
    <p:sldId id="290" r:id="rId9"/>
    <p:sldId id="275" r:id="rId10"/>
    <p:sldId id="274" r:id="rId11"/>
    <p:sldId id="291" r:id="rId12"/>
    <p:sldId id="292" r:id="rId13"/>
    <p:sldId id="278" r:id="rId14"/>
    <p:sldId id="293" r:id="rId15"/>
    <p:sldId id="279" r:id="rId16"/>
    <p:sldId id="294" r:id="rId17"/>
    <p:sldId id="280" r:id="rId18"/>
    <p:sldId id="281" r:id="rId19"/>
    <p:sldId id="295" r:id="rId20"/>
    <p:sldId id="283" r:id="rId21"/>
    <p:sldId id="284" r:id="rId22"/>
    <p:sldId id="282" r:id="rId23"/>
    <p:sldId id="270" r:id="rId24"/>
    <p:sldId id="296" r:id="rId25"/>
    <p:sldId id="297" r:id="rId26"/>
    <p:sldId id="298" r:id="rId27"/>
    <p:sldId id="299" r:id="rId28"/>
    <p:sldId id="271" r:id="rId29"/>
    <p:sldId id="300" r:id="rId30"/>
    <p:sldId id="301" r:id="rId31"/>
    <p:sldId id="302" r:id="rId32"/>
    <p:sldId id="304" r:id="rId33"/>
    <p:sldId id="305" r:id="rId34"/>
    <p:sldId id="306" r:id="rId35"/>
    <p:sldId id="307" r:id="rId36"/>
    <p:sldId id="308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33CC33"/>
    <a:srgbClr val="FF3399"/>
    <a:srgbClr val="FF00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Açık Stil 2 - Vurgu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Açık Stil 3 - Vurgu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ema Uygulanmış Stil 1 - Vurgu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Açık Stil 1 - Vurgu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Açık Stil 1 - Vurgu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5" autoAdjust="0"/>
    <p:restoredTop sz="94700" autoAdjust="0"/>
  </p:normalViewPr>
  <p:slideViewPr>
    <p:cSldViewPr snapToGrid="0">
      <p:cViewPr varScale="1">
        <p:scale>
          <a:sx n="106" d="100"/>
          <a:sy n="106" d="100"/>
        </p:scale>
        <p:origin x="88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24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85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591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42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90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72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19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57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2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89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32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9857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F6194B-F41A-4525-AEB3-77447690A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62968"/>
            <a:ext cx="12192000" cy="823667"/>
          </a:xfrm>
        </p:spPr>
        <p:txBody>
          <a:bodyPr>
            <a:normAutofit/>
          </a:bodyPr>
          <a:lstStyle/>
          <a:p>
            <a:pPr algn="ctr"/>
            <a:r>
              <a:rPr lang="tr-TR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BİL207-NESNE YÖNELİMLİ PROGRAMLAMA 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2036685"/>
            <a:ext cx="12192000" cy="1126283"/>
          </a:xfrm>
        </p:spPr>
        <p:txBody>
          <a:bodyPr>
            <a:normAutofit/>
          </a:bodyPr>
          <a:lstStyle/>
          <a:p>
            <a:pPr algn="ctr"/>
            <a:r>
              <a:rPr lang="tr-T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MÜHENDİSLİK FAKÜLTESİ </a:t>
            </a:r>
          </a:p>
          <a:p>
            <a:pPr algn="ctr"/>
            <a:r>
              <a:rPr lang="tr-T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BİLGİSAYAR MÜHENDİSLİĞİ BÖLÜMÜ</a:t>
            </a:r>
          </a:p>
        </p:txBody>
      </p:sp>
      <p:pic>
        <p:nvPicPr>
          <p:cNvPr id="1026" name="Picture 2" descr="Amasya Üniversitesi Logo Vector (.AI) Free Download">
            <a:extLst>
              <a:ext uri="{FF2B5EF4-FFF2-40B4-BE49-F238E27FC236}">
                <a16:creationId xmlns:a16="http://schemas.microsoft.com/office/drawing/2014/main" id="{D0EB15F1-5DFF-44D5-B2FF-50975D94D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293" y="159026"/>
            <a:ext cx="1889990" cy="165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aşlık 1">
            <a:extLst>
              <a:ext uri="{FF2B5EF4-FFF2-40B4-BE49-F238E27FC236}">
                <a16:creationId xmlns:a16="http://schemas.microsoft.com/office/drawing/2014/main" id="{396A8088-FB20-4AC5-BF87-A4E322DF3AE5}"/>
              </a:ext>
            </a:extLst>
          </p:cNvPr>
          <p:cNvSpPr txBox="1">
            <a:spLocks/>
          </p:cNvSpPr>
          <p:nvPr/>
        </p:nvSpPr>
        <p:spPr>
          <a:xfrm>
            <a:off x="0" y="4432605"/>
            <a:ext cx="12192000" cy="11041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Hafta 1</a:t>
            </a:r>
          </a:p>
          <a:p>
            <a:pPr algn="ctr"/>
            <a:r>
              <a:rPr lang="tr-TR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Programlama Diline Giriş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C01E9738-1494-44D7-B855-BBD35AF016D4}"/>
              </a:ext>
            </a:extLst>
          </p:cNvPr>
          <p:cNvSpPr txBox="1">
            <a:spLocks/>
          </p:cNvSpPr>
          <p:nvPr/>
        </p:nvSpPr>
        <p:spPr>
          <a:xfrm>
            <a:off x="139485" y="5724630"/>
            <a:ext cx="12191999" cy="5074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Doç. Dr. Funda KUTLU ONAY</a:t>
            </a:r>
          </a:p>
        </p:txBody>
      </p:sp>
    </p:spTree>
    <p:extLst>
      <p:ext uri="{BB962C8B-B14F-4D97-AF65-F5344CB8AC3E}">
        <p14:creationId xmlns:p14="http://schemas.microsoft.com/office/powerpoint/2010/main" val="4251242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Genel Bakış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0777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(C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Sharp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Anders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Hejlsberg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 ekibi tarafından .Net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Framework’un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geliştirilmesi sürecinde geliştirilen basit, modern, genel amaçlı ve nesne yönelimli bir programlama dilidir. </a:t>
            </a:r>
          </a:p>
          <a:p>
            <a:pPr algn="just">
              <a:lnSpc>
                <a:spcPct val="100000"/>
              </a:lnSpc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C#, büyük ölçüde C ve C++ dillerine dayanmaktadır. Bu yüzden temel bir C ve C++ bilgisine sahip olan bir kişi için C# öğrenmek kolay ve eğlencelidir. </a:t>
            </a:r>
          </a:p>
          <a:p>
            <a:pPr algn="just">
              <a:lnSpc>
                <a:spcPct val="100000"/>
              </a:lnSpc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C#, .Net (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Net) platformu için geliştirilmiş nesne yönelimli bir dildir. </a:t>
            </a:r>
          </a:p>
          <a:p>
            <a:pPr algn="just">
              <a:lnSpc>
                <a:spcPct val="100000"/>
              </a:lnSpc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tarafından geliştirilmiş ve Avrupa Bilgisayar Üreticileri Birliği (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European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Manufacturers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Association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-ECMA) ve Uluslararası Standartlar Organizasyonu (International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Standards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ISO) tarafından onaylanmıştır.</a:t>
            </a:r>
          </a:p>
          <a:p>
            <a:pPr algn="just">
              <a:lnSpc>
                <a:spcPct val="100000"/>
              </a:lnSpc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C#, Ortak Dil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Altyapısı’na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Language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CLI) uygun tasarlanmıştır. CLI altyapısı, farklı bilgisayar platformları ve mimarilerinde çeşitli üst düzey dillerin kullanımına izin veren yürütülebilir kod ve çalışma zamanı ortamından oluşur. </a:t>
            </a:r>
          </a:p>
          <a:p>
            <a:pPr algn="just">
              <a:lnSpc>
                <a:spcPct val="100000"/>
              </a:lnSpc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ilk aşamada türetildiği dillere çok benzer bir dil gibi gözükse de, çok farklı ve faydalı özellikleri de bünyesinde barındırır. </a:t>
            </a:r>
            <a:endParaRPr lang="tr-T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749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Genel Bakış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0777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0000"/>
              </a:lnSpc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AE381C3-5F41-40B5-A067-439DE0E067D5}"/>
              </a:ext>
            </a:extLst>
          </p:cNvPr>
          <p:cNvSpPr/>
          <p:nvPr/>
        </p:nvSpPr>
        <p:spPr>
          <a:xfrm>
            <a:off x="4565650" y="2413000"/>
            <a:ext cx="2679700" cy="127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özellikleri</a:t>
            </a:r>
          </a:p>
        </p:txBody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646B0B98-9376-47FF-9F7C-51400A3310CA}"/>
              </a:ext>
            </a:extLst>
          </p:cNvPr>
          <p:cNvSpPr/>
          <p:nvPr/>
        </p:nvSpPr>
        <p:spPr>
          <a:xfrm>
            <a:off x="1765300" y="682035"/>
            <a:ext cx="1866900" cy="812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Hızlı çalışma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1EAE759B-70EA-4394-956B-7CB9D8662DB9}"/>
              </a:ext>
            </a:extLst>
          </p:cNvPr>
          <p:cNvSpPr/>
          <p:nvPr/>
        </p:nvSpPr>
        <p:spPr>
          <a:xfrm>
            <a:off x="415925" y="2104965"/>
            <a:ext cx="1866900" cy="812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Zengin kütüphane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F86A0510-3C63-4D92-B525-07315583995C}"/>
              </a:ext>
            </a:extLst>
          </p:cNvPr>
          <p:cNvSpPr/>
          <p:nvPr/>
        </p:nvSpPr>
        <p:spPr>
          <a:xfrm>
            <a:off x="9556750" y="2093559"/>
            <a:ext cx="1866900" cy="812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Nesne yönelimli</a:t>
            </a: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38933D68-D1A5-4993-9FF7-48E45DF82516}"/>
              </a:ext>
            </a:extLst>
          </p:cNvPr>
          <p:cNvSpPr/>
          <p:nvPr/>
        </p:nvSpPr>
        <p:spPr>
          <a:xfrm>
            <a:off x="415926" y="3372579"/>
            <a:ext cx="1866900" cy="812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Yapısal programlama dili</a:t>
            </a:r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DEDA8B1A-AF25-482F-AF1F-128B4BD6F401}"/>
              </a:ext>
            </a:extLst>
          </p:cNvPr>
          <p:cNvSpPr/>
          <p:nvPr/>
        </p:nvSpPr>
        <p:spPr>
          <a:xfrm>
            <a:off x="4972050" y="262935"/>
            <a:ext cx="1866900" cy="812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Basit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0EE4A9DF-0623-4262-A8C2-2F9B3A6F0574}"/>
              </a:ext>
            </a:extLst>
          </p:cNvPr>
          <p:cNvSpPr/>
          <p:nvPr/>
        </p:nvSpPr>
        <p:spPr>
          <a:xfrm>
            <a:off x="9582150" y="3347039"/>
            <a:ext cx="1866900" cy="812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 güvenliği</a:t>
            </a:r>
          </a:p>
          <a:p>
            <a:pPr algn="ctr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215B9F94-62E5-47E5-AEBA-2A4E6ABF833E}"/>
              </a:ext>
            </a:extLst>
          </p:cNvPr>
          <p:cNvSpPr/>
          <p:nvPr/>
        </p:nvSpPr>
        <p:spPr>
          <a:xfrm>
            <a:off x="4972050" y="5020265"/>
            <a:ext cx="1866900" cy="812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Ölçeklenebilir ve güncellenebilir</a:t>
            </a: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C2215E02-2A48-4B20-8447-800F0E8EBBE7}"/>
              </a:ext>
            </a:extLst>
          </p:cNvPr>
          <p:cNvSpPr/>
          <p:nvPr/>
        </p:nvSpPr>
        <p:spPr>
          <a:xfrm>
            <a:off x="1854201" y="4613865"/>
            <a:ext cx="1866900" cy="812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Bileşen yönelimli</a:t>
            </a:r>
          </a:p>
          <a:p>
            <a:pPr algn="ctr"/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(Component-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oriented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503F8CDF-6132-4958-8733-66AA5DA8D5B8}"/>
              </a:ext>
            </a:extLst>
          </p:cNvPr>
          <p:cNvSpPr/>
          <p:nvPr/>
        </p:nvSpPr>
        <p:spPr>
          <a:xfrm>
            <a:off x="8197852" y="4614836"/>
            <a:ext cx="1866900" cy="812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Birlikte çalışabilirlik</a:t>
            </a:r>
          </a:p>
          <a:p>
            <a:pPr algn="ctr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40F6E606-2DA9-4AD3-B664-4A6A5C4BF6EC}"/>
              </a:ext>
            </a:extLst>
          </p:cNvPr>
          <p:cNvSpPr/>
          <p:nvPr/>
        </p:nvSpPr>
        <p:spPr>
          <a:xfrm>
            <a:off x="8197852" y="693974"/>
            <a:ext cx="1866900" cy="812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bir programlama dili</a:t>
            </a:r>
          </a:p>
        </p:txBody>
      </p:sp>
      <p:cxnSp>
        <p:nvCxnSpPr>
          <p:cNvPr id="16" name="Düz Ok Bağlayıcısı 15">
            <a:extLst>
              <a:ext uri="{FF2B5EF4-FFF2-40B4-BE49-F238E27FC236}">
                <a16:creationId xmlns:a16="http://schemas.microsoft.com/office/drawing/2014/main" id="{DC67F7B6-B07A-4829-91A8-DAA11CC505A3}"/>
              </a:ext>
            </a:extLst>
          </p:cNvPr>
          <p:cNvCxnSpPr>
            <a:stCxn id="2" idx="0"/>
            <a:endCxn id="10" idx="2"/>
          </p:cNvCxnSpPr>
          <p:nvPr/>
        </p:nvCxnSpPr>
        <p:spPr>
          <a:xfrm flipV="1">
            <a:off x="5905500" y="1075735"/>
            <a:ext cx="0" cy="1337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7C64A778-97F2-41DD-B3F8-243FE59C2C26}"/>
              </a:ext>
            </a:extLst>
          </p:cNvPr>
          <p:cNvCxnSpPr>
            <a:cxnSpLocks/>
          </p:cNvCxnSpPr>
          <p:nvPr/>
        </p:nvCxnSpPr>
        <p:spPr>
          <a:xfrm>
            <a:off x="5905500" y="3683000"/>
            <a:ext cx="0" cy="1337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Düz Ok Bağlayıcısı 17">
            <a:extLst>
              <a:ext uri="{FF2B5EF4-FFF2-40B4-BE49-F238E27FC236}">
                <a16:creationId xmlns:a16="http://schemas.microsoft.com/office/drawing/2014/main" id="{0E08F76D-8DCA-4BC7-BF90-DD1BD9C03F3E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7124700" y="2499959"/>
            <a:ext cx="2432050" cy="262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>
            <a:extLst>
              <a:ext uri="{FF2B5EF4-FFF2-40B4-BE49-F238E27FC236}">
                <a16:creationId xmlns:a16="http://schemas.microsoft.com/office/drawing/2014/main" id="{BEDFDD9E-09E0-4C16-A803-6BFC9A42A15D}"/>
              </a:ext>
            </a:extLst>
          </p:cNvPr>
          <p:cNvCxnSpPr>
            <a:cxnSpLocks/>
          </p:cNvCxnSpPr>
          <p:nvPr/>
        </p:nvCxnSpPr>
        <p:spPr>
          <a:xfrm flipH="1" flipV="1">
            <a:off x="2282825" y="2511365"/>
            <a:ext cx="2432050" cy="262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>
            <a:extLst>
              <a:ext uri="{FF2B5EF4-FFF2-40B4-BE49-F238E27FC236}">
                <a16:creationId xmlns:a16="http://schemas.microsoft.com/office/drawing/2014/main" id="{247D8C40-4800-4CB9-9C6A-46F4887059BB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7150100" y="3269952"/>
            <a:ext cx="2432050" cy="483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>
            <a:extLst>
              <a:ext uri="{FF2B5EF4-FFF2-40B4-BE49-F238E27FC236}">
                <a16:creationId xmlns:a16="http://schemas.microsoft.com/office/drawing/2014/main" id="{3747D732-66EA-4E39-A646-F725922BD66F}"/>
              </a:ext>
            </a:extLst>
          </p:cNvPr>
          <p:cNvCxnSpPr>
            <a:cxnSpLocks/>
          </p:cNvCxnSpPr>
          <p:nvPr/>
        </p:nvCxnSpPr>
        <p:spPr>
          <a:xfrm flipH="1">
            <a:off x="2282825" y="3323549"/>
            <a:ext cx="2432050" cy="483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>
            <a:extLst>
              <a:ext uri="{FF2B5EF4-FFF2-40B4-BE49-F238E27FC236}">
                <a16:creationId xmlns:a16="http://schemas.microsoft.com/office/drawing/2014/main" id="{192002D2-B7F0-4AB4-86F8-7C9D23ADDEF7}"/>
              </a:ext>
            </a:extLst>
          </p:cNvPr>
          <p:cNvCxnSpPr>
            <a:cxnSpLocks/>
            <a:endCxn id="4" idx="2"/>
          </p:cNvCxnSpPr>
          <p:nvPr/>
        </p:nvCxnSpPr>
        <p:spPr>
          <a:xfrm flipH="1" flipV="1">
            <a:off x="2698750" y="1494835"/>
            <a:ext cx="2508250" cy="1005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üz Ok Bağlayıcısı 25">
            <a:extLst>
              <a:ext uri="{FF2B5EF4-FFF2-40B4-BE49-F238E27FC236}">
                <a16:creationId xmlns:a16="http://schemas.microsoft.com/office/drawing/2014/main" id="{92ABBC19-B2BB-464C-9C4D-AA8FA3DCF353}"/>
              </a:ext>
            </a:extLst>
          </p:cNvPr>
          <p:cNvCxnSpPr>
            <a:cxnSpLocks/>
          </p:cNvCxnSpPr>
          <p:nvPr/>
        </p:nvCxnSpPr>
        <p:spPr>
          <a:xfrm flipH="1">
            <a:off x="2790824" y="3599078"/>
            <a:ext cx="2508250" cy="1005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Düz Ok Bağlayıcısı 26">
            <a:extLst>
              <a:ext uri="{FF2B5EF4-FFF2-40B4-BE49-F238E27FC236}">
                <a16:creationId xmlns:a16="http://schemas.microsoft.com/office/drawing/2014/main" id="{DB7E0CB1-658B-44D9-954C-CCE31605F72F}"/>
              </a:ext>
            </a:extLst>
          </p:cNvPr>
          <p:cNvCxnSpPr>
            <a:cxnSpLocks/>
          </p:cNvCxnSpPr>
          <p:nvPr/>
        </p:nvCxnSpPr>
        <p:spPr>
          <a:xfrm flipV="1">
            <a:off x="6562724" y="1510358"/>
            <a:ext cx="2508250" cy="1005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>
            <a:extLst>
              <a:ext uri="{FF2B5EF4-FFF2-40B4-BE49-F238E27FC236}">
                <a16:creationId xmlns:a16="http://schemas.microsoft.com/office/drawing/2014/main" id="{A96C30CC-EED3-4AAE-B286-72D2CD2F2D61}"/>
              </a:ext>
            </a:extLst>
          </p:cNvPr>
          <p:cNvCxnSpPr>
            <a:cxnSpLocks/>
          </p:cNvCxnSpPr>
          <p:nvPr/>
        </p:nvCxnSpPr>
        <p:spPr>
          <a:xfrm>
            <a:off x="6613525" y="3593245"/>
            <a:ext cx="2508250" cy="1005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317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C#’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ın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Kullanım Alanları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Konsol tabanlı uygulama geliştirme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için program yazma ve geliştirme: 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r-T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 </a:t>
            </a:r>
            <a:r>
              <a:rPr lang="tr-T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tr-T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sayesinde C# diliyle Windows için gelişmiş, güçlü, hızlı ve güvenilir programlar yazılabilir.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ASP.NET için en uygun dildir.  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r-T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ASP.NET, Microsoft tarafından sağlanan bir web geliştirme platformudur. Web tabanlı uygulamalar oluşturmak için kullanılır.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servisleri geliştirme (XML ve Asp.NET aracılığıyla)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 uygulama geliştirme 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Xamarin</a:t>
            </a: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ile C# kullanarak tüm mobil platformlarda çalışacak uygulamalar geliştirilebilmektedir.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DLL yazabilme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DLL(</a:t>
            </a:r>
            <a:r>
              <a:rPr lang="tr-T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 </a:t>
            </a:r>
            <a:r>
              <a:rPr lang="tr-T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tekrar kullanılabilen program parçalarıdır. C’deki kütüphaneler gibi düşünebiliriz.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Stepping into ASP.NET MVC source code with Visual Studio debugger">
            <a:extLst>
              <a:ext uri="{FF2B5EF4-FFF2-40B4-BE49-F238E27FC236}">
                <a16:creationId xmlns:a16="http://schemas.microsoft.com/office/drawing/2014/main" id="{5D8E164F-CD71-459C-A17C-0BC7FF968C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5" name="AutoShape 6" descr="Stepping into ASP.NET MVC source code with Visual Studio debugger">
            <a:extLst>
              <a:ext uri="{FF2B5EF4-FFF2-40B4-BE49-F238E27FC236}">
                <a16:creationId xmlns:a16="http://schemas.microsoft.com/office/drawing/2014/main" id="{C57BE5B3-85A4-4F41-B8DF-7B6812CD7C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6" name="AutoShape 8" descr="Stepping into ASP.NET MVC source code with Visual Studio debugger">
            <a:extLst>
              <a:ext uri="{FF2B5EF4-FFF2-40B4-BE49-F238E27FC236}">
                <a16:creationId xmlns:a16="http://schemas.microsoft.com/office/drawing/2014/main" id="{D75B80EB-D3C7-4B41-B214-D3B87C5A88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7AD3F0AB-4E94-452A-BDA9-1E1A4CBA0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547" y="44743"/>
            <a:ext cx="1080000" cy="710137"/>
          </a:xfrm>
          <a:prstGeom prst="rect">
            <a:avLst/>
          </a:prstGeom>
        </p:spPr>
      </p:pic>
      <p:pic>
        <p:nvPicPr>
          <p:cNvPr id="1036" name="Picture 12" descr="Xml Nedir ? Ne amaçla Kullanılır ?">
            <a:extLst>
              <a:ext uri="{FF2B5EF4-FFF2-40B4-BE49-F238E27FC236}">
                <a16:creationId xmlns:a16="http://schemas.microsoft.com/office/drawing/2014/main" id="{47B8C6F0-C89B-465D-84ED-2BB92AF029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11" t="-8502" r="16388" b="1"/>
          <a:stretch/>
        </p:blipFill>
        <p:spPr bwMode="auto">
          <a:xfrm>
            <a:off x="9385372" y="57875"/>
            <a:ext cx="956006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icrosoft .Net Framework Logo Vector (.EPS) Free Download">
            <a:extLst>
              <a:ext uri="{FF2B5EF4-FFF2-40B4-BE49-F238E27FC236}">
                <a16:creationId xmlns:a16="http://schemas.microsoft.com/office/drawing/2014/main" id="{B13890F1-0B8D-47EB-9ADA-F6D281C3C1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60" b="18912"/>
          <a:stretch/>
        </p:blipFill>
        <p:spPr bwMode="auto">
          <a:xfrm>
            <a:off x="5599130" y="57875"/>
            <a:ext cx="1234375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894CA110-1486-491C-9ABA-B71C34FC8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364" y="69113"/>
            <a:ext cx="171665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ll icon PNG, ICO or ICNS | Free vector icons">
            <a:extLst>
              <a:ext uri="{FF2B5EF4-FFF2-40B4-BE49-F238E27FC236}">
                <a16:creationId xmlns:a16="http://schemas.microsoft.com/office/drawing/2014/main" id="{075488EC-DECB-43E8-AA3D-8EAC3A246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155" y="3488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516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Dilinin Güçlü Yönleri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0777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Otomatik çöp toplama (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garbage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koşullar (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Standart kütüphane </a:t>
            </a:r>
          </a:p>
          <a:p>
            <a:pPr algn="just">
              <a:lnSpc>
                <a:spcPct val="100000"/>
              </a:lnSpc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Derleme Sürümü (Assembly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Versioning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Delegeler(Temsilciler) ve Olay Yönetimi (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Delegates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Management)</a:t>
            </a:r>
          </a:p>
          <a:p>
            <a:pPr algn="just">
              <a:lnSpc>
                <a:spcPct val="100000"/>
              </a:lnSpc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Jenerikler (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Generics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Indeksleyiciler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Indexers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Koşullu derleme (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Compilation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Çoklu iş parçacığı (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Multithreading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LINQ (Language-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Query) ve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deyimleri (</a:t>
            </a:r>
            <a:r>
              <a:rPr lang="tr-TR" sz="2000" b="0" i="0" dirty="0">
                <a:solidFill>
                  <a:srgbClr val="666666"/>
                </a:solidFill>
                <a:effectLst/>
                <a:latin typeface="Georgia" panose="02040502050405020303" pitchFamily="18" charset="0"/>
              </a:rPr>
              <a:t>=&gt;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ile entegrasyon</a:t>
            </a:r>
          </a:p>
          <a:p>
            <a:pPr algn="just">
              <a:lnSpc>
                <a:spcPct val="100000"/>
              </a:lnSpc>
            </a:pPr>
            <a:endParaRPr lang="tr-T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850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 Nedir? 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 (çatı, çerçeve), yazılımcılar için önceden hazırlanmış kütüphaneleri içerisinde barındıran, bu kütüphanelerin geliştirilmesine ve değiştirilmesine imkan sağlayan yapıdır. </a:t>
            </a:r>
          </a:p>
          <a:p>
            <a:pPr algn="just"/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framework’un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sahip olduğu yetenekler,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framework’un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özelliklerine ve kütüphane genişliğine göre belirlenir.  </a:t>
            </a:r>
          </a:p>
          <a:p>
            <a:pPr algn="just"/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Neden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kullanmalıyız?  Başlıca sebepleri aşağıdaki gibi sıralayabiliriz: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Sağlam ve güvenli yapılar üstüne kod yazmanın sağladığı kolaylık,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MVC (Model, </a:t>
            </a:r>
            <a:r>
              <a:rPr lang="tr-T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Controller) yapısına uygun olduğu için geliştirilebilir altyapı,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Baştan aşağı bir düzen içerisinde çalışıyor olması,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Altyapı kurmakla uğraşmayacağınız için projeye daha fazla zaman ayırabilmek,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Fazla kod yükünden sizi kurtarmak ve bilinen yapıları tekrar yazmamak.</a:t>
            </a:r>
          </a:p>
          <a:p>
            <a:pPr algn="just"/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 bölümde, C# programlama oluşturmak için gerekli araçlardan bahsedilecek. </a:t>
            </a:r>
          </a:p>
          <a:p>
            <a:pPr algn="just"/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C#'ın .Net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frameworkunun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bir parçasıdır ve .Net uygulamaları yazmak için kullanılır. </a:t>
            </a:r>
          </a:p>
          <a:p>
            <a:pPr algn="just"/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 nedenle, ilk olarak C#’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ın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.Net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frameworku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ile olan ilişkisine değinelim:</a:t>
            </a:r>
          </a:p>
          <a:p>
            <a:pPr algn="just"/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416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 Framework ve Bileşenleri 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aşağıdaki uygulama türlerini yazmamıza yardımcı olan bir platformdur:</a:t>
            </a:r>
          </a:p>
          <a:p>
            <a:pPr lvl="1" algn="just"/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uygulamaları</a:t>
            </a:r>
          </a:p>
          <a:p>
            <a:pPr lvl="1" algn="just"/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uygulamaları</a:t>
            </a:r>
          </a:p>
          <a:p>
            <a:pPr lvl="1" algn="just"/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servisleri</a:t>
            </a:r>
          </a:p>
          <a:p>
            <a:pPr marL="201168" lvl="1" indent="0" algn="just">
              <a:buNone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uygulamaları, çok platformlu uygulamalardır. Aşağıdaki dillerden herhangi birinden kullanılabilecek şekilde tasarlanmıştır: C#, C++, Visual Basic,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Jscript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COBOL, vb. </a:t>
            </a:r>
          </a:p>
          <a:p>
            <a:pPr marL="201168" lvl="1" indent="0" algn="just">
              <a:buNone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Tüm bu diller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framework’e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erişebilir ve birbirleriyle iletişim kurabilir. </a:t>
            </a:r>
          </a:p>
          <a:p>
            <a:pPr marL="201168" lvl="1" indent="0" algn="just">
              <a:buNone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C# gibi istemci dilleri tarafından kullanılan muazzam bir kod kitaplığından oluşur. </a:t>
            </a:r>
          </a:p>
          <a:p>
            <a:pPr marL="201168" lvl="1" indent="0" algn="just">
              <a:buNone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 algn="just">
              <a:buNone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framework’un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bazı bileşenleri şunlardır:</a:t>
            </a:r>
          </a:p>
        </p:txBody>
      </p:sp>
    </p:spTree>
    <p:extLst>
      <p:ext uri="{BB962C8B-B14F-4D97-AF65-F5344CB8AC3E}">
        <p14:creationId xmlns:p14="http://schemas.microsoft.com/office/powerpoint/2010/main" val="1918826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 Framework ve Bileşenleri 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tNet World: .NET FRAMEWORK">
            <a:extLst>
              <a:ext uri="{FF2B5EF4-FFF2-40B4-BE49-F238E27FC236}">
                <a16:creationId xmlns:a16="http://schemas.microsoft.com/office/drawing/2014/main" id="{D60759F3-5F69-47FE-AD1D-AD985F68D7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65"/>
          <a:stretch/>
        </p:blipFill>
        <p:spPr bwMode="auto">
          <a:xfrm>
            <a:off x="1475982" y="1094582"/>
            <a:ext cx="4841421" cy="3274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F2013583-D7C1-497D-AE8E-223409D9B1B6}"/>
              </a:ext>
            </a:extLst>
          </p:cNvPr>
          <p:cNvSpPr txBox="1"/>
          <p:nvPr/>
        </p:nvSpPr>
        <p:spPr>
          <a:xfrm>
            <a:off x="1521206" y="568881"/>
            <a:ext cx="341939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tr-TR" dirty="0"/>
              <a:t>Yaklaşık 70’den fazla dili destekler. 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E52D7687-6CAE-4B5B-87A0-705950F07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592" y="223496"/>
            <a:ext cx="4025886" cy="5400000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4F512E2F-8683-447A-9927-6E539D35C713}"/>
              </a:ext>
            </a:extLst>
          </p:cNvPr>
          <p:cNvSpPr txBox="1"/>
          <p:nvPr/>
        </p:nvSpPr>
        <p:spPr>
          <a:xfrm>
            <a:off x="841490" y="5033759"/>
            <a:ext cx="1079896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kodu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ilk olarak </a:t>
            </a:r>
            <a:r>
              <a:rPr lang="tr-TR" sz="2000" b="1" dirty="0" err="1">
                <a:solidFill>
                  <a:schemeClr val="bg1"/>
                </a:solidFill>
                <a:highlight>
                  <a:srgbClr val="66FF33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’ye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derlenir. </a:t>
            </a:r>
          </a:p>
          <a:p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IL kodu çalıştırılmak istendiğinde </a:t>
            </a:r>
            <a:r>
              <a:rPr lang="tr-TR" sz="2000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000" b="1" dirty="0">
                <a:solidFill>
                  <a:schemeClr val="bg1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JIT</a:t>
            </a:r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derleyicilerini kullanarak kodu </a:t>
            </a:r>
            <a:r>
              <a:rPr lang="tr-T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makine diline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çevirir. </a:t>
            </a:r>
          </a:p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492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 Framework ve Bileşenleri 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Language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(CLS) ve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(CTS) ile .NET uyumlu dillerin hepsi aynı değişkenlere ve benzer NYP özelliklerine sahiptir.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Yani, örnek olarak, C# ile yazılan bir programdaki temel veri tipleri, VB.NET ile aynı özellikleri taşır. Böylece farklı dillerde yazılan bileşenler birbirleri ile sorunsuz çalışırlar. </a:t>
            </a:r>
          </a:p>
        </p:txBody>
      </p:sp>
    </p:spTree>
    <p:extLst>
      <p:ext uri="{BB962C8B-B14F-4D97-AF65-F5344CB8AC3E}">
        <p14:creationId xmlns:p14="http://schemas.microsoft.com/office/powerpoint/2010/main" val="3771757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4" descr="Each .NET programming language has a compiler that turns your code into Common Intermediate Language. At runtime, the Common Language Runtime turns the compiled code into machine code and runs it.">
            <a:extLst>
              <a:ext uri="{FF2B5EF4-FFF2-40B4-BE49-F238E27FC236}">
                <a16:creationId xmlns:a16="http://schemas.microsoft.com/office/drawing/2014/main" id="{CD453BFC-E487-45D4-BBA9-4ED4546058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5722883" cy="5722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156ACEDD-B502-4103-91B0-89214D42C948}"/>
              </a:ext>
            </a:extLst>
          </p:cNvPr>
          <p:cNvSpPr txBox="1"/>
          <p:nvPr/>
        </p:nvSpPr>
        <p:spPr>
          <a:xfrm>
            <a:off x="0" y="0"/>
            <a:ext cx="12192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Framework'ün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iki ana bileşeni: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Language Runtime (CLR)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Library (CL)’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tr-T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Language Runtime (CLR),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çalışan uygulamaları işleyen yürütme motorudur.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yönetimi,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garbage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tür güvenliği (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type-safety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handling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gibi hizmetler sunar. </a:t>
            </a:r>
          </a:p>
          <a:p>
            <a:endParaRPr lang="tr-TR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Library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ortak fonksiyonellik için bir dizi API ve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sağlar.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Stringler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tarihler, sayılar vb. için tipler sağlar. </a:t>
            </a:r>
          </a:p>
          <a:p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Library, dosyaları okumak ve yazmak,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veritabanlarına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bağlanmak, çizim yapmak ve daha fazlası için de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API'ler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içerir. </a:t>
            </a:r>
          </a:p>
          <a:p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uygulamaları C#, F# veya Visual Basic programlama dilinde yazılır. Kod, 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dilden bağımsız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Language (CIL) olarak derlenir. Derlenen kod, .dll veya .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uzantılı dosyalarda depolanır.</a:t>
            </a:r>
          </a:p>
          <a:p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 uygulama çalıştığında, CLR derlemeyi alır ve üzerinde çalıştığı bilgisayarın mimarisinde yürütülebilen makine koduna dönüştürmek için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(JIT) kullanır.</a:t>
            </a:r>
          </a:p>
        </p:txBody>
      </p:sp>
    </p:spTree>
    <p:extLst>
      <p:ext uri="{BB962C8B-B14F-4D97-AF65-F5344CB8AC3E}">
        <p14:creationId xmlns:p14="http://schemas.microsoft.com/office/powerpoint/2010/main" val="1629419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Language Runtime (CLR) (Ortak Dil Çalışma Platformu) 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20D64AD4-0189-4093-B35B-057C21888687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CLR, .NET altyapısında programların çalışmasını kontrol eden ve işletim sistemi ile programımız arasında yer alan arabirimdir.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Normalde yazılan kodlar makine diline çevrilir ve işletim sistemi ile direkt bağlantı kurup çalışırdı.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Eğer platformdan bağımsız bir ortam istiyorsak, ihtiyaç duyulan şey </a:t>
            </a:r>
            <a:r>
              <a:rPr lang="tr-T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CLR’dir</a:t>
            </a:r>
            <a:r>
              <a:rPr lang="tr-T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Hangi platformda olursak olalım (Linux, Mac, Windows), CLR bu noktada devreye girer ve .NET programlarını farklı platformlarda işletim sistemine göre çalıştırır.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Eğer çok sayıda platform olduğunu düşünürsek, programların bunlar için ayrı ayrı yazılması ve derlenmesi gerekir. Bu da imkansıza yakın bir durumdur.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 durumda çözüm, ortak bir ara dilin kullanılması ve her bir platform için bu ara dile çevrilmiş kodun çalıştırılmasıdır.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b="1" i="1" dirty="0">
                <a:solidFill>
                  <a:schemeClr val="bg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Yönetilen kod (</a:t>
            </a:r>
            <a:r>
              <a:rPr lang="tr-TR" sz="2400" b="1" i="1" dirty="0" err="1">
                <a:solidFill>
                  <a:schemeClr val="bg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Managed</a:t>
            </a:r>
            <a:r>
              <a:rPr lang="tr-TR" sz="2400" b="1" i="1" dirty="0">
                <a:solidFill>
                  <a:schemeClr val="bg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i="1" dirty="0" err="1">
                <a:solidFill>
                  <a:schemeClr val="bg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tr-TR" sz="2400" b="1" i="1" dirty="0">
                <a:solidFill>
                  <a:schemeClr val="bg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CLR tarafından yürütülen koddur. .NET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tarafından yönetilen ve makine koduna dönüştürülmeden önce ara bir dile (IL) çeviren kod bloğudur.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110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 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it-IT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(Intermediate Language (IL veya MSIL)) 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20D64AD4-0189-4093-B35B-057C21888687}"/>
              </a:ext>
            </a:extLst>
          </p:cNvPr>
          <p:cNvSpPr txBox="1">
            <a:spLocks/>
          </p:cNvSpPr>
          <p:nvPr/>
        </p:nvSpPr>
        <p:spPr>
          <a:xfrm>
            <a:off x="117986" y="625475"/>
            <a:ext cx="11868255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Herhangi bir C veya C++ kodu, doğrudan makine diline çevrilirdi. Doğrudan makine diline çevrilen programlar, işlemciye ve işletim sistemine özel olarak derlenirdi. </a:t>
            </a: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Ancak .NET ortamında kodumuzu derlediğimiz zaman elde ettiğimiz ara dil (IL) işlemci ve işletim sisteminden bağımsızdır. </a:t>
            </a: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içerisinde değişken tanımları, değişkenlerin nasıl saklanacağı, metotların nasıl çalıştırılacağı, aritmetik ve mantıksal işlemler, bellek kullanımı gibi birçok işin nasıl yapılacağı bilgisi mevcuttur.</a:t>
            </a: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tr-T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tr-T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Common Language Runtime - Wikipedia, la enciclopedia libre">
            <a:extLst>
              <a:ext uri="{FF2B5EF4-FFF2-40B4-BE49-F238E27FC236}">
                <a16:creationId xmlns:a16="http://schemas.microsoft.com/office/drawing/2014/main" id="{E126F179-016B-47F8-8C97-830108CE9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8452" y="3231138"/>
            <a:ext cx="4927403" cy="2632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C4283748-A803-43E3-A786-5E0741273FA1}"/>
              </a:ext>
            </a:extLst>
          </p:cNvPr>
          <p:cNvSpPr txBox="1"/>
          <p:nvPr/>
        </p:nvSpPr>
        <p:spPr>
          <a:xfrm>
            <a:off x="7816644" y="5978490"/>
            <a:ext cx="3121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/>
              <a:t>.NET derleme ve çalıştırma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34257BDD-3EAC-4B30-AB2D-1CB785C84C14}"/>
              </a:ext>
            </a:extLst>
          </p:cNvPr>
          <p:cNvSpPr txBox="1"/>
          <p:nvPr/>
        </p:nvSpPr>
        <p:spPr>
          <a:xfrm>
            <a:off x="0" y="2977504"/>
            <a:ext cx="63123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Bütün bunların yanında 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IL’de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olarak adlandırılan bir birim daha vardır. 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programda kullanılan verilerin tiplerinin yanında, oluşturulan sınıfların metotlarını (fonksiyonlarını) ve bunların özelliklerini ve diğer bilgileri içerir.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ile oluşturulan kodun çalıştırılabilir bir programa dönüştürülmesi için derlenmesi gerekir. Bunun için de </a:t>
            </a:r>
            <a:r>
              <a:rPr lang="tr-TR" sz="2200" b="1" dirty="0" err="1">
                <a:solidFill>
                  <a:schemeClr val="bg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</a:t>
            </a:r>
            <a:r>
              <a:rPr lang="tr-TR" sz="2200" b="1" dirty="0">
                <a:solidFill>
                  <a:schemeClr val="bg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200" b="1" dirty="0" err="1">
                <a:solidFill>
                  <a:schemeClr val="bg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tr-TR" sz="2200" b="1" dirty="0">
                <a:solidFill>
                  <a:schemeClr val="bg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 (JIT)</a:t>
            </a: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derleyici kullanılır.  </a:t>
            </a:r>
          </a:p>
        </p:txBody>
      </p:sp>
    </p:spTree>
    <p:extLst>
      <p:ext uri="{BB962C8B-B14F-4D97-AF65-F5344CB8AC3E}">
        <p14:creationId xmlns:p14="http://schemas.microsoft.com/office/powerpoint/2010/main" val="2194482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 (JIT) Derleyiciler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20D64AD4-0189-4093-B35B-057C21888687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1990439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C# ile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IL’ye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derlediğimiz programı çalıştırırken JIT derleyicileri devreye girerler.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 derleyiciler, programın çalıştırıldığı sistemin ve işlemcinin anlayabileceği makine kodunu oluştururlar.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ortamı için 3 farklı JIT mevcuttur: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JIT: IL kodu makine koduna çevrilirken </a:t>
            </a:r>
            <a:r>
              <a:rPr lang="tr-T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olarak kullanılan derleyicidir. IL kodunu  orijinal makine koduna çevirir ve ön bellekte tutar. Örnek olarak, program içindeki bir derlenmiş metot, program içerisinde tekrar çağrılırsa ön bellekten çağrılır.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tr-T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-JIT: Tüm program kodunu makine koduna dönüştürüp sonra çalıştıran JIT çeşididir. Çok fazla hafıza gerektirir. Programın daha hızlı çalışmasını sağlar (ön derleme yapar). Büyük programlar içindir.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tr-T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</a:t>
            </a: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JIT: Kısıtlı hafıza ve ön bellekli sistemlerde .NET programlarının daha iyi çalışmalarını sağlamak için kullanılır.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054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 (JIT) Derleyiciler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20D64AD4-0189-4093-B35B-057C21888687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1990439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6861FD2F-7298-491A-A290-B11B4F60C8BE}"/>
              </a:ext>
            </a:extLst>
          </p:cNvPr>
          <p:cNvSpPr/>
          <p:nvPr/>
        </p:nvSpPr>
        <p:spPr>
          <a:xfrm>
            <a:off x="1154587" y="2405862"/>
            <a:ext cx="1622323" cy="9070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ile yazılmış program kodu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5EAD84CF-7360-4264-96B9-D1883B0AB288}"/>
              </a:ext>
            </a:extLst>
          </p:cNvPr>
          <p:cNvSpPr/>
          <p:nvPr/>
        </p:nvSpPr>
        <p:spPr>
          <a:xfrm>
            <a:off x="1154587" y="1004099"/>
            <a:ext cx="1622323" cy="9070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DLL veya COM bileşenleri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2EBD3B1-2C8F-4F53-967D-4A6041228C28}"/>
              </a:ext>
            </a:extLst>
          </p:cNvPr>
          <p:cNvSpPr/>
          <p:nvPr/>
        </p:nvSpPr>
        <p:spPr>
          <a:xfrm>
            <a:off x="1166877" y="3807625"/>
            <a:ext cx="1622323" cy="9070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temel sınıf kütüphanesi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2615F7A0-B1C2-48FC-B693-E8458E88E875}"/>
              </a:ext>
            </a:extLst>
          </p:cNvPr>
          <p:cNvSpPr/>
          <p:nvPr/>
        </p:nvSpPr>
        <p:spPr>
          <a:xfrm>
            <a:off x="3881490" y="2405862"/>
            <a:ext cx="1622323" cy="9070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MSIL Assembly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5C3AD4EE-7BE9-43F5-97A2-B418CBBACF95}"/>
              </a:ext>
            </a:extLst>
          </p:cNvPr>
          <p:cNvSpPr/>
          <p:nvPr/>
        </p:nvSpPr>
        <p:spPr>
          <a:xfrm>
            <a:off x="6583813" y="2405861"/>
            <a:ext cx="1622323" cy="9070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CLR 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DCABF7D3-459E-4C08-9543-67826A8555F8}"/>
              </a:ext>
            </a:extLst>
          </p:cNvPr>
          <p:cNvSpPr/>
          <p:nvPr/>
        </p:nvSpPr>
        <p:spPr>
          <a:xfrm>
            <a:off x="6583812" y="3807625"/>
            <a:ext cx="1622323" cy="9070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JIT derleyiciler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A709D1D9-BF8C-4C80-BC01-4C6395E2E72D}"/>
              </a:ext>
            </a:extLst>
          </p:cNvPr>
          <p:cNvSpPr/>
          <p:nvPr/>
        </p:nvSpPr>
        <p:spPr>
          <a:xfrm>
            <a:off x="9286133" y="3807625"/>
            <a:ext cx="1622323" cy="9070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Çalıştırılabilir makine kodu</a:t>
            </a:r>
          </a:p>
        </p:txBody>
      </p:sp>
      <p:cxnSp>
        <p:nvCxnSpPr>
          <p:cNvPr id="5" name="Düz Ok Bağlayıcısı 4">
            <a:extLst>
              <a:ext uri="{FF2B5EF4-FFF2-40B4-BE49-F238E27FC236}">
                <a16:creationId xmlns:a16="http://schemas.microsoft.com/office/drawing/2014/main" id="{12A313B9-2280-4E2B-B279-926778DF14C4}"/>
              </a:ext>
            </a:extLst>
          </p:cNvPr>
          <p:cNvCxnSpPr>
            <a:stCxn id="8" idx="2"/>
            <a:endCxn id="2" idx="0"/>
          </p:cNvCxnSpPr>
          <p:nvPr/>
        </p:nvCxnSpPr>
        <p:spPr>
          <a:xfrm>
            <a:off x="1965749" y="1911125"/>
            <a:ext cx="0" cy="494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Düz Ok Bağlayıcısı 13">
            <a:extLst>
              <a:ext uri="{FF2B5EF4-FFF2-40B4-BE49-F238E27FC236}">
                <a16:creationId xmlns:a16="http://schemas.microsoft.com/office/drawing/2014/main" id="{994EC617-6F17-4F75-B74D-A037A2CBB322}"/>
              </a:ext>
            </a:extLst>
          </p:cNvPr>
          <p:cNvCxnSpPr>
            <a:cxnSpLocks/>
          </p:cNvCxnSpPr>
          <p:nvPr/>
        </p:nvCxnSpPr>
        <p:spPr>
          <a:xfrm flipV="1">
            <a:off x="1965748" y="3312888"/>
            <a:ext cx="0" cy="494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Düz Ok Bağlayıcısı 14">
            <a:extLst>
              <a:ext uri="{FF2B5EF4-FFF2-40B4-BE49-F238E27FC236}">
                <a16:creationId xmlns:a16="http://schemas.microsoft.com/office/drawing/2014/main" id="{8A6085FB-ABD7-4AE7-857C-C4B6C1BEE12B}"/>
              </a:ext>
            </a:extLst>
          </p:cNvPr>
          <p:cNvCxnSpPr>
            <a:cxnSpLocks/>
          </p:cNvCxnSpPr>
          <p:nvPr/>
        </p:nvCxnSpPr>
        <p:spPr>
          <a:xfrm rot="16200000">
            <a:off x="3329200" y="2319375"/>
            <a:ext cx="0" cy="108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Düz Ok Bağlayıcısı 15">
            <a:extLst>
              <a:ext uri="{FF2B5EF4-FFF2-40B4-BE49-F238E27FC236}">
                <a16:creationId xmlns:a16="http://schemas.microsoft.com/office/drawing/2014/main" id="{2C29515C-5D1F-47AD-8F36-EA82C6305912}"/>
              </a:ext>
            </a:extLst>
          </p:cNvPr>
          <p:cNvCxnSpPr>
            <a:cxnSpLocks/>
          </p:cNvCxnSpPr>
          <p:nvPr/>
        </p:nvCxnSpPr>
        <p:spPr>
          <a:xfrm rot="16200000">
            <a:off x="6043813" y="2319374"/>
            <a:ext cx="0" cy="108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00CF0E90-87A9-446C-A908-2FCE1705E08F}"/>
              </a:ext>
            </a:extLst>
          </p:cNvPr>
          <p:cNvCxnSpPr/>
          <p:nvPr/>
        </p:nvCxnSpPr>
        <p:spPr>
          <a:xfrm>
            <a:off x="7394973" y="3312887"/>
            <a:ext cx="0" cy="494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Düz Ok Bağlayıcısı 17">
            <a:extLst>
              <a:ext uri="{FF2B5EF4-FFF2-40B4-BE49-F238E27FC236}">
                <a16:creationId xmlns:a16="http://schemas.microsoft.com/office/drawing/2014/main" id="{1F4B8A8A-8F8B-47B8-A040-5899BB5A5D7A}"/>
              </a:ext>
            </a:extLst>
          </p:cNvPr>
          <p:cNvCxnSpPr>
            <a:cxnSpLocks/>
          </p:cNvCxnSpPr>
          <p:nvPr/>
        </p:nvCxnSpPr>
        <p:spPr>
          <a:xfrm rot="16200000">
            <a:off x="8746135" y="3721138"/>
            <a:ext cx="0" cy="108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DB932C74-59E2-4AC5-BA65-19E548E66DA9}"/>
              </a:ext>
            </a:extLst>
          </p:cNvPr>
          <p:cNvSpPr/>
          <p:nvPr/>
        </p:nvSpPr>
        <p:spPr>
          <a:xfrm>
            <a:off x="4887747" y="3890915"/>
            <a:ext cx="1150374" cy="74044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</a:t>
            </a:r>
            <a:r>
              <a:rPr lang="tr-T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-JIT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A7237A3-9027-4426-9D46-51639C24D99B}"/>
              </a:ext>
            </a:extLst>
          </p:cNvPr>
          <p:cNvSpPr/>
          <p:nvPr/>
        </p:nvSpPr>
        <p:spPr>
          <a:xfrm>
            <a:off x="4887747" y="5209384"/>
            <a:ext cx="1150374" cy="74044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JIT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096EDEA-AE26-4C8E-AFF5-1280FF9EBED7}"/>
              </a:ext>
            </a:extLst>
          </p:cNvPr>
          <p:cNvSpPr/>
          <p:nvPr/>
        </p:nvSpPr>
        <p:spPr>
          <a:xfrm>
            <a:off x="6819786" y="5209384"/>
            <a:ext cx="1150374" cy="74044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tr-T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-JIT</a:t>
            </a:r>
          </a:p>
        </p:txBody>
      </p:sp>
      <p:cxnSp>
        <p:nvCxnSpPr>
          <p:cNvPr id="22" name="Düz Ok Bağlayıcısı 21">
            <a:extLst>
              <a:ext uri="{FF2B5EF4-FFF2-40B4-BE49-F238E27FC236}">
                <a16:creationId xmlns:a16="http://schemas.microsoft.com/office/drawing/2014/main" id="{312CE2A4-490D-4E26-A7B2-7764DDCA56C9}"/>
              </a:ext>
            </a:extLst>
          </p:cNvPr>
          <p:cNvCxnSpPr>
            <a:cxnSpLocks/>
          </p:cNvCxnSpPr>
          <p:nvPr/>
        </p:nvCxnSpPr>
        <p:spPr>
          <a:xfrm rot="16200000">
            <a:off x="6313812" y="3991137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Düz Ok Bağlayıcısı 22">
            <a:extLst>
              <a:ext uri="{FF2B5EF4-FFF2-40B4-BE49-F238E27FC236}">
                <a16:creationId xmlns:a16="http://schemas.microsoft.com/office/drawing/2014/main" id="{F3996543-8D06-4F90-A7F8-10DBF14FAD63}"/>
              </a:ext>
            </a:extLst>
          </p:cNvPr>
          <p:cNvCxnSpPr>
            <a:cxnSpLocks/>
          </p:cNvCxnSpPr>
          <p:nvPr/>
        </p:nvCxnSpPr>
        <p:spPr>
          <a:xfrm flipV="1">
            <a:off x="7394973" y="4714647"/>
            <a:ext cx="0" cy="494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Düz Ok Bağlayıcısı 23">
            <a:extLst>
              <a:ext uri="{FF2B5EF4-FFF2-40B4-BE49-F238E27FC236}">
                <a16:creationId xmlns:a16="http://schemas.microsoft.com/office/drawing/2014/main" id="{C1CB29E9-4A67-46E6-AE74-66F245AF640F}"/>
              </a:ext>
            </a:extLst>
          </p:cNvPr>
          <p:cNvCxnSpPr>
            <a:cxnSpLocks/>
            <a:stCxn id="20" idx="7"/>
          </p:cNvCxnSpPr>
          <p:nvPr/>
        </p:nvCxnSpPr>
        <p:spPr>
          <a:xfrm flipV="1">
            <a:off x="5869653" y="4714647"/>
            <a:ext cx="714160" cy="603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497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Ortak Tip Sistemi (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CTS)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20D64AD4-0189-4093-B35B-057C21888687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Bütün veri tiplerinin tanımlı olduğu bir sistem olarak düşünebiliriz.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C# dilindeki veri türleri aslında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CTS’deki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veri türlerine karşılık gelen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arayüzlerdir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CTS sayesinde .NET platformu için geliştirilen bütün diller aynı veri tiplerini kullanırlar.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Tek değişen türlerin tanımlama yöntemi ve söz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dizimidir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Geliştirilen bir nesnenin diğer dillerde de sorunsuz çalışmasını garanti eder.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 olarak,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veri tipinin C++.NET ve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VB.NET’teki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boyutları aynıdır. Yani,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VB’de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geliştirilen bir DLL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C#’da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rahatlıkla kullanılabilir.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Özetle CTS sayesinde;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tr-T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NET’de</a:t>
            </a: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tip güvenli, yüksek performanslı ve kullanılan programlama dilinin diğer .NET uyumlu diller ile entegre bir şekilde çalışması sağlanır.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Birçok programlama dilinin .NET mimarisinde tam nesne yönelimli olarak .NET için program yazma aracı olmasına imkan verir.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Herhangi bir .NET uyumlu dilde geliştirilen nesne diğer dillerde de sorunsuz olarak çalıştırılabilir.</a:t>
            </a:r>
          </a:p>
        </p:txBody>
      </p:sp>
    </p:spTree>
    <p:extLst>
      <p:ext uri="{BB962C8B-B14F-4D97-AF65-F5344CB8AC3E}">
        <p14:creationId xmlns:p14="http://schemas.microsoft.com/office/powerpoint/2010/main" val="957414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Ortak Tip Sistemi (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CTS)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ata Types, Variables, and Arrays – Innovation for everyone">
            <a:extLst>
              <a:ext uri="{FF2B5EF4-FFF2-40B4-BE49-F238E27FC236}">
                <a16:creationId xmlns:a16="http://schemas.microsoft.com/office/drawing/2014/main" id="{79D04E71-2C31-4043-BFF7-54B93CD94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865" y="767237"/>
            <a:ext cx="9231140" cy="532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211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Language 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20D64AD4-0189-4093-B35B-057C21888687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8128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CLS, dil derleyicisinin uyması gereken kuralları içeren bir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dökümandır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Başka bir ifadeyle, bilgisayar programlarının nasıl CIL (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Intermadiate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Language) koda dönüştürüleceğinin bilgisini tutar.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 platformunu paylaşan dillerin sadece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CTS’yi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desteklemeleri yetmemektedir. Bunun yanında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CLS’yi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desteklemeleri gerekmektedir.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CLS’ ye uyan bir dille yazılmış kod ile diller arası iletişim sağlanmış olur.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 uyumlu bir dil ile geliştirilen bir program ile farklı diller arasında etkileşim sağlanabilir. .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NET’in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temel sınıf kütüphanelerinin içerisinde yer alan kodların büyük bir bölümü CLS uyumludur.</a:t>
            </a:r>
          </a:p>
        </p:txBody>
      </p:sp>
      <p:pic>
        <p:nvPicPr>
          <p:cNvPr id="2050" name="Picture 2" descr="NET and NET Core 1 1 NET architectural">
            <a:extLst>
              <a:ext uri="{FF2B5EF4-FFF2-40B4-BE49-F238E27FC236}">
                <a16:creationId xmlns:a16="http://schemas.microsoft.com/office/drawing/2014/main" id="{89DB74FC-D181-496A-BFC5-CA6712FFEE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0" t="27580" r="56661" b="10394"/>
          <a:stretch/>
        </p:blipFill>
        <p:spPr bwMode="auto">
          <a:xfrm>
            <a:off x="8351520" y="1629000"/>
            <a:ext cx="3840480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44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 Assembly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20D64AD4-0189-4093-B35B-057C21888687}"/>
              </a:ext>
            </a:extLst>
          </p:cNvPr>
          <p:cNvSpPr txBox="1">
            <a:spLocks/>
          </p:cNvSpPr>
          <p:nvPr/>
        </p:nvSpPr>
        <p:spPr>
          <a:xfrm>
            <a:off x="0" y="625474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.NET platformu için yazılan bütün kodların sonucunda oluşan .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 .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dll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uzantılı dosyalara genel olarak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denilmektedir.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.NET Assembly 4 bölümden oluşur: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tr-T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endParaRPr lang="tr-T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tr-T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Manifest</a:t>
            </a:r>
            <a:endParaRPr lang="tr-T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tr-T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endParaRPr lang="tr-T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1896B0C-89E8-4CA1-B6E0-72C7D501B9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40" r="19176"/>
          <a:stretch/>
        </p:blipFill>
        <p:spPr bwMode="auto">
          <a:xfrm>
            <a:off x="6223820" y="1629000"/>
            <a:ext cx="3699686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portant Notice Regarding Social Gatherings Involving Students | Horizon  School Division">
            <a:extLst>
              <a:ext uri="{FF2B5EF4-FFF2-40B4-BE49-F238E27FC236}">
                <a16:creationId xmlns:a16="http://schemas.microsoft.com/office/drawing/2014/main" id="{6F58FA21-7366-4235-8586-999DDA310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6136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98F60ACB-C57B-4049-A2C9-5384984C2163}"/>
              </a:ext>
            </a:extLst>
          </p:cNvPr>
          <p:cNvSpPr txBox="1"/>
          <p:nvPr/>
        </p:nvSpPr>
        <p:spPr>
          <a:xfrm>
            <a:off x="888591" y="4291470"/>
            <a:ext cx="4420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 olan Assembly değil, .NET Assembly </a:t>
            </a:r>
            <a:r>
              <a:rPr lang="tr-T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55089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NET Assembly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20D64AD4-0189-4093-B35B-057C21888687}"/>
              </a:ext>
            </a:extLst>
          </p:cNvPr>
          <p:cNvSpPr txBox="1">
            <a:spLocks/>
          </p:cNvSpPr>
          <p:nvPr/>
        </p:nvSpPr>
        <p:spPr>
          <a:xfrm>
            <a:off x="0" y="625474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IL: .NET ailesinde bulunan dillerden herhangi birisi ile yazılmış olan kodlar derlendikten sonra IL kodlarına dönüşür ve .NET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Assembly’deki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 katmanında bulunur. Ancak bu kodlar makine kodu değildir, CLR sayesinde makine koduna dönüşür.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içerisinde uygulamayı yazarken kullandığımız değişkenler, metotlar,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dll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 onların hangi metotlarının ya da değişkenlerinin kullanıldığı bilgisi gibi tanımlamalar bulunur.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Manifest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Manifest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metadalarını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diğer bir değişle kimlik bilgilerini tutar. Bu bilgiler nedir diye soracak olursak;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versiyon numarası, ürün adı,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adı, şirket bilgileri, yasal uyarılar, başka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assembly'lerle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referans yoluyla olan ilişkileri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gibi bilgiler tutulur.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Resource: Uygulamada kullanılan kaynak dosyaların bulunduğu yer. Nedir bu dosyalar ; resim dosyaları,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gif'ler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html-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yada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olabilir.</a:t>
            </a:r>
          </a:p>
        </p:txBody>
      </p:sp>
    </p:spTree>
    <p:extLst>
      <p:ext uri="{BB962C8B-B14F-4D97-AF65-F5344CB8AC3E}">
        <p14:creationId xmlns:p14="http://schemas.microsoft.com/office/powerpoint/2010/main" val="3282852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 fontScale="85000" lnSpcReduction="10000"/>
          </a:bodyPr>
          <a:lstStyle/>
          <a:p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Namespaces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.NET Class Library (İsim Alanları ve .NET Sınıf Kütüphanesi)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20D64AD4-0189-4093-B35B-057C21888687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Programcıların işlerini kolaylaştırmak için birtakım hazır kütüphaneler vardır ancak C# ile gelen bir hazır kütüphane yoktur.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Bunun yerine .NET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alt yapısında temel türler ve sınıflar mevcuttur.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.Bütün bu sınıfları ve türleri iyi organize edebilmek için .NET, isim alanı (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kavramını kullanmaktadır.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dilinde .NET Framework sınıf kütüphanesi içerisindeki veri türleri ve sınıflar “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anahtar sözcüğü ile kullanılır. Diğer dillerde de bu isim alanları farklı şekillerde derleyiciye bildirilir.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Aslında temelde yapılan iş, .NET Framework Sınıf Kütüphanelerini kullanmayı sağlamaktır.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NET’teki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sınıf kütüphaneleri bir dilden bağımsız bir yapıdadır.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geliştirirken sınıfların birbiri ile ilgili olanlarını aynı isim alanı içine konulması programdaki hataları kolay bulma ve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anlaşılabilirlik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açısından oldukça önemlidir.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048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 fontScale="85000" lnSpcReduction="10000"/>
          </a:bodyPr>
          <a:lstStyle/>
          <a:p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Namespaces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.NET Class Library (İsim Alanları ve .NET Sınıf Kütüphanesi)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20D64AD4-0189-4093-B35B-057C21888687}"/>
              </a:ext>
            </a:extLst>
          </p:cNvPr>
          <p:cNvSpPr txBox="1">
            <a:spLocks/>
          </p:cNvSpPr>
          <p:nvPr/>
        </p:nvSpPr>
        <p:spPr>
          <a:xfrm>
            <a:off x="132735" y="625474"/>
            <a:ext cx="11905637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tr-T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isim alanı: .NET çalışırken gerekli temel sınıfları içerir. Ayrıca diğer tüm sınıf kütüphaneleri de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içinde kümelenmiştir.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tr-T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hiyerarşinin en tepesinde bulunur.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Konsol temelli uygulamalarda temel giriş çıkış işlemleri için gerekli temel sınıf “Console”, bir çok matematiksel fonksiyonu içinde barındıran “Math” sınıfı da </a:t>
            </a:r>
            <a:r>
              <a:rPr lang="tr-T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isim alanı içerisinde yer alır.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System.Data</a:t>
            </a:r>
            <a:r>
              <a:rPr lang="tr-T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Veritabanı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işlemlerinin tamamı için hazır gelen sınıf kütüphanesine bu isim alanı ile erişilir.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 sınıf kütüphanesi içindeki SQL ile işlemler için “</a:t>
            </a:r>
            <a:r>
              <a:rPr lang="tr-T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System.Data.SqlClient</a:t>
            </a: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isim alanı mevcuttur.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System.Xml</a:t>
            </a:r>
            <a:r>
              <a:rPr lang="tr-T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 biçimlendirme ve internetten veri paylaşımı için en çok kullanılan teknolojilerden biri olan XML ile çalışmak için gerekli sınırları içerir.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System.Net</a:t>
            </a:r>
            <a:r>
              <a:rPr lang="tr-T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 ve ağ protokolleri için kullanılır.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System.IO : 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dosyalara bilgi girişi, dosyadan bilgi okuma, I/O işlemleri için kullanılır.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System.Windows.Forms</a:t>
            </a:r>
            <a:r>
              <a:rPr lang="tr-T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tabanlı uygulamalarda kullanılan zengin grafik arabirimi kontrollerini içerir.</a:t>
            </a:r>
          </a:p>
        </p:txBody>
      </p:sp>
      <p:pic>
        <p:nvPicPr>
          <p:cNvPr id="5122" name="Picture 2" descr="Getting the most out of Foglight&amp;#39;s .NET Monitoring - Part 1 - Foglight  Administrators - Foglight - Quest Community">
            <a:extLst>
              <a:ext uri="{FF2B5EF4-FFF2-40B4-BE49-F238E27FC236}">
                <a16:creationId xmlns:a16="http://schemas.microsoft.com/office/drawing/2014/main" id="{261C93A8-743F-4F2B-8FDC-461403B9F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8487" y="4200427"/>
            <a:ext cx="1611775" cy="92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511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Uygulama Etki Alanı (Application Domain)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20D64AD4-0189-4093-B35B-057C21888687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7108723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İşletim sistemleri ve çalışma zamanı ortamları (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environments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tipik olarak uygulamalar arasında bir tür izolasyon sağlar. Örneğin, Windows uygulamaları izole etmek için süreçleri (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kullanır. Bu izolasyon, bir uygulamada çalışan kodun diğer alakasız uygulamaları olumsuz etkilememesini sağlamak için gereklidir.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Uygulama etki alanı sayesinde aynı anda çalışan birden fazla program veya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birbirinden izole edildiği halde sistemde herhangi bir aksaklığa yol açmadan aralarında veri alışverişi yapabilirler.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Uygulama etki alanları genellikle bir uygulama çalıştırılmadan önce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CLR’nin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ön yüklemesinden sorumlu olan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bilgisayarları (host) tarafından oluşturulur. </a:t>
            </a:r>
            <a:endParaRPr lang="tr-T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App Domains and Their Uses – Gavin Draper">
            <a:extLst>
              <a:ext uri="{FF2B5EF4-FFF2-40B4-BE49-F238E27FC236}">
                <a16:creationId xmlns:a16="http://schemas.microsoft.com/office/drawing/2014/main" id="{B1D200F9-F413-4B2E-A945-A146E1B74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775" y="1250950"/>
            <a:ext cx="4707172" cy="38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611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için IDE (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Environment)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C# için aşağıdaki geliştirme araçlarını sağlar:</a:t>
            </a:r>
          </a:p>
          <a:p>
            <a:pPr marL="635508" lvl="1" indent="-342900" algn="just"/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</a:t>
            </a:r>
            <a:r>
              <a:rPr lang="tr-T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(VS)</a:t>
            </a:r>
          </a:p>
          <a:p>
            <a:pPr marL="635508" lvl="1" indent="-342900" algn="just"/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C# 2010 Express (VCE)</a:t>
            </a:r>
          </a:p>
          <a:p>
            <a:pPr marL="635508" lvl="1" indent="-342900" algn="just"/>
            <a:r>
              <a:rPr lang="tr-T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Web Developer</a:t>
            </a:r>
          </a:p>
          <a:p>
            <a:pPr marL="0" indent="0" algn="just">
              <a:buNone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 iki araç Microsoft resmi web sayfasından ücretsiz temin edilebilir. VS için ise öğrenci kurulumları ücretsiz olarak sağlanmaktadır. </a:t>
            </a:r>
          </a:p>
          <a:p>
            <a:pPr marL="0" indent="0" algn="just">
              <a:buNone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Ayrıca .NET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Windows işletim sistemi üzerinde çalışır. Farklı işletim sistemleri (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BSD,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Linux, OS X,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Solaris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Unix vb.) kullanan geliştiriciler için . </a:t>
            </a:r>
            <a:r>
              <a:rPr lang="tr-T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NET’in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açık kaynak kodlu versiyonu olan Mono üzerinde de C# kodları çalıştırılabilir. </a:t>
            </a:r>
          </a:p>
        </p:txBody>
      </p:sp>
    </p:spTree>
    <p:extLst>
      <p:ext uri="{BB962C8B-B14F-4D97-AF65-F5344CB8AC3E}">
        <p14:creationId xmlns:p14="http://schemas.microsoft.com/office/powerpoint/2010/main" val="144991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2019 ile C# Projesinin Başlatılması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7138A5BC-81A6-4B8D-8156-C3A6A21700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74"/>
          <a:stretch/>
        </p:blipFill>
        <p:spPr>
          <a:xfrm>
            <a:off x="58011" y="729000"/>
            <a:ext cx="8374789" cy="5400000"/>
          </a:xfrm>
          <a:prstGeom prst="rect">
            <a:avLst/>
          </a:prstGeom>
        </p:spPr>
      </p:pic>
      <p:sp>
        <p:nvSpPr>
          <p:cNvPr id="5" name="Dikdörtgen: Köşeleri Yuvarlatılmış 4">
            <a:extLst>
              <a:ext uri="{FF2B5EF4-FFF2-40B4-BE49-F238E27FC236}">
                <a16:creationId xmlns:a16="http://schemas.microsoft.com/office/drawing/2014/main" id="{D8B7FAC3-20E5-46B7-9D7A-A5B8056E3B61}"/>
              </a:ext>
            </a:extLst>
          </p:cNvPr>
          <p:cNvSpPr/>
          <p:nvPr/>
        </p:nvSpPr>
        <p:spPr>
          <a:xfrm>
            <a:off x="5364480" y="4084320"/>
            <a:ext cx="3068320" cy="6254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372CD40A-A54D-4027-AB28-31766BCAD8AD}"/>
              </a:ext>
            </a:extLst>
          </p:cNvPr>
          <p:cNvSpPr txBox="1"/>
          <p:nvPr/>
        </p:nvSpPr>
        <p:spPr>
          <a:xfrm>
            <a:off x="8655145" y="5034259"/>
            <a:ext cx="1683476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Yeni proje oluşturmak için tıklıyoruz. </a:t>
            </a:r>
          </a:p>
        </p:txBody>
      </p:sp>
      <p:cxnSp>
        <p:nvCxnSpPr>
          <p:cNvPr id="9" name="Düz Ok Bağlayıcısı 8">
            <a:extLst>
              <a:ext uri="{FF2B5EF4-FFF2-40B4-BE49-F238E27FC236}">
                <a16:creationId xmlns:a16="http://schemas.microsoft.com/office/drawing/2014/main" id="{750BB82B-D93E-4A83-BF7E-8690CD6899E2}"/>
              </a:ext>
            </a:extLst>
          </p:cNvPr>
          <p:cNvCxnSpPr>
            <a:stCxn id="6" idx="0"/>
            <a:endCxn id="5" idx="3"/>
          </p:cNvCxnSpPr>
          <p:nvPr/>
        </p:nvCxnSpPr>
        <p:spPr>
          <a:xfrm flipH="1" flipV="1">
            <a:off x="8432800" y="4397057"/>
            <a:ext cx="1064083" cy="6372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etin kutusu 9">
            <a:extLst>
              <a:ext uri="{FF2B5EF4-FFF2-40B4-BE49-F238E27FC236}">
                <a16:creationId xmlns:a16="http://schemas.microsoft.com/office/drawing/2014/main" id="{262B3C6B-38AA-42ED-98FA-51C226EE3A60}"/>
              </a:ext>
            </a:extLst>
          </p:cNvPr>
          <p:cNvSpPr txBox="1"/>
          <p:nvPr/>
        </p:nvSpPr>
        <p:spPr>
          <a:xfrm>
            <a:off x="1720192" y="3806076"/>
            <a:ext cx="1683476" cy="203132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Önceden oluşturulan projeler için arama yöntemi veya "Daha eski" butonu kullanılabilir. 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4E6C2722-57F7-4B68-82F2-35AACE83672F}"/>
              </a:ext>
            </a:extLst>
          </p:cNvPr>
          <p:cNvSpPr/>
          <p:nvPr/>
        </p:nvSpPr>
        <p:spPr>
          <a:xfrm>
            <a:off x="179346" y="1548580"/>
            <a:ext cx="3345520" cy="12978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DED2C46F-9807-4447-A5B7-8DC4A01CE427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1720194" y="2846440"/>
            <a:ext cx="841736" cy="9596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504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2019 ile C# Projesinin Başlatılması</a:t>
            </a:r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0F960CDB-AF30-47C4-A7B4-3EE936B7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01" y="617907"/>
            <a:ext cx="8292260" cy="5400000"/>
          </a:xfrm>
          <a:prstGeom prst="rect">
            <a:avLst/>
          </a:prstGeom>
        </p:spPr>
      </p:pic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8951D260-31D7-43D7-B2F2-70D8C4FBD366}"/>
              </a:ext>
            </a:extLst>
          </p:cNvPr>
          <p:cNvSpPr/>
          <p:nvPr/>
        </p:nvSpPr>
        <p:spPr>
          <a:xfrm>
            <a:off x="3509112" y="1270873"/>
            <a:ext cx="4628628" cy="5014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21D771BF-5A8E-48AB-8B28-2078281DDA20}"/>
              </a:ext>
            </a:extLst>
          </p:cNvPr>
          <p:cNvSpPr/>
          <p:nvPr/>
        </p:nvSpPr>
        <p:spPr>
          <a:xfrm>
            <a:off x="3509112" y="2514417"/>
            <a:ext cx="4628628" cy="7714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ED517D67-1A56-464D-8049-820AAD21B3AE}"/>
              </a:ext>
            </a:extLst>
          </p:cNvPr>
          <p:cNvSpPr/>
          <p:nvPr/>
        </p:nvSpPr>
        <p:spPr>
          <a:xfrm>
            <a:off x="7250287" y="5376831"/>
            <a:ext cx="975944" cy="5014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E52F3E71-234E-4234-AC9D-D26E78352506}"/>
              </a:ext>
            </a:extLst>
          </p:cNvPr>
          <p:cNvSpPr txBox="1"/>
          <p:nvPr/>
        </p:nvSpPr>
        <p:spPr>
          <a:xfrm>
            <a:off x="9613791" y="3188561"/>
            <a:ext cx="2155422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Dili (C#) ve platformu (Windows) filtreleyerek konsol uygulamasını seçiyoruz ve sonraki adıma geçiyoruz. </a:t>
            </a:r>
          </a:p>
        </p:txBody>
      </p: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30728F7A-5B3A-48E0-B417-588E59CD768A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8137740" y="2900124"/>
            <a:ext cx="1742072" cy="8355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17DA251D-D242-42FD-B443-9761B81798A4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8226231" y="5219886"/>
            <a:ext cx="2465271" cy="4076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591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Resim 18">
            <a:extLst>
              <a:ext uri="{FF2B5EF4-FFF2-40B4-BE49-F238E27FC236}">
                <a16:creationId xmlns:a16="http://schemas.microsoft.com/office/drawing/2014/main" id="{1919665D-1E21-41F2-AEA7-76B812652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5" y="729000"/>
            <a:ext cx="8586602" cy="5400000"/>
          </a:xfrm>
          <a:prstGeom prst="rect">
            <a:avLst/>
          </a:prstGeom>
        </p:spPr>
      </p:pic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2019 ile C# Projesinin Başlatılması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272636A6-33D3-46B6-9460-80F1C1DE9964}"/>
              </a:ext>
            </a:extLst>
          </p:cNvPr>
          <p:cNvSpPr/>
          <p:nvPr/>
        </p:nvSpPr>
        <p:spPr>
          <a:xfrm>
            <a:off x="132735" y="1720362"/>
            <a:ext cx="5338918" cy="13473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89CBDFB0-4651-4C34-B513-FDD6514D3FAA}"/>
              </a:ext>
            </a:extLst>
          </p:cNvPr>
          <p:cNvSpPr txBox="1"/>
          <p:nvPr/>
        </p:nvSpPr>
        <p:spPr>
          <a:xfrm>
            <a:off x="9068100" y="4066201"/>
            <a:ext cx="2361900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Uygulamamıza isim veriyoruz ve kaydedeceğimiz dosya yolunu belirleyip Oluştur butonuna basıyoruz. </a:t>
            </a: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162D0684-BA81-4735-B097-9E5AD78AFF59}"/>
              </a:ext>
            </a:extLst>
          </p:cNvPr>
          <p:cNvCxnSpPr>
            <a:cxnSpLocks/>
            <a:stCxn id="7" idx="0"/>
            <a:endCxn id="6" idx="3"/>
          </p:cNvCxnSpPr>
          <p:nvPr/>
        </p:nvCxnSpPr>
        <p:spPr>
          <a:xfrm flipH="1" flipV="1">
            <a:off x="5471653" y="2394014"/>
            <a:ext cx="4777397" cy="16721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D398DDC8-6DE1-4DE0-8A87-40BD1E72F9CD}"/>
              </a:ext>
            </a:extLst>
          </p:cNvPr>
          <p:cNvSpPr/>
          <p:nvPr/>
        </p:nvSpPr>
        <p:spPr>
          <a:xfrm>
            <a:off x="7561874" y="5622543"/>
            <a:ext cx="928610" cy="4243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cxnSp>
        <p:nvCxnSpPr>
          <p:cNvPr id="15" name="Düz Ok Bağlayıcısı 14">
            <a:extLst>
              <a:ext uri="{FF2B5EF4-FFF2-40B4-BE49-F238E27FC236}">
                <a16:creationId xmlns:a16="http://schemas.microsoft.com/office/drawing/2014/main" id="{096D05A7-2E76-41DE-A694-E1CFDB864869}"/>
              </a:ext>
            </a:extLst>
          </p:cNvPr>
          <p:cNvCxnSpPr>
            <a:cxnSpLocks/>
          </p:cNvCxnSpPr>
          <p:nvPr/>
        </p:nvCxnSpPr>
        <p:spPr>
          <a:xfrm flipH="1">
            <a:off x="8490255" y="5540480"/>
            <a:ext cx="577846" cy="28004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999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Resim 10">
            <a:extLst>
              <a:ext uri="{FF2B5EF4-FFF2-40B4-BE49-F238E27FC236}">
                <a16:creationId xmlns:a16="http://schemas.microsoft.com/office/drawing/2014/main" id="{4C8E6379-035C-4958-A7DF-65CF2F02C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54" y="729000"/>
            <a:ext cx="10955691" cy="5400000"/>
          </a:xfrm>
          <a:prstGeom prst="rect">
            <a:avLst/>
          </a:prstGeom>
        </p:spPr>
      </p:pic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2019 ile C# Projesinin Başlatılması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F7E89A1C-8CB5-4A85-87D8-143130723C18}"/>
              </a:ext>
            </a:extLst>
          </p:cNvPr>
          <p:cNvSpPr txBox="1"/>
          <p:nvPr/>
        </p:nvSpPr>
        <p:spPr>
          <a:xfrm>
            <a:off x="3867764" y="5314815"/>
            <a:ext cx="352117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tr-TR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Uygulamamız geliştirmeye hazır </a:t>
            </a:r>
            <a:r>
              <a:rPr lang="tr-TR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tr-TR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9810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İlk Uygulamamız : HELLO WORLD!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lt Başlık 2">
            <a:extLst>
              <a:ext uri="{FF2B5EF4-FFF2-40B4-BE49-F238E27FC236}">
                <a16:creationId xmlns:a16="http://schemas.microsoft.com/office/drawing/2014/main" id="{D27428E8-35E7-4727-803D-3D3BC901C300}"/>
              </a:ext>
            </a:extLst>
          </p:cNvPr>
          <p:cNvSpPr txBox="1">
            <a:spLocks/>
          </p:cNvSpPr>
          <p:nvPr/>
        </p:nvSpPr>
        <p:spPr>
          <a:xfrm>
            <a:off x="0" y="625474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Minimum bir C# programı aşağıdaki ögelerden oluşur:</a:t>
            </a:r>
          </a:p>
          <a:p>
            <a:pPr marL="761238" lvl="2" indent="-285750" algn="just">
              <a:lnSpc>
                <a:spcPct val="100000"/>
              </a:lnSpc>
            </a:pPr>
            <a:r>
              <a:rPr lang="tr-T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tr-T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bildirimi</a:t>
            </a:r>
          </a:p>
          <a:p>
            <a:pPr marL="761238" lvl="2" indent="-285750" algn="just">
              <a:lnSpc>
                <a:spcPct val="100000"/>
              </a:lnSpc>
            </a:pPr>
            <a:r>
              <a:rPr lang="tr-T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sınıf</a:t>
            </a:r>
          </a:p>
          <a:p>
            <a:pPr marL="761238" lvl="2" indent="-285750" algn="just">
              <a:lnSpc>
                <a:spcPct val="100000"/>
              </a:lnSpc>
            </a:pPr>
            <a:r>
              <a:rPr lang="tr-T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Sınıf metotları</a:t>
            </a:r>
          </a:p>
          <a:p>
            <a:pPr marL="761238" lvl="2" indent="-285750" algn="just">
              <a:lnSpc>
                <a:spcPct val="100000"/>
              </a:lnSpc>
            </a:pPr>
            <a:r>
              <a:rPr lang="tr-T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Sınıf özellikleri</a:t>
            </a:r>
          </a:p>
          <a:p>
            <a:pPr marL="761238" lvl="2" indent="-285750" algn="just">
              <a:lnSpc>
                <a:spcPct val="100000"/>
              </a:lnSpc>
            </a:pPr>
            <a:r>
              <a:rPr lang="tr-T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metot</a:t>
            </a:r>
          </a:p>
          <a:p>
            <a:pPr marL="761238" lvl="2" indent="-285750" algn="just">
              <a:lnSpc>
                <a:spcPct val="100000"/>
              </a:lnSpc>
            </a:pPr>
            <a:r>
              <a:rPr lang="tr-T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İfadeler ve deyimler</a:t>
            </a:r>
          </a:p>
          <a:p>
            <a:pPr marL="761238" lvl="2" indent="-285750" algn="just">
              <a:lnSpc>
                <a:spcPct val="100000"/>
              </a:lnSpc>
            </a:pPr>
            <a:r>
              <a:rPr lang="tr-T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Yorumlar  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634C6E64-3AF1-44F6-BCBD-6800938C42E1}"/>
              </a:ext>
            </a:extLst>
          </p:cNvPr>
          <p:cNvSpPr txBox="1"/>
          <p:nvPr/>
        </p:nvSpPr>
        <p:spPr>
          <a:xfrm>
            <a:off x="3217761" y="1466805"/>
            <a:ext cx="8389219" cy="415498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tr-TR" sz="2400" dirty="0" err="1">
                <a:latin typeface="Consolas" panose="020B0609020204030204" pitchFamily="49" charset="0"/>
              </a:rPr>
              <a:t>using</a:t>
            </a:r>
            <a:r>
              <a:rPr lang="tr-TR" sz="2400" dirty="0">
                <a:latin typeface="Consolas" panose="020B0609020204030204" pitchFamily="49" charset="0"/>
              </a:rPr>
              <a:t> </a:t>
            </a:r>
            <a:r>
              <a:rPr lang="tr-TR" sz="2400" dirty="0" err="1">
                <a:latin typeface="Consolas" panose="020B0609020204030204" pitchFamily="49" charset="0"/>
              </a:rPr>
              <a:t>System</a:t>
            </a:r>
            <a:r>
              <a:rPr lang="tr-TR" sz="2400" dirty="0">
                <a:latin typeface="Consolas" panose="020B0609020204030204" pitchFamily="49" charset="0"/>
              </a:rPr>
              <a:t>;</a:t>
            </a:r>
          </a:p>
          <a:p>
            <a:pPr marL="342900" indent="-342900">
              <a:buFont typeface="+mj-lt"/>
              <a:buAutoNum type="arabicPeriod"/>
            </a:pPr>
            <a:endParaRPr lang="tr-TR" sz="2400" dirty="0"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tr-TR" sz="2400" dirty="0" err="1">
                <a:latin typeface="Consolas" panose="020B0609020204030204" pitchFamily="49" charset="0"/>
              </a:rPr>
              <a:t>namespace</a:t>
            </a:r>
            <a:r>
              <a:rPr lang="tr-TR" sz="2400" dirty="0">
                <a:latin typeface="Consolas" panose="020B0609020204030204" pitchFamily="49" charset="0"/>
              </a:rPr>
              <a:t> </a:t>
            </a:r>
            <a:r>
              <a:rPr lang="tr-TR" sz="2400" dirty="0" err="1">
                <a:latin typeface="Consolas" panose="020B0609020204030204" pitchFamily="49" charset="0"/>
              </a:rPr>
              <a:t>HelloWorldApplication</a:t>
            </a:r>
            <a:r>
              <a:rPr lang="tr-TR" sz="2400" dirty="0">
                <a:latin typeface="Consolas" panose="020B0609020204030204" pitchFamily="49" charset="0"/>
              </a:rPr>
              <a:t> {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2400" dirty="0">
                <a:latin typeface="Consolas" panose="020B0609020204030204" pitchFamily="49" charset="0"/>
              </a:rPr>
              <a:t>   </a:t>
            </a:r>
            <a:r>
              <a:rPr lang="tr-TR" sz="2400" dirty="0" err="1">
                <a:latin typeface="Consolas" panose="020B0609020204030204" pitchFamily="49" charset="0"/>
              </a:rPr>
              <a:t>class</a:t>
            </a:r>
            <a:r>
              <a:rPr lang="tr-TR" sz="2400" dirty="0">
                <a:latin typeface="Consolas" panose="020B0609020204030204" pitchFamily="49" charset="0"/>
              </a:rPr>
              <a:t> </a:t>
            </a:r>
            <a:r>
              <a:rPr lang="tr-TR" sz="2400" dirty="0" err="1">
                <a:latin typeface="Consolas" panose="020B0609020204030204" pitchFamily="49" charset="0"/>
              </a:rPr>
              <a:t>HelloWorld</a:t>
            </a:r>
            <a:r>
              <a:rPr lang="tr-TR" sz="2400" dirty="0">
                <a:latin typeface="Consolas" panose="020B0609020204030204" pitchFamily="49" charset="0"/>
              </a:rPr>
              <a:t> {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2400" dirty="0">
                <a:latin typeface="Consolas" panose="020B0609020204030204" pitchFamily="49" charset="0"/>
              </a:rPr>
              <a:t>      </a:t>
            </a:r>
            <a:r>
              <a:rPr lang="tr-TR" sz="2400" dirty="0" err="1">
                <a:latin typeface="Consolas" panose="020B0609020204030204" pitchFamily="49" charset="0"/>
              </a:rPr>
              <a:t>static</a:t>
            </a:r>
            <a:r>
              <a:rPr lang="tr-TR" sz="2400" dirty="0">
                <a:latin typeface="Consolas" panose="020B0609020204030204" pitchFamily="49" charset="0"/>
              </a:rPr>
              <a:t> </a:t>
            </a:r>
            <a:r>
              <a:rPr lang="tr-TR" sz="2400" dirty="0" err="1">
                <a:latin typeface="Consolas" panose="020B0609020204030204" pitchFamily="49" charset="0"/>
              </a:rPr>
              <a:t>void</a:t>
            </a:r>
            <a:r>
              <a:rPr lang="tr-TR" sz="2400" dirty="0">
                <a:latin typeface="Consolas" panose="020B0609020204030204" pitchFamily="49" charset="0"/>
              </a:rPr>
              <a:t> Main(</a:t>
            </a:r>
            <a:r>
              <a:rPr lang="tr-TR" sz="2400" dirty="0" err="1">
                <a:latin typeface="Consolas" panose="020B0609020204030204" pitchFamily="49" charset="0"/>
              </a:rPr>
              <a:t>string</a:t>
            </a:r>
            <a:r>
              <a:rPr lang="tr-TR" sz="2400" dirty="0">
                <a:latin typeface="Consolas" panose="020B0609020204030204" pitchFamily="49" charset="0"/>
              </a:rPr>
              <a:t>[] </a:t>
            </a:r>
            <a:r>
              <a:rPr lang="tr-TR" sz="2400" dirty="0" err="1">
                <a:latin typeface="Consolas" panose="020B0609020204030204" pitchFamily="49" charset="0"/>
              </a:rPr>
              <a:t>args</a:t>
            </a:r>
            <a:r>
              <a:rPr lang="tr-TR" sz="2400" dirty="0">
                <a:latin typeface="Consolas" panose="020B0609020204030204" pitchFamily="49" charset="0"/>
              </a:rPr>
              <a:t>) {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2400" dirty="0">
                <a:latin typeface="Consolas" panose="020B0609020204030204" pitchFamily="49" charset="0"/>
              </a:rPr>
              <a:t>         /* </a:t>
            </a:r>
            <a:r>
              <a:rPr lang="tr-TR" sz="2400" dirty="0" err="1">
                <a:latin typeface="Consolas" panose="020B0609020204030204" pitchFamily="49" charset="0"/>
              </a:rPr>
              <a:t>my</a:t>
            </a:r>
            <a:r>
              <a:rPr lang="tr-TR" sz="2400" dirty="0">
                <a:latin typeface="Consolas" panose="020B0609020204030204" pitchFamily="49" charset="0"/>
              </a:rPr>
              <a:t> </a:t>
            </a:r>
            <a:r>
              <a:rPr lang="tr-TR" sz="2400" dirty="0" err="1">
                <a:latin typeface="Consolas" panose="020B0609020204030204" pitchFamily="49" charset="0"/>
              </a:rPr>
              <a:t>first</a:t>
            </a:r>
            <a:r>
              <a:rPr lang="tr-TR" sz="2400" dirty="0">
                <a:latin typeface="Consolas" panose="020B0609020204030204" pitchFamily="49" charset="0"/>
              </a:rPr>
              <a:t> program in C# */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2400" dirty="0">
                <a:latin typeface="Consolas" panose="020B0609020204030204" pitchFamily="49" charset="0"/>
              </a:rPr>
              <a:t>         </a:t>
            </a:r>
            <a:r>
              <a:rPr lang="tr-TR" sz="2400" dirty="0" err="1">
                <a:latin typeface="Consolas" panose="020B0609020204030204" pitchFamily="49" charset="0"/>
              </a:rPr>
              <a:t>Console.WriteLine</a:t>
            </a:r>
            <a:r>
              <a:rPr lang="tr-TR" sz="2400" dirty="0">
                <a:latin typeface="Consolas" panose="020B0609020204030204" pitchFamily="49" charset="0"/>
              </a:rPr>
              <a:t>("</a:t>
            </a:r>
            <a:r>
              <a:rPr lang="tr-TR" sz="2400" dirty="0" err="1">
                <a:latin typeface="Consolas" panose="020B0609020204030204" pitchFamily="49" charset="0"/>
              </a:rPr>
              <a:t>Hello</a:t>
            </a:r>
            <a:r>
              <a:rPr lang="tr-TR" sz="2400" dirty="0">
                <a:latin typeface="Consolas" panose="020B0609020204030204" pitchFamily="49" charset="0"/>
              </a:rPr>
              <a:t> World");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2400" dirty="0">
                <a:latin typeface="Consolas" panose="020B0609020204030204" pitchFamily="49" charset="0"/>
              </a:rPr>
              <a:t>         </a:t>
            </a:r>
            <a:r>
              <a:rPr lang="tr-TR" sz="2400" dirty="0" err="1">
                <a:latin typeface="Consolas" panose="020B0609020204030204" pitchFamily="49" charset="0"/>
              </a:rPr>
              <a:t>Console.ReadKey</a:t>
            </a:r>
            <a:r>
              <a:rPr lang="tr-TR" sz="2400" dirty="0">
                <a:latin typeface="Consolas" panose="020B0609020204030204" pitchFamily="49" charset="0"/>
              </a:rPr>
              <a:t>();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2400" dirty="0">
                <a:latin typeface="Consolas" panose="020B0609020204030204" pitchFamily="49" charset="0"/>
              </a:rPr>
              <a:t>      }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2400" dirty="0">
                <a:latin typeface="Consolas" panose="020B0609020204030204" pitchFamily="49" charset="0"/>
              </a:rPr>
              <a:t>   }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3463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İlk Uygulamamız : HELLO WORLD!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lt Başlık 2">
            <a:extLst>
              <a:ext uri="{FF2B5EF4-FFF2-40B4-BE49-F238E27FC236}">
                <a16:creationId xmlns:a16="http://schemas.microsoft.com/office/drawing/2014/main" id="{D27428E8-35E7-4727-803D-3D3BC901C300}"/>
              </a:ext>
            </a:extLst>
          </p:cNvPr>
          <p:cNvSpPr txBox="1">
            <a:spLocks/>
          </p:cNvSpPr>
          <p:nvPr/>
        </p:nvSpPr>
        <p:spPr>
          <a:xfrm>
            <a:off x="0" y="625474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D8893E8-C927-46A2-AF74-308F01568ADB}"/>
              </a:ext>
            </a:extLst>
          </p:cNvPr>
          <p:cNvSpPr txBox="1"/>
          <p:nvPr/>
        </p:nvSpPr>
        <p:spPr>
          <a:xfrm>
            <a:off x="250724" y="625472"/>
            <a:ext cx="1154798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Satırda </a:t>
            </a:r>
            <a:r>
              <a:rPr lang="tr-TR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isim alanı programa dahil edilmiştir. Bir programda birden çok </a:t>
            </a:r>
            <a:r>
              <a:rPr lang="tr-TR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ifadesi olabilir.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Satır, isim alanı bildirimi içerir. İsim alanı sınıfların bir koleksiyonudur. Burada </a:t>
            </a:r>
            <a:r>
              <a:rPr lang="tr-TR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HelloWorldApplication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isim alanı, </a:t>
            </a:r>
            <a:r>
              <a:rPr lang="tr-TR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HelloWorld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sınıfını içerir.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Satırda sınıf bildirimi vardır. </a:t>
            </a:r>
            <a:r>
              <a:rPr lang="tr-TR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HelloWorld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sınıfı programın kullandığı veri ve metot tanımlarını içerir.  Ancak </a:t>
            </a:r>
            <a:r>
              <a:rPr lang="tr-TR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HelloWorld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sınıfının yalnızca bir tane </a:t>
            </a:r>
            <a:r>
              <a:rPr lang="tr-T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metodu vardır.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Satır tüm C# programları için giriş noktası olan </a:t>
            </a:r>
            <a:r>
              <a:rPr lang="tr-T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metodunu tanımlar. </a:t>
            </a:r>
            <a:r>
              <a:rPr lang="tr-T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metodunu, yürütüldüğünde sınıfın ne yaptığını belirtir.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Satır /*...*/ derleyici tarafından yok sayılır ve programa yorum eklemek için konur.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Satırda </a:t>
            </a:r>
            <a:r>
              <a:rPr lang="tr-TR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Console.WriteLine</a:t>
            </a:r>
            <a:r>
              <a:rPr lang="tr-T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tr-TR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tr-T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World!"); 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ifadesiyle ekrana mesaj yazdırılır.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Satır, </a:t>
            </a:r>
            <a:r>
              <a:rPr lang="tr-TR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Console.ReadKey</a:t>
            </a:r>
            <a:r>
              <a:rPr lang="tr-T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VS.NET Kullanıcıları içindir. Bu, programı bir tuşa basılmasını bekletir ve ekranın hızlı bir şekilde çalışıp kapanmasını engeller.</a:t>
            </a:r>
          </a:p>
        </p:txBody>
      </p:sp>
    </p:spTree>
    <p:extLst>
      <p:ext uri="{BB962C8B-B14F-4D97-AF65-F5344CB8AC3E}">
        <p14:creationId xmlns:p14="http://schemas.microsoft.com/office/powerpoint/2010/main" val="41885968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İlk Uygulamamız : HELLO WORLD!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lt Başlık 2">
            <a:extLst>
              <a:ext uri="{FF2B5EF4-FFF2-40B4-BE49-F238E27FC236}">
                <a16:creationId xmlns:a16="http://schemas.microsoft.com/office/drawing/2014/main" id="{D27428E8-35E7-4727-803D-3D3BC901C300}"/>
              </a:ext>
            </a:extLst>
          </p:cNvPr>
          <p:cNvSpPr txBox="1">
            <a:spLocks/>
          </p:cNvSpPr>
          <p:nvPr/>
        </p:nvSpPr>
        <p:spPr>
          <a:xfrm>
            <a:off x="0" y="625474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D8893E8-C927-46A2-AF74-308F01568ADB}"/>
              </a:ext>
            </a:extLst>
          </p:cNvPr>
          <p:cNvSpPr txBox="1"/>
          <p:nvPr/>
        </p:nvSpPr>
        <p:spPr>
          <a:xfrm>
            <a:off x="116114" y="625472"/>
            <a:ext cx="1175657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Aşağıdaki noktalara dikkat edilmesi gerekir: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büyük-küçük harfe duyarlıdır.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Tüm ifadeler ve deyimler noktalı virgül (;) ile bitmelidir.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yürütmesi Main yönteminde başlar.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dosya adı sınıf adından farklı olabilir.</a:t>
            </a:r>
          </a:p>
        </p:txBody>
      </p:sp>
    </p:spTree>
    <p:extLst>
      <p:ext uri="{BB962C8B-B14F-4D97-AF65-F5344CB8AC3E}">
        <p14:creationId xmlns:p14="http://schemas.microsoft.com/office/powerpoint/2010/main" val="1120603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Temel Sözdizimi (</a:t>
            </a: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lt Başlık 2">
            <a:extLst>
              <a:ext uri="{FF2B5EF4-FFF2-40B4-BE49-F238E27FC236}">
                <a16:creationId xmlns:a16="http://schemas.microsoft.com/office/drawing/2014/main" id="{D27428E8-35E7-4727-803D-3D3BC901C300}"/>
              </a:ext>
            </a:extLst>
          </p:cNvPr>
          <p:cNvSpPr txBox="1">
            <a:spLocks/>
          </p:cNvSpPr>
          <p:nvPr/>
        </p:nvSpPr>
        <p:spPr>
          <a:xfrm>
            <a:off x="0" y="625474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D8893E8-C927-46A2-AF74-308F01568ADB}"/>
              </a:ext>
            </a:extLst>
          </p:cNvPr>
          <p:cNvSpPr txBox="1"/>
          <p:nvPr/>
        </p:nvSpPr>
        <p:spPr>
          <a:xfrm>
            <a:off x="116114" y="625472"/>
            <a:ext cx="11756572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nesne yönelimli bir programlama dilidir. </a:t>
            </a:r>
          </a:p>
          <a:p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Nesneye Yönelik Programlama metodolojisinde, bir program, eylemler aracılığıyla birbirleriyle etkileşime giren çeşitli nesnelerden oluşur. </a:t>
            </a:r>
          </a:p>
          <a:p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 nesnenin gerçekleştirebileceği eylemlere </a:t>
            </a:r>
            <a:r>
              <a:rPr lang="tr-T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yöntem (</a:t>
            </a:r>
            <a:r>
              <a:rPr lang="tr-TR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tr-T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denir. </a:t>
            </a:r>
          </a:p>
          <a:p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Aynı türden nesnelere aynı türe sahip oldukları veya aynı sınıfta oldukları söylenir.</a:t>
            </a:r>
          </a:p>
          <a:p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 Dikdörtgen nesnesini ele alalım: Uzunluk ve genişlik gibi özelliklere (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sahiptir. Kodun tasarımına bağlı olarak bu özelliklerin değerlerini almak, hesaplatmak, göstermek gibi yollara ihtiyaç duyulabilir. </a:t>
            </a:r>
          </a:p>
          <a:p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 Dikdörtgen sınıfının uygulanmasını gerçekleştirerek C# temel sözdizimini inceleyelim:</a:t>
            </a:r>
          </a:p>
          <a:p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2555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Örnek: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lt Başlık 2">
            <a:extLst>
              <a:ext uri="{FF2B5EF4-FFF2-40B4-BE49-F238E27FC236}">
                <a16:creationId xmlns:a16="http://schemas.microsoft.com/office/drawing/2014/main" id="{D27428E8-35E7-4727-803D-3D3BC901C300}"/>
              </a:ext>
            </a:extLst>
          </p:cNvPr>
          <p:cNvSpPr txBox="1">
            <a:spLocks/>
          </p:cNvSpPr>
          <p:nvPr/>
        </p:nvSpPr>
        <p:spPr>
          <a:xfrm>
            <a:off x="0" y="625474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08BFA6D6-EB17-4EE3-AB29-6CD8434D8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03" y="625473"/>
            <a:ext cx="4785422" cy="5198552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0680A28F-DE6C-41E4-94D1-C3F5A5BB2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628" y="625473"/>
            <a:ext cx="3917593" cy="2803527"/>
          </a:xfrm>
          <a:prstGeom prst="rect">
            <a:avLst/>
          </a:prstGeom>
        </p:spPr>
      </p:pic>
      <p:sp>
        <p:nvSpPr>
          <p:cNvPr id="13" name="Metin kutusu 12">
            <a:extLst>
              <a:ext uri="{FF2B5EF4-FFF2-40B4-BE49-F238E27FC236}">
                <a16:creationId xmlns:a16="http://schemas.microsoft.com/office/drawing/2014/main" id="{27E32A61-953F-4213-BC78-C8358F977308}"/>
              </a:ext>
            </a:extLst>
          </p:cNvPr>
          <p:cNvSpPr txBox="1"/>
          <p:nvPr/>
        </p:nvSpPr>
        <p:spPr>
          <a:xfrm>
            <a:off x="5042628" y="3544296"/>
            <a:ext cx="61686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Üye Değişkenler: </a:t>
            </a:r>
            <a:r>
              <a:rPr lang="tr-TR" dirty="0" err="1"/>
              <a:t>Rectangle</a:t>
            </a:r>
            <a:r>
              <a:rPr lang="tr-TR" dirty="0"/>
              <a:t> sınıfına ait </a:t>
            </a:r>
            <a:r>
              <a:rPr lang="tr-TR" dirty="0" err="1"/>
              <a:t>wid</a:t>
            </a:r>
            <a:r>
              <a:rPr lang="tr-TR" dirty="0"/>
              <a:t> ve </a:t>
            </a:r>
            <a:r>
              <a:rPr lang="tr-TR" dirty="0" err="1"/>
              <a:t>len</a:t>
            </a:r>
            <a:r>
              <a:rPr lang="tr-TR" dirty="0"/>
              <a:t>. </a:t>
            </a:r>
          </a:p>
          <a:p>
            <a:r>
              <a:rPr lang="tr-TR" dirty="0"/>
              <a:t>Üye Metotlar: </a:t>
            </a:r>
            <a:r>
              <a:rPr lang="tr-TR" dirty="0" err="1"/>
              <a:t>Rectangle</a:t>
            </a:r>
            <a:r>
              <a:rPr lang="tr-TR" dirty="0"/>
              <a:t> sınıfına ait </a:t>
            </a:r>
            <a:r>
              <a:rPr lang="tr-TR" dirty="0" err="1"/>
              <a:t>setValues</a:t>
            </a:r>
            <a:r>
              <a:rPr lang="tr-TR" dirty="0"/>
              <a:t>(), </a:t>
            </a:r>
            <a:r>
              <a:rPr lang="tr-TR" dirty="0" err="1"/>
              <a:t>getArea</a:t>
            </a:r>
            <a:r>
              <a:rPr lang="tr-TR" dirty="0"/>
              <a:t>() ve </a:t>
            </a:r>
            <a:r>
              <a:rPr lang="tr-TR" dirty="0" err="1"/>
              <a:t>displayArea</a:t>
            </a:r>
            <a:r>
              <a:rPr lang="tr-TR" dirty="0"/>
              <a:t>(). </a:t>
            </a:r>
          </a:p>
          <a:p>
            <a:r>
              <a:rPr lang="tr-TR" dirty="0"/>
              <a:t>Sınıfın somutlaştırılması: </a:t>
            </a:r>
            <a:r>
              <a:rPr lang="tr-TR" dirty="0" err="1"/>
              <a:t>MainClass</a:t>
            </a:r>
            <a:r>
              <a:rPr lang="tr-TR" dirty="0"/>
              <a:t> sınıfı Main metodunu içerir ve </a:t>
            </a:r>
            <a:r>
              <a:rPr lang="tr-TR" dirty="0" err="1"/>
              <a:t>Rectangle</a:t>
            </a:r>
            <a:r>
              <a:rPr lang="tr-TR" dirty="0"/>
              <a:t> sınıfını somutlaştırır. 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37CCAE85-64BE-476F-B30F-B6D9BD1FE2B4}"/>
              </a:ext>
            </a:extLst>
          </p:cNvPr>
          <p:cNvSpPr txBox="1"/>
          <p:nvPr/>
        </p:nvSpPr>
        <p:spPr>
          <a:xfrm>
            <a:off x="9468279" y="662804"/>
            <a:ext cx="1304778" cy="92333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tr-TR" dirty="0" err="1"/>
              <a:t>Length</a:t>
            </a:r>
            <a:r>
              <a:rPr lang="tr-TR" dirty="0"/>
              <a:t>: 3,2</a:t>
            </a:r>
          </a:p>
          <a:p>
            <a:r>
              <a:rPr lang="tr-TR" dirty="0" err="1"/>
              <a:t>Width</a:t>
            </a:r>
            <a:r>
              <a:rPr lang="tr-TR" dirty="0"/>
              <a:t>: 5</a:t>
            </a:r>
          </a:p>
          <a:p>
            <a:r>
              <a:rPr lang="tr-TR" dirty="0" err="1"/>
              <a:t>Area</a:t>
            </a:r>
            <a:r>
              <a:rPr lang="tr-TR" dirty="0"/>
              <a:t>: 16</a:t>
            </a:r>
          </a:p>
        </p:txBody>
      </p:sp>
    </p:spTree>
    <p:extLst>
      <p:ext uri="{BB962C8B-B14F-4D97-AF65-F5344CB8AC3E}">
        <p14:creationId xmlns:p14="http://schemas.microsoft.com/office/powerpoint/2010/main" val="4061499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Veri Tipleri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lt Başlık 2">
            <a:extLst>
              <a:ext uri="{FF2B5EF4-FFF2-40B4-BE49-F238E27FC236}">
                <a16:creationId xmlns:a16="http://schemas.microsoft.com/office/drawing/2014/main" id="{D27428E8-35E7-4727-803D-3D3BC901C300}"/>
              </a:ext>
            </a:extLst>
          </p:cNvPr>
          <p:cNvSpPr txBox="1">
            <a:spLocks/>
          </p:cNvSpPr>
          <p:nvPr/>
        </p:nvSpPr>
        <p:spPr>
          <a:xfrm>
            <a:off x="0" y="625474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D8893E8-C927-46A2-AF74-308F01568ADB}"/>
              </a:ext>
            </a:extLst>
          </p:cNvPr>
          <p:cNvSpPr txBox="1"/>
          <p:nvPr/>
        </p:nvSpPr>
        <p:spPr>
          <a:xfrm>
            <a:off x="116114" y="625472"/>
            <a:ext cx="1194367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C#’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taki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değişken türleri şunlardır: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Değer türleri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Referans türleri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İşaretçi türleri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r-T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Değer türü: 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Değer tipi değişkenlere doğrudan bir değer atanabilir. </a:t>
            </a:r>
            <a:r>
              <a:rPr lang="tr-TR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System.ValueType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sınıfından türetilirler. Değer türleri doğrudan veri içerir. Bazı örnekler sırasıyla sayıları, harfleri ve kayan nokta sayılarını depolayan 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float'tır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Bir 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türü bildirdiğinizde, sistem değeri depolamak için bellek ayırır.</a:t>
            </a:r>
          </a:p>
          <a:p>
            <a:pPr algn="just"/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Belirli bir platformda bir türün veya değişkenin tam boyutunu elde etmek için 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metodunu kullanabilirsiniz. </a:t>
            </a:r>
          </a:p>
          <a:p>
            <a:pPr algn="just"/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ifadesi, nesnenin veya türün 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cinsinden depolama boyutunu verir.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C7623F02-783B-4252-840F-D8CFA6E0C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942" y="69682"/>
            <a:ext cx="4648849" cy="2362530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53F844DD-C67B-4F8F-9D7B-AB2522BEF963}"/>
              </a:ext>
            </a:extLst>
          </p:cNvPr>
          <p:cNvSpPr txBox="1"/>
          <p:nvPr/>
        </p:nvSpPr>
        <p:spPr>
          <a:xfrm>
            <a:off x="7811087" y="2411770"/>
            <a:ext cx="4122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türü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için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metodunu kullanımı</a:t>
            </a:r>
            <a:endParaRPr lang="tr-TR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5F0AD8A9-6891-4A52-9FF1-6E504FCD8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1274" y="564352"/>
            <a:ext cx="1781908" cy="26161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Size of int: 4</a:t>
            </a:r>
            <a:r>
              <a:rPr kumimoji="0" lang="tr-TR" altLang="tr-T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tr-TR" alt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4172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Veri Tipleri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lt Başlık 2">
            <a:extLst>
              <a:ext uri="{FF2B5EF4-FFF2-40B4-BE49-F238E27FC236}">
                <a16:creationId xmlns:a16="http://schemas.microsoft.com/office/drawing/2014/main" id="{D27428E8-35E7-4727-803D-3D3BC901C300}"/>
              </a:ext>
            </a:extLst>
          </p:cNvPr>
          <p:cNvSpPr txBox="1">
            <a:spLocks/>
          </p:cNvSpPr>
          <p:nvPr/>
        </p:nvSpPr>
        <p:spPr>
          <a:xfrm>
            <a:off x="0" y="625474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D8893E8-C927-46A2-AF74-308F01568ADB}"/>
              </a:ext>
            </a:extLst>
          </p:cNvPr>
          <p:cNvSpPr txBox="1"/>
          <p:nvPr/>
        </p:nvSpPr>
        <p:spPr>
          <a:xfrm>
            <a:off x="116114" y="625472"/>
            <a:ext cx="1194367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Referans</a:t>
            </a:r>
            <a:r>
              <a:rPr lang="en-US" sz="22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Türü</a:t>
            </a:r>
            <a:r>
              <a:rPr lang="tr-TR" sz="22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Referans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türleri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değişkende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depolanan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gerçek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verileri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içermez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ancak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değişkenlere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referans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içerir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Başka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deyişle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hafıza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konumuna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atıfta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bulunurlar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Birden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çok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değişken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kullanarak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referans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türleri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bellek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konumuna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başvurabilir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tr-TR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Bellek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konumundaki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veriler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değişkenlerden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tarafından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değiştirilirse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diğer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değişken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değişikliği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otomatik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olarak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değere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yansıtır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tr-TR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Yerleşik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referans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türlerine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örnek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olarak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şunlar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verilebilir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nesne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tr-TR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tr-TR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r-T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Nesne türü: 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Nesne Türü, C# Ortak Tür Sistemindeki (CTS) tüm veri türleri için nihai temel sınıftır. </a:t>
            </a:r>
            <a:r>
              <a:rPr lang="tr-T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System.Object</a:t>
            </a:r>
            <a:r>
              <a:rPr lang="tr-T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sınıfı için bir diğer addır (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alias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algn="just"/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Nesne türlerine, diğer türlerin, değer türlerinin, referans türlerinin, önceden tanımlanmış veya kullanıcı tanımlı türlerin değerleri atanabilir.  Ancak, değerleri atamadan önce tür dönüştürmesi gerekir. </a:t>
            </a:r>
          </a:p>
          <a:p>
            <a:pPr algn="just"/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 değer türü nesne türüne dönüştürüldüğünde buna kutulama (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boxing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denir ve diğer yandan bir nesne türü bir değer türüne dönüştürüldüğünde kutudan çıkarma (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unboxing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olarak adlandırılır.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58C9A2-8EC0-4AF4-8A56-3B1657836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5729" y="5492565"/>
            <a:ext cx="2278966" cy="7399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-44436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obj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obj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880000"/>
                </a:solidFill>
                <a:effectLst/>
                <a:latin typeface="Courier New" panose="02070309020205020404" pitchFamily="49" charset="0"/>
              </a:rPr>
              <a:t>this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Courier New" panose="02070309020205020404" pitchFamily="49" charset="0"/>
              </a:rPr>
              <a:t> is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880000"/>
                </a:solidFill>
                <a:effectLst/>
                <a:latin typeface="Courier New" panose="02070309020205020404" pitchFamily="49" charset="0"/>
              </a:rPr>
              <a:t>boxing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tr-TR" altLang="tr-T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8696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Tip Dönüşümü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lt Başlık 2">
            <a:extLst>
              <a:ext uri="{FF2B5EF4-FFF2-40B4-BE49-F238E27FC236}">
                <a16:creationId xmlns:a16="http://schemas.microsoft.com/office/drawing/2014/main" id="{D27428E8-35E7-4727-803D-3D3BC901C300}"/>
              </a:ext>
            </a:extLst>
          </p:cNvPr>
          <p:cNvSpPr txBox="1">
            <a:spLocks/>
          </p:cNvSpPr>
          <p:nvPr/>
        </p:nvSpPr>
        <p:spPr>
          <a:xfrm>
            <a:off x="0" y="625474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D8893E8-C927-46A2-AF74-308F01568ADB}"/>
              </a:ext>
            </a:extLst>
          </p:cNvPr>
          <p:cNvSpPr txBox="1"/>
          <p:nvPr/>
        </p:nvSpPr>
        <p:spPr>
          <a:xfrm>
            <a:off x="116114" y="625472"/>
            <a:ext cx="715688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 veri türünü başka bir veri türüne dönüştürme işlemidir. İki şekilde yapılabilir:</a:t>
            </a:r>
          </a:p>
          <a:p>
            <a:pPr algn="l"/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tr-TR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Örtülü (</a:t>
            </a:r>
            <a:r>
              <a:rPr lang="tr-TR" sz="22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implicit</a:t>
            </a:r>
            <a:r>
              <a:rPr lang="tr-TR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tür dönüştürme: Bu dönüştürmeler, C# tarafından tür açısından güvenli bir şekilde gerçekleştirilir. Örneğin, küçükten büyüğe integral türlerine dönüştürmeler ve türetilmiş sınıflardan temel sınıflara dönüştürmeler.</a:t>
            </a:r>
          </a:p>
          <a:p>
            <a:pPr algn="l"/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Açık (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explicit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tür dönüştürme: Bu dönüştürmeler, önceden tanımlanmış işlevleri kullanan kullanıcılar tarafından açıkça yapılır. Açık dönüştürmeler, bir </a:t>
            </a:r>
            <a:r>
              <a:rPr lang="tr-TR" sz="2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cast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operatörü (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casting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gerektirir. Örneğin: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B896A08A-095F-43A9-B49E-05D623496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725" y="1791289"/>
            <a:ext cx="4385547" cy="4441236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1E284342-6D69-4EC9-997F-B715785F3632}"/>
              </a:ext>
            </a:extLst>
          </p:cNvPr>
          <p:cNvSpPr txBox="1"/>
          <p:nvPr/>
        </p:nvSpPr>
        <p:spPr>
          <a:xfrm>
            <a:off x="10898359" y="5793824"/>
            <a:ext cx="85461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tr-TR" dirty="0"/>
              <a:t>5673</a:t>
            </a:r>
          </a:p>
        </p:txBody>
      </p:sp>
    </p:spTree>
    <p:extLst>
      <p:ext uri="{BB962C8B-B14F-4D97-AF65-F5344CB8AC3E}">
        <p14:creationId xmlns:p14="http://schemas.microsoft.com/office/powerpoint/2010/main" val="40388919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25475"/>
          </a:xfrm>
        </p:spPr>
        <p:txBody>
          <a:bodyPr anchor="ctr">
            <a:normAutofit/>
          </a:bodyPr>
          <a:lstStyle/>
          <a:p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Tip Dönüşümü</a:t>
            </a:r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BDA892BC-5A0A-4F2B-ADBF-5B051342995A}"/>
              </a:ext>
            </a:extLst>
          </p:cNvPr>
          <p:cNvSpPr txBox="1">
            <a:spLocks/>
          </p:cNvSpPr>
          <p:nvPr/>
        </p:nvSpPr>
        <p:spPr>
          <a:xfrm>
            <a:off x="0" y="625475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lt Başlık 2">
            <a:extLst>
              <a:ext uri="{FF2B5EF4-FFF2-40B4-BE49-F238E27FC236}">
                <a16:creationId xmlns:a16="http://schemas.microsoft.com/office/drawing/2014/main" id="{D27428E8-35E7-4727-803D-3D3BC901C300}"/>
              </a:ext>
            </a:extLst>
          </p:cNvPr>
          <p:cNvSpPr txBox="1">
            <a:spLocks/>
          </p:cNvSpPr>
          <p:nvPr/>
        </p:nvSpPr>
        <p:spPr>
          <a:xfrm>
            <a:off x="0" y="625474"/>
            <a:ext cx="12192000" cy="58376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tr-T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o 4">
            <a:extLst>
              <a:ext uri="{FF2B5EF4-FFF2-40B4-BE49-F238E27FC236}">
                <a16:creationId xmlns:a16="http://schemas.microsoft.com/office/drawing/2014/main" id="{D24886E8-0D4B-4349-B8E2-9DA667AF0D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463832"/>
              </p:ext>
            </p:extLst>
          </p:nvPr>
        </p:nvGraphicFramePr>
        <p:xfrm>
          <a:off x="5462823" y="625473"/>
          <a:ext cx="5949072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7268">
                  <a:extLst>
                    <a:ext uri="{9D8B030D-6E8A-4147-A177-3AD203B41FA5}">
                      <a16:colId xmlns:a16="http://schemas.microsoft.com/office/drawing/2014/main" val="1346639384"/>
                    </a:ext>
                  </a:extLst>
                </a:gridCol>
                <a:gridCol w="1487268">
                  <a:extLst>
                    <a:ext uri="{9D8B030D-6E8A-4147-A177-3AD203B41FA5}">
                      <a16:colId xmlns:a16="http://schemas.microsoft.com/office/drawing/2014/main" val="2954680719"/>
                    </a:ext>
                  </a:extLst>
                </a:gridCol>
                <a:gridCol w="1487268">
                  <a:extLst>
                    <a:ext uri="{9D8B030D-6E8A-4147-A177-3AD203B41FA5}">
                      <a16:colId xmlns:a16="http://schemas.microsoft.com/office/drawing/2014/main" val="1660899897"/>
                    </a:ext>
                  </a:extLst>
                </a:gridCol>
                <a:gridCol w="1487268">
                  <a:extLst>
                    <a:ext uri="{9D8B030D-6E8A-4147-A177-3AD203B41FA5}">
                      <a16:colId xmlns:a16="http://schemas.microsoft.com/office/drawing/2014/main" val="2049463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ToBoolean</a:t>
                      </a:r>
                      <a:endParaRPr lang="tr-TR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ToDecimal</a:t>
                      </a:r>
                      <a:endParaRPr lang="tr-TR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ToType</a:t>
                      </a:r>
                      <a:endParaRPr lang="tr-TR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043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ToByte</a:t>
                      </a:r>
                      <a:endParaRPr lang="tr-TR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ToDouble</a:t>
                      </a:r>
                      <a:endParaRPr lang="tr-TR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ToSbyte</a:t>
                      </a:r>
                      <a:endParaRPr lang="tr-TR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ToUInt16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2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ToChar</a:t>
                      </a:r>
                      <a:endParaRPr lang="tr-TR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ToInt16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ToSingle</a:t>
                      </a:r>
                      <a:endParaRPr lang="tr-TR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ToUInt32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116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ToDateTİme</a:t>
                      </a:r>
                      <a:endParaRPr lang="tr-TR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ToInt32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ToString</a:t>
                      </a:r>
                      <a:endParaRPr lang="tr-TR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ToUInt64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697586"/>
                  </a:ext>
                </a:extLst>
              </a:tr>
            </a:tbl>
          </a:graphicData>
        </a:graphic>
      </p:graphicFrame>
      <p:pic>
        <p:nvPicPr>
          <p:cNvPr id="9" name="Resim 8">
            <a:extLst>
              <a:ext uri="{FF2B5EF4-FFF2-40B4-BE49-F238E27FC236}">
                <a16:creationId xmlns:a16="http://schemas.microsoft.com/office/drawing/2014/main" id="{77EE4360-8335-4936-B542-5624E2F98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29" y="625473"/>
            <a:ext cx="5168965" cy="5535158"/>
          </a:xfrm>
          <a:prstGeom prst="rect">
            <a:avLst/>
          </a:prstGeom>
        </p:spPr>
      </p:pic>
      <p:sp>
        <p:nvSpPr>
          <p:cNvPr id="12" name="Metin kutusu 11">
            <a:extLst>
              <a:ext uri="{FF2B5EF4-FFF2-40B4-BE49-F238E27FC236}">
                <a16:creationId xmlns:a16="http://schemas.microsoft.com/office/drawing/2014/main" id="{3A3DD993-68C2-493E-BC5E-032B9A238663}"/>
              </a:ext>
            </a:extLst>
          </p:cNvPr>
          <p:cNvSpPr txBox="1"/>
          <p:nvPr/>
        </p:nvSpPr>
        <p:spPr>
          <a:xfrm>
            <a:off x="5462823" y="4960302"/>
            <a:ext cx="1346981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tr-TR" dirty="0"/>
              <a:t>75</a:t>
            </a:r>
          </a:p>
          <a:p>
            <a:r>
              <a:rPr lang="tr-TR" dirty="0"/>
              <a:t>53,005</a:t>
            </a:r>
          </a:p>
          <a:p>
            <a:r>
              <a:rPr lang="tr-TR" dirty="0"/>
              <a:t>2345,7652</a:t>
            </a:r>
          </a:p>
          <a:p>
            <a:r>
              <a:rPr lang="tr-TR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968749170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Özel 1">
      <a:dk1>
        <a:srgbClr val="2D2D2D"/>
      </a:dk1>
      <a:lt1>
        <a:srgbClr val="2D2D2D"/>
      </a:lt1>
      <a:dk2>
        <a:srgbClr val="FFFFFF"/>
      </a:dk2>
      <a:lt2>
        <a:srgbClr val="FFFFFF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F2F2F2"/>
      </a:accent6>
      <a:hlink>
        <a:srgbClr val="6B9F25"/>
      </a:hlink>
      <a:folHlink>
        <a:srgbClr val="B26B02"/>
      </a:folHlink>
    </a:clrScheme>
    <a:fontScheme name="Geçmişe bakış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CA72677B-2F8C-4192-8EBE-D360BE3B20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Hafta1</Template>
  <TotalTime>910</TotalTime>
  <Words>3272</Words>
  <Application>Microsoft Office PowerPoint</Application>
  <PresentationFormat>Geniş ekran</PresentationFormat>
  <Paragraphs>310</Paragraphs>
  <Slides>36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36</vt:i4>
      </vt:variant>
    </vt:vector>
  </HeadingPairs>
  <TitlesOfParts>
    <vt:vector size="45" baseType="lpstr">
      <vt:lpstr>Arial</vt:lpstr>
      <vt:lpstr>Calibri</vt:lpstr>
      <vt:lpstr>Calibri Light</vt:lpstr>
      <vt:lpstr>Consolas</vt:lpstr>
      <vt:lpstr>Courier New</vt:lpstr>
      <vt:lpstr>Georgia</vt:lpstr>
      <vt:lpstr>Times New Roman</vt:lpstr>
      <vt:lpstr>Wingdings</vt:lpstr>
      <vt:lpstr>Geçmişe bakış</vt:lpstr>
      <vt:lpstr>BİL207-NESNE YÖNELİMLİ PROGRAMLAMA I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BİL102-ALGORİTMA ve PROGRAMLAMA I</dc:title>
  <dc:creator>FUNDA KUTLU ONAY</dc:creator>
  <cp:lastModifiedBy>FUNDA KUTLU ONAY</cp:lastModifiedBy>
  <cp:revision>23</cp:revision>
  <dcterms:created xsi:type="dcterms:W3CDTF">2021-02-24T12:37:41Z</dcterms:created>
  <dcterms:modified xsi:type="dcterms:W3CDTF">2024-10-16T18:09:15Z</dcterms:modified>
</cp:coreProperties>
</file>