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13"/>
  </p:notesMasterIdLst>
  <p:sldIdLst>
    <p:sldId id="256" r:id="rId2"/>
    <p:sldId id="396" r:id="rId3"/>
    <p:sldId id="401" r:id="rId4"/>
    <p:sldId id="402" r:id="rId5"/>
    <p:sldId id="404" r:id="rId6"/>
    <p:sldId id="405" r:id="rId7"/>
    <p:sldId id="406" r:id="rId8"/>
    <p:sldId id="407" r:id="rId9"/>
    <p:sldId id="408" r:id="rId10"/>
    <p:sldId id="409" r:id="rId11"/>
    <p:sldId id="41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  <a:srgbClr val="66FF33"/>
    <a:srgbClr val="FF3399"/>
    <a:srgbClr val="FF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86456" autoAdjust="0"/>
  </p:normalViewPr>
  <p:slideViewPr>
    <p:cSldViewPr snapToGrid="0">
      <p:cViewPr varScale="1">
        <p:scale>
          <a:sx n="96" d="100"/>
          <a:sy n="96" d="100"/>
        </p:scale>
        <p:origin x="124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C61F-CF9C-438D-878D-5F289BFF98B2}" type="datetimeFigureOut">
              <a:rPr lang="tr-TR" smtClean="0"/>
              <a:t>16.10.2024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0F1D-777A-4D20-B29A-2D838269C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0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8125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7231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904854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1635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502803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04362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6899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084633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4087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7408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10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(</a:t>
            </a:r>
            <a:r>
              <a:rPr lang="tr-TR" sz="3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</a:t>
            </a:r>
            <a:r>
              <a:rPr lang="tr-TR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Funda </a:t>
            </a:r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DCF46B4-81C0-4A9C-B767-A4D90306AF65}"/>
              </a:ext>
            </a:extLst>
          </p:cNvPr>
          <p:cNvSpPr txBox="1"/>
          <p:nvPr/>
        </p:nvSpPr>
        <p:spPr>
          <a:xfrm>
            <a:off x="0" y="594884"/>
            <a:ext cx="1197594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 sayesinde uygulamamıza görüntülerin eklenmesini ve görüntülerin değişik biçimlerde gösterilmesini sağlayabiliriz. </a:t>
            </a:r>
          </a:p>
          <a:p>
            <a:pPr algn="just"/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Toolbox’tan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seçilen bir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görüntü yüklenmeden önce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formun üzerinde kod çalışmamışken aşağıdaki gibi gözükür.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F8759DA2-A5FF-460C-B52E-88B9877D3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56" y="1918323"/>
            <a:ext cx="4620270" cy="3600953"/>
          </a:xfrm>
          <a:prstGeom prst="rect">
            <a:avLst/>
          </a:pr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3D6B1165-3C6B-4E82-8189-41BB760CCD2F}"/>
              </a:ext>
            </a:extLst>
          </p:cNvPr>
          <p:cNvSpPr txBox="1"/>
          <p:nvPr/>
        </p:nvSpPr>
        <p:spPr>
          <a:xfrm>
            <a:off x="4971405" y="1867169"/>
            <a:ext cx="700453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Görüntü yüklenmemiş bir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içeriğinin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arka plan rengi olduğu görülmektedir. Forma yüklenen bir görüntü olduğunda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  forma yüklenen görüntünün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gelen kısmını göstermez.</a:t>
            </a:r>
          </a:p>
          <a:p>
            <a:pPr algn="just"/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etrafında beyaz noktalar ve sağ üst köşesindeki beyaz noktanın solunda bir ok oluştuğu görülmektedir.  Bu beyaz noktalar ile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eni ve boyu ayarlanabilir. </a:t>
            </a:r>
          </a:p>
          <a:p>
            <a:pPr algn="just"/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Sağ üst köşesindeki beyaz kare şeklindeki noktanın solundaki oka tıklanınca okun hemen yanında minik bir pencere açılır. Pencerede Görüntü Seç tuşu, Boyut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ayarlamasını yapmak için bir kontrol ve Ana Kapsayıcıda Yerleştir tuşu bulunmaktadır. Bu tuşları açıklayalım:</a:t>
            </a:r>
          </a:p>
          <a:p>
            <a:pPr algn="just"/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99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Görüntünün Seçilmesi</a:t>
            </a: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067EDDC9-00ED-47BA-B708-9C4C39B8B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613966"/>
            <a:ext cx="6152095" cy="343049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Picture 2" descr="Download Highlight Free PNG HQ HQ PNG Image | FreePNGImg">
            <a:extLst>
              <a:ext uri="{FF2B5EF4-FFF2-40B4-BE49-F238E27FC236}">
                <a16:creationId xmlns:a16="http://schemas.microsoft.com/office/drawing/2014/main" id="{DE49D115-C4D0-473F-BCBF-EB8778A6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442" y="885179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86D3E9F1-D56E-472E-8D0F-009919203AD7}"/>
              </a:ext>
            </a:extLst>
          </p:cNvPr>
          <p:cNvSpPr txBox="1"/>
          <p:nvPr/>
        </p:nvSpPr>
        <p:spPr>
          <a:xfrm>
            <a:off x="6555545" y="770749"/>
            <a:ext cx="5528427" cy="707886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Görüntü Seç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tuşuna basılınca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görüntü yüklemek için aşağıdaki gibi bir pencere açılır.</a:t>
            </a:r>
            <a:endParaRPr lang="tr-T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72DC21FC-292E-40DA-A06B-336D0778DFF9}"/>
              </a:ext>
            </a:extLst>
          </p:cNvPr>
          <p:cNvCxnSpPr>
            <a:cxnSpLocks/>
          </p:cNvCxnSpPr>
          <p:nvPr/>
        </p:nvCxnSpPr>
        <p:spPr>
          <a:xfrm flipH="1">
            <a:off x="6747804" y="1506771"/>
            <a:ext cx="665870" cy="5908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7B87A3DE-AF2D-40F5-9C5E-BB0A5CA98DC8}"/>
              </a:ext>
            </a:extLst>
          </p:cNvPr>
          <p:cNvSpPr txBox="1"/>
          <p:nvPr/>
        </p:nvSpPr>
        <p:spPr>
          <a:xfrm>
            <a:off x="0" y="4305042"/>
            <a:ext cx="1187295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Kaynak bağlamı başlığında iki tane tercihin bize sunulduğu görülmektedir. </a:t>
            </a:r>
          </a:p>
          <a:p>
            <a:pPr algn="just"/>
            <a:r>
              <a:rPr lang="tr-TR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Yerel kaynak</a:t>
            </a:r>
            <a:endParaRPr lang="tr-TR" sz="2000" b="0" i="0" dirty="0">
              <a:solidFill>
                <a:srgbClr val="02020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Proje kaynak dosyası</a:t>
            </a:r>
          </a:p>
          <a:p>
            <a:pPr algn="just"/>
            <a:r>
              <a:rPr lang="tr-TR" sz="20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İçe aktar butonlarıyla görüntü </a:t>
            </a:r>
            <a:r>
              <a:rPr lang="tr-TR" sz="2000" dirty="0" err="1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sz="2000" dirty="0">
                <a:solidFill>
                  <a:srgbClr val="02020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aktarılır. </a:t>
            </a:r>
          </a:p>
        </p:txBody>
      </p:sp>
    </p:spTree>
    <p:extLst>
      <p:ext uri="{BB962C8B-B14F-4D97-AF65-F5344CB8AC3E}">
        <p14:creationId xmlns:p14="http://schemas.microsoft.com/office/powerpoint/2010/main" val="1944053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444A73D7-AF9D-4E50-AA18-B1BB00333F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613965"/>
            <a:ext cx="5191850" cy="3610479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Görüntünün Seçilmesi</a:t>
            </a:r>
          </a:p>
        </p:txBody>
      </p:sp>
      <p:pic>
        <p:nvPicPr>
          <p:cNvPr id="10" name="Picture 2" descr="Download Highlight Free PNG HQ HQ PNG Image | FreePNGImg">
            <a:extLst>
              <a:ext uri="{FF2B5EF4-FFF2-40B4-BE49-F238E27FC236}">
                <a16:creationId xmlns:a16="http://schemas.microsoft.com/office/drawing/2014/main" id="{DE49D115-C4D0-473F-BCBF-EB8778A6B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179" y="1323166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86D3E9F1-D56E-472E-8D0F-009919203AD7}"/>
              </a:ext>
            </a:extLst>
          </p:cNvPr>
          <p:cNvSpPr txBox="1"/>
          <p:nvPr/>
        </p:nvSpPr>
        <p:spPr>
          <a:xfrm>
            <a:off x="5598942" y="260022"/>
            <a:ext cx="6372664" cy="707886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İçe</a:t>
            </a:r>
            <a:r>
              <a:rPr lang="tr-TR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aktar</a:t>
            </a:r>
            <a:r>
              <a:rPr lang="tr-TR" sz="20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butonu ile bilgisayar disk konumundan herhangi bir resim eklendi. </a:t>
            </a:r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Düz Ok Bağlayıcısı 11">
            <a:extLst>
              <a:ext uri="{FF2B5EF4-FFF2-40B4-BE49-F238E27FC236}">
                <a16:creationId xmlns:a16="http://schemas.microsoft.com/office/drawing/2014/main" id="{72DC21FC-292E-40DA-A06B-336D0778DFF9}"/>
              </a:ext>
            </a:extLst>
          </p:cNvPr>
          <p:cNvCxnSpPr>
            <a:cxnSpLocks/>
          </p:cNvCxnSpPr>
          <p:nvPr/>
        </p:nvCxnSpPr>
        <p:spPr>
          <a:xfrm flipH="1">
            <a:off x="4933072" y="748071"/>
            <a:ext cx="665870" cy="5908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>
            <a:extLst>
              <a:ext uri="{FF2B5EF4-FFF2-40B4-BE49-F238E27FC236}">
                <a16:creationId xmlns:a16="http://schemas.microsoft.com/office/drawing/2014/main" id="{DDA4B4FD-1527-462E-9164-953F86F482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4040" y="1250044"/>
            <a:ext cx="6373114" cy="3572374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13" name="Picture 2" descr="Download Highlight Free PNG HQ HQ PNG Image | FreePNGImg">
            <a:extLst>
              <a:ext uri="{FF2B5EF4-FFF2-40B4-BE49-F238E27FC236}">
                <a16:creationId xmlns:a16="http://schemas.microsoft.com/office/drawing/2014/main" id="{5F984DF6-C8AA-4976-BA67-F69B33C6A5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0915" y="3676607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Metin kutusu 13">
            <a:extLst>
              <a:ext uri="{FF2B5EF4-FFF2-40B4-BE49-F238E27FC236}">
                <a16:creationId xmlns:a16="http://schemas.microsoft.com/office/drawing/2014/main" id="{4FD3D287-0BFF-481C-9369-0F553F2CFD4C}"/>
              </a:ext>
            </a:extLst>
          </p:cNvPr>
          <p:cNvSpPr txBox="1"/>
          <p:nvPr/>
        </p:nvSpPr>
        <p:spPr>
          <a:xfrm>
            <a:off x="108028" y="5094266"/>
            <a:ext cx="7544797" cy="1015663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Tamam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butonuna tıkladıktan sonra resim ile ilgili boyutlandırma ayarı için </a:t>
            </a:r>
            <a:r>
              <a:rPr lang="tr-T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Boyut </a:t>
            </a:r>
            <a:r>
              <a:rPr lang="tr-TR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r>
              <a:rPr lang="tr-TR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kısmından uygun seçenek seçilir. </a:t>
            </a:r>
          </a:p>
          <a:p>
            <a:pPr algn="just"/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Burada </a:t>
            </a:r>
            <a:r>
              <a:rPr lang="tr-TR" sz="2000" dirty="0" err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StretchImage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seçilerek görsel 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yerleştirilmiştir. </a:t>
            </a:r>
          </a:p>
        </p:txBody>
      </p:sp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75D99152-B57C-4F02-87F9-F87D2F95B2D1}"/>
              </a:ext>
            </a:extLst>
          </p:cNvPr>
          <p:cNvCxnSpPr>
            <a:cxnSpLocks/>
          </p:cNvCxnSpPr>
          <p:nvPr/>
        </p:nvCxnSpPr>
        <p:spPr>
          <a:xfrm flipV="1">
            <a:off x="7652825" y="2546252"/>
            <a:ext cx="3066757" cy="25882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Download Highlight Free PNG HQ HQ PNG Image | FreePNGImg">
            <a:extLst>
              <a:ext uri="{FF2B5EF4-FFF2-40B4-BE49-F238E27FC236}">
                <a16:creationId xmlns:a16="http://schemas.microsoft.com/office/drawing/2014/main" id="{8E176105-FC0D-4623-A5B1-4825680BB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6484" y="1817554"/>
            <a:ext cx="1875516" cy="859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2701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Boyut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FD96620D-76A0-475F-9AE7-5FD1699A1EF5}"/>
              </a:ext>
            </a:extLst>
          </p:cNvPr>
          <p:cNvSpPr txBox="1"/>
          <p:nvPr/>
        </p:nvSpPr>
        <p:spPr>
          <a:xfrm>
            <a:off x="0" y="613965"/>
            <a:ext cx="12192000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Boyut </a:t>
            </a:r>
            <a:r>
              <a:rPr lang="tr-TR" sz="2000" b="0" i="0" dirty="0" err="1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ayarlamasını yapmak için kullanılan kontrol,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içindeki görüntünün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içine nasıl yerleşeceğini belirler. Bu kısım Normal,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StretchImage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AutoSize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CenterImage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2000" b="0" i="0" dirty="0" err="1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Zoom</a:t>
            </a:r>
            <a:r>
              <a:rPr lang="tr-TR" sz="2000" b="0" i="0" dirty="0">
                <a:solidFill>
                  <a:srgbClr val="02020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değerlerini alır. </a:t>
            </a:r>
          </a:p>
          <a:p>
            <a:pPr algn="just"/>
            <a:endParaRPr lang="tr-TR" sz="2000" dirty="0">
              <a:solidFill>
                <a:srgbClr val="02020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Normal: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Görüntü direkt olarak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içine sol üst köşeden itibaren koyulur. Eğer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boyutları görüntüden küçükse görüntünün sığmayan kısmı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gözükmez. Şayet görüntünün boyutları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PictureBox’dan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küçükse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görüntüyle dolmayan kısmı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arka plan rengi ile doldurulur.</a:t>
            </a:r>
          </a:p>
          <a:p>
            <a:pPr algn="just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StretchImage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Görüntünün boyutu otomatik olarak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boyutuna göre ayarlanır. Böylece görüntünün tamamı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içinde gözükür. Ancak bu durumda görüntünün çözünürlüğünde sıkıntılar olabilir. Örneğin görüntünün boyutu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küçükse bu durumda görüntü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tamamını bulanık bir şekilde kaplar.</a:t>
            </a:r>
          </a:p>
          <a:p>
            <a:pPr algn="just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AutoSize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yüklenen görüntünün boyutları otomatik olarak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boyutlarının değerlerine atanır. Yani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boyutları otomatik olarak görüntünün boyutları olur.</a:t>
            </a:r>
          </a:p>
          <a:p>
            <a:pPr algn="just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CenterImage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Görüntü otomatik olarak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ortasına yerleştirilir. Eğer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boyutları görüntüden küçükse görüntünün sığmayan kısmı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gözükmez. Şayet görüntünün boyutları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PictureBox’dan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küçükse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görüntüyle dolmayan kısmı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arka plan rengi ile doldurulur.</a:t>
            </a:r>
          </a:p>
          <a:p>
            <a:pPr algn="just"/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Zoom</a:t>
            </a:r>
            <a:r>
              <a:rPr lang="tr-TR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Görüntünün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zum yapılarak gösterilmesini sağlar.</a:t>
            </a:r>
          </a:p>
        </p:txBody>
      </p:sp>
    </p:spTree>
    <p:extLst>
      <p:ext uri="{BB962C8B-B14F-4D97-AF65-F5344CB8AC3E}">
        <p14:creationId xmlns:p14="http://schemas.microsoft.com/office/powerpoint/2010/main" val="4004338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Boyut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DE690436-C730-49B2-AF3A-B5342495A8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98" y="613965"/>
            <a:ext cx="5161061" cy="3600000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8" name="Resim 7">
            <a:extLst>
              <a:ext uri="{FF2B5EF4-FFF2-40B4-BE49-F238E27FC236}">
                <a16:creationId xmlns:a16="http://schemas.microsoft.com/office/drawing/2014/main" id="{E2706D59-F532-4D3E-A859-64A8EDA9FF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835" y="613965"/>
            <a:ext cx="5273470" cy="3600000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0CDC569D-D569-4BF9-AB7A-96946AABE9BB}"/>
              </a:ext>
            </a:extLst>
          </p:cNvPr>
          <p:cNvSpPr txBox="1"/>
          <p:nvPr/>
        </p:nvSpPr>
        <p:spPr>
          <a:xfrm>
            <a:off x="2261382" y="4456665"/>
            <a:ext cx="186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90BCA01-C3D6-4359-8AE7-365AC79C7FEB}"/>
              </a:ext>
            </a:extLst>
          </p:cNvPr>
          <p:cNvSpPr txBox="1"/>
          <p:nvPr/>
        </p:nvSpPr>
        <p:spPr>
          <a:xfrm>
            <a:off x="8364415" y="4456665"/>
            <a:ext cx="186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StretchImage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3430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Boyut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0CDC569D-D569-4BF9-AB7A-96946AABE9BB}"/>
              </a:ext>
            </a:extLst>
          </p:cNvPr>
          <p:cNvSpPr txBox="1"/>
          <p:nvPr/>
        </p:nvSpPr>
        <p:spPr>
          <a:xfrm>
            <a:off x="1699934" y="3626296"/>
            <a:ext cx="186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AutoSize</a:t>
            </a:r>
            <a:endParaRPr lang="tr-T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490BCA01-C3D6-4359-8AE7-365AC79C7FEB}"/>
              </a:ext>
            </a:extLst>
          </p:cNvPr>
          <p:cNvSpPr txBox="1"/>
          <p:nvPr/>
        </p:nvSpPr>
        <p:spPr>
          <a:xfrm>
            <a:off x="9049630" y="3482583"/>
            <a:ext cx="186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CenterImage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A29C6A59-E0DD-4DE7-8351-071EA5022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695" y="613965"/>
            <a:ext cx="3795493" cy="2868618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7" name="Resim 6">
            <a:extLst>
              <a:ext uri="{FF2B5EF4-FFF2-40B4-BE49-F238E27FC236}">
                <a16:creationId xmlns:a16="http://schemas.microsoft.com/office/drawing/2014/main" id="{A2FBF9B5-C0DF-4CEC-88E1-9443C9036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392" y="613965"/>
            <a:ext cx="4400851" cy="2827665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ACA103DA-DD50-4724-9325-C65CF869E0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2208" y="3836472"/>
            <a:ext cx="4206230" cy="2880000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7DEB8718-5A19-4966-978F-119356B6684A}"/>
              </a:ext>
            </a:extLst>
          </p:cNvPr>
          <p:cNvSpPr txBox="1"/>
          <p:nvPr/>
        </p:nvSpPr>
        <p:spPr>
          <a:xfrm>
            <a:off x="5347482" y="6318461"/>
            <a:ext cx="18604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Zoom</a:t>
            </a:r>
            <a:endParaRPr lang="tr-T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911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Metin kutusu 14">
            <a:extLst>
              <a:ext uri="{FF2B5EF4-FFF2-40B4-BE49-F238E27FC236}">
                <a16:creationId xmlns:a16="http://schemas.microsoft.com/office/drawing/2014/main" id="{FD96620D-76A0-475F-9AE7-5FD1699A1EF5}"/>
              </a:ext>
            </a:extLst>
          </p:cNvPr>
          <p:cNvSpPr txBox="1"/>
          <p:nvPr/>
        </p:nvSpPr>
        <p:spPr>
          <a:xfrm>
            <a:off x="0" y="613965"/>
            <a:ext cx="1219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rgbClr val="0000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 Kapsayıcıda Yerleştir 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butonuna basılınca </a:t>
            </a:r>
            <a:r>
              <a:rPr lang="tr-TR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boyutu formun arka planını kapsayacak şekilde otomatik olarak güncellenir. </a:t>
            </a:r>
          </a:p>
          <a:p>
            <a:pPr algn="just"/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Formun boyutu değiştikçe </a:t>
            </a:r>
            <a:r>
              <a:rPr lang="tr-TR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boyutuda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 duruma göre güncellenir. Bu durumda aynı oka tıklayınca bu sefer Ana Kapsayıcıda Yerleştir tuşu yerine Ana Kapsayıcıda Yerinden Çıkar tuşu bulunur. Bu tuşa tıklayınca </a:t>
            </a:r>
            <a:r>
              <a:rPr lang="tr-TR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PictureBox’ın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boyutu ve konumu, Ana kapsayıcıda Yerleştir tuşuna </a:t>
            </a:r>
            <a:r>
              <a:rPr lang="tr-TR" sz="20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basılırkenki</a:t>
            </a:r>
            <a:r>
              <a:rPr lang="tr-TR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boyutu ve konumu olur.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4DE8C48F-A5AB-41E6-A380-7D28F05EB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632" y="2504023"/>
            <a:ext cx="4564670" cy="3600000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9D9CAE77-F03D-4993-A4F9-AEEB94C36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28" y="2504023"/>
            <a:ext cx="6407999" cy="3600000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cxnSp>
        <p:nvCxnSpPr>
          <p:cNvPr id="8" name="Düz Ok Bağlayıcısı 7">
            <a:extLst>
              <a:ext uri="{FF2B5EF4-FFF2-40B4-BE49-F238E27FC236}">
                <a16:creationId xmlns:a16="http://schemas.microsoft.com/office/drawing/2014/main" id="{B37FB5A8-9370-402E-AB9A-EC9C258018FB}"/>
              </a:ext>
            </a:extLst>
          </p:cNvPr>
          <p:cNvCxnSpPr>
            <a:cxnSpLocks/>
          </p:cNvCxnSpPr>
          <p:nvPr/>
        </p:nvCxnSpPr>
        <p:spPr>
          <a:xfrm>
            <a:off x="4996172" y="4303332"/>
            <a:ext cx="219965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044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1: </a:t>
            </a:r>
            <a:r>
              <a:rPr lang="tr-T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ComboBox’tan</a:t>
            </a: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seçilen isme göre </a:t>
            </a:r>
            <a:r>
              <a:rPr lang="tr-T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resim görüntüleme</a:t>
            </a: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7C21CE3D-43DE-48C2-8CBB-275A3AA568EE}"/>
              </a:ext>
            </a:extLst>
          </p:cNvPr>
          <p:cNvSpPr txBox="1"/>
          <p:nvPr/>
        </p:nvSpPr>
        <p:spPr>
          <a:xfrm>
            <a:off x="296500" y="613965"/>
            <a:ext cx="5265477" cy="203132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comboBox1.Items.Clear();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comboBox1.Items.Add(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"Kedi"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comboBox1.Items.Add(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"Kuş"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comboBox1.Items.Add(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"Köpek"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comboBox1.Items.Add(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"Balık"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comboBox1.Items.Add(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"Aslan"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428DE52E-DC89-4C22-BD32-A8DC3C40CB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529" r="31614" b="30958"/>
          <a:stretch/>
        </p:blipFill>
        <p:spPr>
          <a:xfrm>
            <a:off x="6989931" y="459220"/>
            <a:ext cx="1480345" cy="2075307"/>
          </a:xfrm>
          <a:prstGeom prst="rect">
            <a:avLst/>
          </a:prstGeom>
          <a:ln>
            <a:solidFill>
              <a:schemeClr val="accent6">
                <a:lumMod val="10000"/>
              </a:schemeClr>
            </a:solidFill>
          </a:ln>
        </p:spPr>
      </p:pic>
      <p:pic>
        <p:nvPicPr>
          <p:cNvPr id="10" name="Resim 9">
            <a:extLst>
              <a:ext uri="{FF2B5EF4-FFF2-40B4-BE49-F238E27FC236}">
                <a16:creationId xmlns:a16="http://schemas.microsoft.com/office/drawing/2014/main" id="{6213322D-C386-41B2-A320-226A6A29D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0439" y="-23431"/>
            <a:ext cx="2902578" cy="2668721"/>
          </a:xfrm>
          <a:prstGeom prst="rect">
            <a:avLst/>
          </a:prstGeom>
        </p:spPr>
      </p:pic>
      <p:sp>
        <p:nvSpPr>
          <p:cNvPr id="13" name="Metin kutusu 12">
            <a:extLst>
              <a:ext uri="{FF2B5EF4-FFF2-40B4-BE49-F238E27FC236}">
                <a16:creationId xmlns:a16="http://schemas.microsoft.com/office/drawing/2014/main" id="{D2E7C9B6-8575-4BD2-8DEE-24A4540A6A9D}"/>
              </a:ext>
            </a:extLst>
          </p:cNvPr>
          <p:cNvSpPr txBox="1"/>
          <p:nvPr/>
        </p:nvSpPr>
        <p:spPr>
          <a:xfrm>
            <a:off x="296500" y="2836508"/>
            <a:ext cx="6315315" cy="2308324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comboBox1_SelectedIndexChanged(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{</a:t>
            </a:r>
          </a:p>
          <a:p>
            <a:pPr lvl="1"/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(comboBox1.Text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"Kuş"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 pictureBox1.Image=</a:t>
            </a:r>
          </a:p>
          <a:p>
            <a:pPr lvl="1"/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Image.FromFile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"...\\...\\...\\bird.jpg"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(comboBox1.Text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"Kedi"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 pictureBox1.Image = 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Image.FromFile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"...\\...\\...\\\\cat.jpg"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(comboBox1.Text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"Köpek"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 pictureBox1.Image = 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Image.FromFile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"...\\...\\...\\dog.jpg"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if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(comboBox1.Text == 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"Balık"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 pictureBox1.Image = 	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Image.FromFile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"...\\...\\...\\sealife.jpg"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tr-TR" sz="1200" dirty="0">
                <a:solidFill>
                  <a:srgbClr val="0000FF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	else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MessageBox.Show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"Bu resim listede mevcut değil"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}</a:t>
            </a:r>
            <a:endParaRPr lang="tr-TR" sz="1200" dirty="0">
              <a:latin typeface="Consolas" panose="020B0609020204030204" pitchFamily="49" charset="0"/>
              <a:cs typeface="Times New Roman" panose="02020603050405020304" pitchFamily="18" charset="0"/>
            </a:endParaRPr>
          </a:p>
        </p:txBody>
      </p:sp>
      <p:pic>
        <p:nvPicPr>
          <p:cNvPr id="14" name="Resim 13">
            <a:extLst>
              <a:ext uri="{FF2B5EF4-FFF2-40B4-BE49-F238E27FC236}">
                <a16:creationId xmlns:a16="http://schemas.microsoft.com/office/drawing/2014/main" id="{E5848926-16C6-4068-910F-66DC4A29EB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0104" y="2939530"/>
            <a:ext cx="4182913" cy="3738353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6" name="Düz Ok Bağlayıcısı 15">
            <a:extLst>
              <a:ext uri="{FF2B5EF4-FFF2-40B4-BE49-F238E27FC236}">
                <a16:creationId xmlns:a16="http://schemas.microsoft.com/office/drawing/2014/main" id="{9D4FC5F3-1629-4E62-A38E-E423ADBB1211}"/>
              </a:ext>
            </a:extLst>
          </p:cNvPr>
          <p:cNvCxnSpPr>
            <a:cxnSpLocks/>
          </p:cNvCxnSpPr>
          <p:nvPr/>
        </p:nvCxnSpPr>
        <p:spPr>
          <a:xfrm>
            <a:off x="6611815" y="3522919"/>
            <a:ext cx="2398624" cy="1909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928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2: </a:t>
            </a:r>
            <a:r>
              <a:rPr lang="tr-T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rastgele resim gösterme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009251D3-323E-409F-B86B-DB1927383381}"/>
              </a:ext>
            </a:extLst>
          </p:cNvPr>
          <p:cNvSpPr txBox="1"/>
          <p:nvPr/>
        </p:nvSpPr>
        <p:spPr>
          <a:xfrm>
            <a:off x="0" y="613965"/>
            <a:ext cx="119575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tr-T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 </a:t>
            </a:r>
            <a:r>
              <a:rPr lang="tr-TR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PictureBox</a:t>
            </a:r>
            <a:r>
              <a:rPr lang="tr-T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yapısını birlikte kullanarak, bir dosyadaki resimleri belirtilen sürede rastgele olarak gösteren 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 yapısını gerçekleştireceğiz. </a:t>
            </a:r>
          </a:p>
          <a:p>
            <a:pPr algn="just"/>
            <a:r>
              <a:rPr lang="tr-TR" sz="1800" b="0" i="0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Başla</a:t>
            </a:r>
            <a:r>
              <a:rPr lang="tr-T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butonu ile slayt gösterisi baş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layacak ve </a:t>
            </a:r>
            <a:r>
              <a:rPr lang="tr-TR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butonu ile duracak şekilde bir program tasarlanmıştır. </a:t>
            </a: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A90F336E-AD50-4593-A875-1322D7772E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97" t="2145"/>
          <a:stretch/>
        </p:blipFill>
        <p:spPr>
          <a:xfrm>
            <a:off x="1377734" y="1565034"/>
            <a:ext cx="4548379" cy="3839472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5" name="Düz Ok Bağlayıcısı 14">
            <a:extLst>
              <a:ext uri="{FF2B5EF4-FFF2-40B4-BE49-F238E27FC236}">
                <a16:creationId xmlns:a16="http://schemas.microsoft.com/office/drawing/2014/main" id="{92401089-8000-4470-A434-88826841DB85}"/>
              </a:ext>
            </a:extLst>
          </p:cNvPr>
          <p:cNvCxnSpPr>
            <a:cxnSpLocks/>
          </p:cNvCxnSpPr>
          <p:nvPr/>
        </p:nvCxnSpPr>
        <p:spPr>
          <a:xfrm>
            <a:off x="2221566" y="5198747"/>
            <a:ext cx="239151" cy="3828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2" descr="Download Highlight Free PNG HQ HQ PNG Image | FreePNGImg">
            <a:extLst>
              <a:ext uri="{FF2B5EF4-FFF2-40B4-BE49-F238E27FC236}">
                <a16:creationId xmlns:a16="http://schemas.microsoft.com/office/drawing/2014/main" id="{0707DB43-C690-4CB8-A0C7-E0A41774FA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946" y="4925480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Metin kutusu 18">
            <a:extLst>
              <a:ext uri="{FF2B5EF4-FFF2-40B4-BE49-F238E27FC236}">
                <a16:creationId xmlns:a16="http://schemas.microsoft.com/office/drawing/2014/main" id="{2BC46B13-6BE3-4F2B-A7E3-5B3DFFD8E146}"/>
              </a:ext>
            </a:extLst>
          </p:cNvPr>
          <p:cNvSpPr txBox="1"/>
          <p:nvPr/>
        </p:nvSpPr>
        <p:spPr>
          <a:xfrm>
            <a:off x="108028" y="5515544"/>
            <a:ext cx="3828541" cy="132343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r-TR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C# Windows Form uygulamalarında </a:t>
            </a:r>
            <a:r>
              <a:rPr lang="tr-TR" sz="1600" b="1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tr-TR" sz="16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tr-TR" sz="16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kontrolü kullanımı istenen komutların belirlenen zaman aralığında tekrarlanmasını sağlamak için kullanılmaktadır. </a:t>
            </a:r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1ED58F2E-FE8B-4786-949C-4468513F4A1D}"/>
              </a:ext>
            </a:extLst>
          </p:cNvPr>
          <p:cNvSpPr txBox="1"/>
          <p:nvPr/>
        </p:nvSpPr>
        <p:spPr>
          <a:xfrm>
            <a:off x="4092666" y="5568308"/>
            <a:ext cx="6260038" cy="1200329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 Tekrarlanmasını istediğimiz kodları </a:t>
            </a:r>
            <a:r>
              <a:rPr lang="tr-T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Timer_Tick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 olayına yazarız. 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r =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pictureBox1.ImageLocation = dosyalar[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(0,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dosyalar.Length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)];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A3144AFD-A458-4D68-988D-7A12EEDE9D57}"/>
              </a:ext>
            </a:extLst>
          </p:cNvPr>
          <p:cNvSpPr txBox="1"/>
          <p:nvPr/>
        </p:nvSpPr>
        <p:spPr>
          <a:xfrm>
            <a:off x="186408" y="3225299"/>
            <a:ext cx="4944794" cy="83099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btnStart_Click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timer1.Start(); 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tr-T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Timer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 nesnesini başlatır.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25" name="Metin kutusu 24">
            <a:extLst>
              <a:ext uri="{FF2B5EF4-FFF2-40B4-BE49-F238E27FC236}">
                <a16:creationId xmlns:a16="http://schemas.microsoft.com/office/drawing/2014/main" id="{D46CE2F9-1F9C-48C1-8B18-F86394C05343}"/>
              </a:ext>
            </a:extLst>
          </p:cNvPr>
          <p:cNvSpPr txBox="1"/>
          <p:nvPr/>
        </p:nvSpPr>
        <p:spPr>
          <a:xfrm>
            <a:off x="5926112" y="4616738"/>
            <a:ext cx="4775982" cy="830997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btnEnd_Click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pPr lvl="1"/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timer1.Stop(); 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</a:t>
            </a:r>
            <a:r>
              <a:rPr lang="tr-TR" sz="1200" dirty="0" err="1">
                <a:solidFill>
                  <a:srgbClr val="008000"/>
                </a:solidFill>
                <a:latin typeface="Consolas" panose="020B0609020204030204" pitchFamily="49" charset="0"/>
              </a:rPr>
              <a:t>Timer</a:t>
            </a:r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 nesnesini durdurur.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tr-TR" dirty="0"/>
          </a:p>
        </p:txBody>
      </p:sp>
      <p:pic>
        <p:nvPicPr>
          <p:cNvPr id="26" name="Picture 2" descr="Download Highlight Free PNG HQ HQ PNG Image | FreePNGImg">
            <a:extLst>
              <a:ext uri="{FF2B5EF4-FFF2-40B4-BE49-F238E27FC236}">
                <a16:creationId xmlns:a16="http://schemas.microsoft.com/office/drawing/2014/main" id="{729EDD86-E1E7-467C-ADDA-A9CD00F942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9336" y="4377225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" descr="Download Highlight Free PNG HQ HQ PNG Image | FreePNGImg">
            <a:extLst>
              <a:ext uri="{FF2B5EF4-FFF2-40B4-BE49-F238E27FC236}">
                <a16:creationId xmlns:a16="http://schemas.microsoft.com/office/drawing/2014/main" id="{D2878E46-0A06-4EF4-8126-4E21D34A9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7724" y="4352573"/>
            <a:ext cx="1045174" cy="479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Düz Ok Bağlayıcısı 27">
            <a:extLst>
              <a:ext uri="{FF2B5EF4-FFF2-40B4-BE49-F238E27FC236}">
                <a16:creationId xmlns:a16="http://schemas.microsoft.com/office/drawing/2014/main" id="{DA56531F-EC2B-42D6-AA1F-382D23F606A0}"/>
              </a:ext>
            </a:extLst>
          </p:cNvPr>
          <p:cNvCxnSpPr>
            <a:cxnSpLocks/>
          </p:cNvCxnSpPr>
          <p:nvPr/>
        </p:nvCxnSpPr>
        <p:spPr>
          <a:xfrm flipH="1" flipV="1">
            <a:off x="3181066" y="4096192"/>
            <a:ext cx="371534" cy="26716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Düz Ok Bağlayıcısı 29">
            <a:extLst>
              <a:ext uri="{FF2B5EF4-FFF2-40B4-BE49-F238E27FC236}">
                <a16:creationId xmlns:a16="http://schemas.microsoft.com/office/drawing/2014/main" id="{513FAEDB-AE61-4242-85E3-A6A73435AF53}"/>
              </a:ext>
            </a:extLst>
          </p:cNvPr>
          <p:cNvCxnSpPr>
            <a:cxnSpLocks/>
          </p:cNvCxnSpPr>
          <p:nvPr/>
        </p:nvCxnSpPr>
        <p:spPr>
          <a:xfrm>
            <a:off x="5473613" y="4697926"/>
            <a:ext cx="449170" cy="1583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4BE70510-6548-4C3B-B75C-FD5C015850FC}"/>
              </a:ext>
            </a:extLst>
          </p:cNvPr>
          <p:cNvSpPr txBox="1"/>
          <p:nvPr/>
        </p:nvSpPr>
        <p:spPr>
          <a:xfrm>
            <a:off x="5698198" y="2534039"/>
            <a:ext cx="6115803" cy="1569660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r-TR" sz="12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tr-TR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[] dosyalar = </a:t>
            </a:r>
            <a:r>
              <a:rPr lang="tr-TR" sz="12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Directory.GetFiles</a:t>
            </a:r>
            <a:r>
              <a:rPr lang="tr-TR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8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@"E:\BİL207\images\"</a:t>
            </a:r>
            <a:r>
              <a:rPr lang="tr-TR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tr-TR" sz="12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"*.</a:t>
            </a:r>
            <a:r>
              <a:rPr lang="tr-TR" sz="1200" dirty="0" err="1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jpg</a:t>
            </a:r>
            <a:r>
              <a:rPr lang="tr-TR" sz="1200" dirty="0">
                <a:solidFill>
                  <a:srgbClr val="A31515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tr-TR" sz="12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2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	pictureBox1.SizeMode = </a:t>
            </a:r>
            <a:r>
              <a:rPr lang="tr-TR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PictureBoxSizeMode.StretchImage</a:t>
            </a:r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it-IT" sz="1200" dirty="0">
                <a:solidFill>
                  <a:srgbClr val="000000"/>
                </a:solidFill>
                <a:latin typeface="Consolas" panose="020B0609020204030204" pitchFamily="49" charset="0"/>
              </a:rPr>
              <a:t>timer1.Interval = 1500; </a:t>
            </a:r>
            <a:r>
              <a:rPr lang="it-IT" sz="1200" dirty="0">
                <a:solidFill>
                  <a:srgbClr val="008000"/>
                </a:solidFill>
                <a:latin typeface="Consolas" panose="020B0609020204030204" pitchFamily="49" charset="0"/>
              </a:rPr>
              <a:t>// Birimi milisaniyedir. </a:t>
            </a:r>
            <a:endParaRPr lang="it-IT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tr-TR" sz="1200" dirty="0">
                <a:solidFill>
                  <a:srgbClr val="008000"/>
                </a:solidFill>
                <a:latin typeface="Consolas" panose="020B0609020204030204" pitchFamily="49" charset="0"/>
              </a:rPr>
              <a:t>// Kodun tekrarlanma sıklığını belirtir. </a:t>
            </a:r>
            <a:endParaRPr lang="tr-TR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200" dirty="0"/>
          </a:p>
        </p:txBody>
      </p:sp>
      <p:cxnSp>
        <p:nvCxnSpPr>
          <p:cNvPr id="38" name="Düz Ok Bağlayıcısı 37">
            <a:extLst>
              <a:ext uri="{FF2B5EF4-FFF2-40B4-BE49-F238E27FC236}">
                <a16:creationId xmlns:a16="http://schemas.microsoft.com/office/drawing/2014/main" id="{21FE50DF-1A63-4095-A04C-CBD30F2379E0}"/>
              </a:ext>
            </a:extLst>
          </p:cNvPr>
          <p:cNvCxnSpPr>
            <a:cxnSpLocks/>
          </p:cNvCxnSpPr>
          <p:nvPr/>
        </p:nvCxnSpPr>
        <p:spPr>
          <a:xfrm flipV="1">
            <a:off x="6096000" y="2262283"/>
            <a:ext cx="292100" cy="2943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A67AEEEB-9AED-4966-88DD-A85212DBB4A7}"/>
              </a:ext>
            </a:extLst>
          </p:cNvPr>
          <p:cNvSpPr txBox="1"/>
          <p:nvPr/>
        </p:nvSpPr>
        <p:spPr>
          <a:xfrm>
            <a:off x="6070600" y="1739063"/>
            <a:ext cx="5994400" cy="52322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Belirtilen dosya yolundaki *.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jpg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uzantılı dosyaların listesini döndürür.  Directory sınıfı için System.IO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namespacenin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projeye eklenmesi gerekir. 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29887237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3: </a:t>
            </a:r>
            <a:r>
              <a:rPr lang="tr-TR" sz="1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PictureBox’ta</a:t>
            </a:r>
            <a:r>
              <a:rPr lang="tr-T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sıralı resim gösterme</a:t>
            </a:r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009251D3-323E-409F-B86B-DB1927383381}"/>
              </a:ext>
            </a:extLst>
          </p:cNvPr>
          <p:cNvSpPr txBox="1"/>
          <p:nvPr/>
        </p:nvSpPr>
        <p:spPr>
          <a:xfrm>
            <a:off x="0" y="613965"/>
            <a:ext cx="11957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Dosyalara sırayla erişmek için : 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1ED58F2E-FE8B-4786-949C-4468513F4A1D}"/>
              </a:ext>
            </a:extLst>
          </p:cNvPr>
          <p:cNvSpPr txBox="1"/>
          <p:nvPr/>
        </p:nvSpPr>
        <p:spPr>
          <a:xfrm>
            <a:off x="191997" y="2413355"/>
            <a:ext cx="6173633" cy="1384995"/>
          </a:xfrm>
          <a:prstGeom prst="rect">
            <a:avLst/>
          </a:prstGeom>
          <a:solidFill>
            <a:schemeClr val="bg2">
              <a:lumMod val="85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	pictureBox1.ImageLocation = dosyalar[i++];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if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(i ==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dosyalar.Length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i = 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Dikdörtgen 1"/>
          <p:cNvSpPr/>
          <p:nvPr/>
        </p:nvSpPr>
        <p:spPr>
          <a:xfrm>
            <a:off x="191997" y="1638273"/>
            <a:ext cx="82349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i = 0; </a:t>
            </a:r>
            <a:r>
              <a:rPr lang="tr-TR" sz="1400" dirty="0">
                <a:solidFill>
                  <a:srgbClr val="33CC33"/>
                </a:solidFill>
                <a:latin typeface="Consolas" panose="020B0609020204030204" pitchFamily="49" charset="0"/>
              </a:rPr>
              <a:t>//global olarak sınıfın içerisinde, fonksiyonların dışında bildirilir.</a:t>
            </a:r>
          </a:p>
        </p:txBody>
      </p:sp>
    </p:spTree>
    <p:extLst>
      <p:ext uri="{BB962C8B-B14F-4D97-AF65-F5344CB8AC3E}">
        <p14:creationId xmlns:p14="http://schemas.microsoft.com/office/powerpoint/2010/main" val="3221258735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5131</TotalTime>
  <Words>991</Words>
  <Application>Microsoft Office PowerPoint</Application>
  <PresentationFormat>Geniş ekran</PresentationFormat>
  <Paragraphs>109</Paragraphs>
  <Slides>11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6" baseType="lpstr">
      <vt:lpstr>Calibri</vt:lpstr>
      <vt:lpstr>Calibri Light</vt:lpstr>
      <vt:lpstr>Consolas</vt:lpstr>
      <vt:lpstr>Times New Roman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73</cp:revision>
  <dcterms:created xsi:type="dcterms:W3CDTF">2021-02-24T12:37:41Z</dcterms:created>
  <dcterms:modified xsi:type="dcterms:W3CDTF">2024-10-16T18:12:17Z</dcterms:modified>
</cp:coreProperties>
</file>