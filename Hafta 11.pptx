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9" r:id="rId1"/>
  </p:sldMasterIdLst>
  <p:notesMasterIdLst>
    <p:notesMasterId r:id="rId9"/>
  </p:notesMasterIdLst>
  <p:sldIdLst>
    <p:sldId id="256" r:id="rId2"/>
    <p:sldId id="411" r:id="rId3"/>
    <p:sldId id="412" r:id="rId4"/>
    <p:sldId id="413" r:id="rId5"/>
    <p:sldId id="414" r:id="rId6"/>
    <p:sldId id="415" r:id="rId7"/>
    <p:sldId id="41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33CC33"/>
    <a:srgbClr val="66FF33"/>
    <a:srgbClr val="FF3399"/>
    <a:srgbClr val="FF6600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Açık Stil 2 - Vurgu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Açık Stil 2 - Vurgu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Açık Stil 3 - Vurgu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ema Uygulanmış Stil 1 - Vurgu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Açık Stil 1 - Vurgu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Açık Stil 1 - Vurgu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3296810-A885-4BE3-A3E7-6D5BEEA58F35}" styleName="Orta Stil 2 - Vurgu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45" autoAdjust="0"/>
    <p:restoredTop sz="86456" autoAdjust="0"/>
  </p:normalViewPr>
  <p:slideViewPr>
    <p:cSldViewPr snapToGrid="0">
      <p:cViewPr varScale="1">
        <p:scale>
          <a:sx n="96" d="100"/>
          <a:sy n="96" d="100"/>
        </p:scale>
        <p:origin x="124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2BC61F-CF9C-438D-878D-5F289BFF98B2}" type="datetimeFigureOut">
              <a:rPr lang="tr-TR" smtClean="0"/>
              <a:t>16.10.2024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2F0F1D-777A-4D20-B29A-2D838269CEE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19013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95130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377481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71212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034672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25415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410440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42F0F1D-777A-4D20-B29A-2D838269CEE8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12987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245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854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9591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423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390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724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191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576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29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8891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320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89857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1F6194B-F41A-4525-AEB3-77447690AC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62968"/>
            <a:ext cx="12192000" cy="823667"/>
          </a:xfrm>
        </p:spPr>
        <p:txBody>
          <a:bodyPr>
            <a:normAutofit/>
          </a:bodyPr>
          <a:lstStyle/>
          <a:p>
            <a:pPr algn="ctr"/>
            <a:r>
              <a:rPr lang="tr-TR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BİL207-NESNE YÖNELİMLİ PROGRAMLAMA I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CB41DA49-5670-4ECE-A68E-25663738B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2036685"/>
            <a:ext cx="12192000" cy="1126283"/>
          </a:xfrm>
        </p:spPr>
        <p:txBody>
          <a:bodyPr>
            <a:normAutofit/>
          </a:bodyPr>
          <a:lstStyle/>
          <a:p>
            <a:pPr algn="ctr"/>
            <a:r>
              <a:rPr lang="tr-TR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MÜHENDİSLİK FAKÜLTESİ </a:t>
            </a:r>
          </a:p>
          <a:p>
            <a:pPr algn="ctr"/>
            <a:r>
              <a:rPr lang="tr-TR" sz="3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BİLGİSAYAR MÜHENDİSLİĞİ BÖLÜMÜ</a:t>
            </a:r>
          </a:p>
        </p:txBody>
      </p:sp>
      <p:pic>
        <p:nvPicPr>
          <p:cNvPr id="1026" name="Picture 2" descr="Amasya Üniversitesi Logo Vector (.AI) Free Download">
            <a:extLst>
              <a:ext uri="{FF2B5EF4-FFF2-40B4-BE49-F238E27FC236}">
                <a16:creationId xmlns:a16="http://schemas.microsoft.com/office/drawing/2014/main" id="{D0EB15F1-5DFF-44D5-B2FF-50975D94DE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293" y="159026"/>
            <a:ext cx="1889990" cy="1656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Başlık 1">
            <a:extLst>
              <a:ext uri="{FF2B5EF4-FFF2-40B4-BE49-F238E27FC236}">
                <a16:creationId xmlns:a16="http://schemas.microsoft.com/office/drawing/2014/main" id="{396A8088-FB20-4AC5-BF87-A4E322DF3AE5}"/>
              </a:ext>
            </a:extLst>
          </p:cNvPr>
          <p:cNvSpPr txBox="1">
            <a:spLocks/>
          </p:cNvSpPr>
          <p:nvPr/>
        </p:nvSpPr>
        <p:spPr>
          <a:xfrm>
            <a:off x="0" y="4432605"/>
            <a:ext cx="12192000" cy="110412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tr-TR" sz="2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Hafta 11</a:t>
            </a:r>
          </a:p>
          <a:p>
            <a:pPr algn="ctr"/>
            <a:r>
              <a:rPr lang="tr-TR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Forms (Panel)</a:t>
            </a:r>
          </a:p>
        </p:txBody>
      </p:sp>
      <p:sp>
        <p:nvSpPr>
          <p:cNvPr id="6" name="Alt Başlık 2">
            <a:extLst>
              <a:ext uri="{FF2B5EF4-FFF2-40B4-BE49-F238E27FC236}">
                <a16:creationId xmlns:a16="http://schemas.microsoft.com/office/drawing/2014/main" id="{C01E9738-1494-44D7-B855-BBD35AF016D4}"/>
              </a:ext>
            </a:extLst>
          </p:cNvPr>
          <p:cNvSpPr txBox="1">
            <a:spLocks/>
          </p:cNvSpPr>
          <p:nvPr/>
        </p:nvSpPr>
        <p:spPr>
          <a:xfrm>
            <a:off x="139485" y="5724630"/>
            <a:ext cx="12191999" cy="5074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tr-T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Doç. Dr</a:t>
            </a:r>
            <a:r>
              <a:rPr lang="tr-TR"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Funda </a:t>
            </a:r>
            <a:r>
              <a:rPr lang="tr-TR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KUTLU ONAY</a:t>
            </a:r>
          </a:p>
        </p:txBody>
      </p:sp>
    </p:spTree>
    <p:extLst>
      <p:ext uri="{BB962C8B-B14F-4D97-AF65-F5344CB8AC3E}">
        <p14:creationId xmlns:p14="http://schemas.microsoft.com/office/powerpoint/2010/main" val="4251242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Panel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4DCF46B4-81C0-4A9C-B767-A4D90306AF65}"/>
              </a:ext>
            </a:extLst>
          </p:cNvPr>
          <p:cNvSpPr txBox="1"/>
          <p:nvPr/>
        </p:nvSpPr>
        <p:spPr>
          <a:xfrm>
            <a:off x="0" y="594884"/>
            <a:ext cx="1219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Form üzerindeki nesneleri gruplandırmak için kullanılan nesnelerden birisidir. </a:t>
            </a:r>
            <a:r>
              <a:rPr lang="tr-TR" sz="20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</a:t>
            </a:r>
            <a:r>
              <a:rPr lang="tr-TR" sz="2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Box’a</a:t>
            </a:r>
            <a:r>
              <a:rPr lang="tr-T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benzer. Ancak </a:t>
            </a:r>
            <a:r>
              <a:rPr lang="tr-TR" sz="20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GroupBox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nesnesini, Panel nesnesinden ayıran en temel özellik Panel nesnesinde istenildiğinde kullanılabilecek olan kaydırma çubuğu özelliğinin olmasıdır. </a:t>
            </a:r>
            <a:r>
              <a:rPr lang="tr-TR" sz="20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GroupBox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nesnesinde kaydırma çubuğu için gerekli özellik yoktur.</a:t>
            </a:r>
          </a:p>
          <a:p>
            <a:pPr algn="just"/>
            <a:endParaRPr lang="tr-TR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tr-TR" sz="20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Timer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nesnesi ile birlikte Panel nesnesini kullanarak </a:t>
            </a:r>
            <a:r>
              <a:rPr lang="tr-TR" sz="20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Ekolayzer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görüntüsü elde edeceğiz. </a:t>
            </a: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5608E86A-628A-4BAE-9D52-DF3F72799DE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500"/>
          <a:stretch/>
        </p:blipFill>
        <p:spPr>
          <a:xfrm>
            <a:off x="6620386" y="2695074"/>
            <a:ext cx="3815661" cy="3048424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0B193A69-122E-4C1E-8310-4100D0E9601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25"/>
          <a:stretch/>
        </p:blipFill>
        <p:spPr>
          <a:xfrm>
            <a:off x="1521495" y="2695074"/>
            <a:ext cx="3534269" cy="304842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Ok: Sağ 3">
            <a:extLst>
              <a:ext uri="{FF2B5EF4-FFF2-40B4-BE49-F238E27FC236}">
                <a16:creationId xmlns:a16="http://schemas.microsoft.com/office/drawing/2014/main" id="{9D5BD8D6-7E24-4719-9E96-D41DA5AE50AA}"/>
              </a:ext>
            </a:extLst>
          </p:cNvPr>
          <p:cNvSpPr/>
          <p:nvPr/>
        </p:nvSpPr>
        <p:spPr>
          <a:xfrm>
            <a:off x="5571615" y="3946358"/>
            <a:ext cx="753979" cy="336884"/>
          </a:xfrm>
          <a:prstGeom prst="rightArrow">
            <a:avLst/>
          </a:prstGeom>
          <a:solidFill>
            <a:schemeClr val="bg2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947186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Örnek 1: Panel ve </a:t>
            </a: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ile </a:t>
            </a: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ekolayzer</a:t>
            </a:r>
            <a:endParaRPr lang="tr-T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4DCF46B4-81C0-4A9C-B767-A4D90306AF65}"/>
              </a:ext>
            </a:extLst>
          </p:cNvPr>
          <p:cNvSpPr txBox="1"/>
          <p:nvPr/>
        </p:nvSpPr>
        <p:spPr>
          <a:xfrm>
            <a:off x="0" y="594884"/>
            <a:ext cx="1219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Form1_Load(</a:t>
            </a:r>
            <a:r>
              <a:rPr lang="tr-T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		timer1.Start();</a:t>
            </a:r>
          </a:p>
          <a:p>
            <a:pPr lvl="2"/>
            <a:r>
              <a:rPr lang="tr-T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.BackColor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Color.Black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  <a:endParaRPr lang="tr-TR" sz="16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Metin kutusu 8">
            <a:extLst>
              <a:ext uri="{FF2B5EF4-FFF2-40B4-BE49-F238E27FC236}">
                <a16:creationId xmlns:a16="http://schemas.microsoft.com/office/drawing/2014/main" id="{52198182-7429-489A-AFB8-3B5568C7BF9B}"/>
              </a:ext>
            </a:extLst>
          </p:cNvPr>
          <p:cNvSpPr txBox="1"/>
          <p:nvPr/>
        </p:nvSpPr>
        <p:spPr>
          <a:xfrm>
            <a:off x="108028" y="2051572"/>
            <a:ext cx="6870288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timer1_Tick(</a:t>
            </a:r>
            <a:r>
              <a:rPr lang="tr-T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sender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r = </a:t>
            </a:r>
            <a:r>
              <a:rPr lang="tr-TR" sz="16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</a:t>
            </a:r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panel1.Height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(200);</a:t>
            </a:r>
          </a:p>
          <a:p>
            <a:pPr lvl="2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panel2.Height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(200);</a:t>
            </a:r>
          </a:p>
          <a:p>
            <a:pPr lvl="2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panel3.Height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(200);</a:t>
            </a:r>
          </a:p>
          <a:p>
            <a:pPr lvl="2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panel4.Height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(200);</a:t>
            </a:r>
          </a:p>
          <a:p>
            <a:pPr lvl="2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panel5.Height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(200);</a:t>
            </a:r>
          </a:p>
          <a:p>
            <a:pPr lvl="2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panel6.Height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(200);</a:t>
            </a:r>
          </a:p>
          <a:p>
            <a:pPr lvl="2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panel7.Height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(200);</a:t>
            </a:r>
          </a:p>
          <a:p>
            <a:pPr lvl="2"/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panel8.Height =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r.Next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(200);</a:t>
            </a:r>
          </a:p>
          <a:p>
            <a:r>
              <a:rPr lang="tr-T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600" dirty="0"/>
          </a:p>
        </p:txBody>
      </p:sp>
      <p:cxnSp>
        <p:nvCxnSpPr>
          <p:cNvPr id="10" name="Düz Ok Bağlayıcısı 9">
            <a:extLst>
              <a:ext uri="{FF2B5EF4-FFF2-40B4-BE49-F238E27FC236}">
                <a16:creationId xmlns:a16="http://schemas.microsoft.com/office/drawing/2014/main" id="{C46938C8-C911-4CAD-BB0E-58DD312038E9}"/>
              </a:ext>
            </a:extLst>
          </p:cNvPr>
          <p:cNvCxnSpPr/>
          <p:nvPr/>
        </p:nvCxnSpPr>
        <p:spPr>
          <a:xfrm>
            <a:off x="4251158" y="2983832"/>
            <a:ext cx="705852" cy="1443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98494BB1-E7B5-4BFE-9DAE-E89B4E74A216}"/>
              </a:ext>
            </a:extLst>
          </p:cNvPr>
          <p:cNvSpPr txBox="1"/>
          <p:nvPr/>
        </p:nvSpPr>
        <p:spPr>
          <a:xfrm>
            <a:off x="5067303" y="2815208"/>
            <a:ext cx="4032837" cy="9233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tr-TR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200</a:t>
            </a:r>
            <a:r>
              <a:rPr lang="tr-TR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panelin boyutunu gösterir. </a:t>
            </a:r>
            <a:r>
              <a:rPr lang="tr-TR" sz="1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Next</a:t>
            </a:r>
            <a:r>
              <a:rPr lang="tr-TR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tr-TR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metodu sayesinde 0-200 arasında değer üreterek panel boyutunu günceller.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002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Örnek 2: Panel ve </a:t>
            </a: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ile </a:t>
            </a:r>
            <a:r>
              <a:rPr lang="tr-TR" sz="28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ekolayzer</a:t>
            </a: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ve müzik çalar</a:t>
            </a: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497C84D5-6BFB-4F41-A2AD-19E7DF7B3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28" y="1433868"/>
            <a:ext cx="3632110" cy="3491057"/>
          </a:xfrm>
          <a:prstGeom prst="rect">
            <a:avLst/>
          </a:prstGeom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41E40AF3-B8EE-4F09-AD79-5D0B7EC3B293}"/>
              </a:ext>
            </a:extLst>
          </p:cNvPr>
          <p:cNvSpPr txBox="1"/>
          <p:nvPr/>
        </p:nvSpPr>
        <p:spPr>
          <a:xfrm>
            <a:off x="3834063" y="613965"/>
            <a:ext cx="8249909" cy="52322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using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System.Media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//ses dosyalarını oynatmak ve sistem seslerine erişmek için kullanılır.</a:t>
            </a:r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8A732402-DD87-4EBE-9212-A1D60E1EA3C2}"/>
              </a:ext>
            </a:extLst>
          </p:cNvPr>
          <p:cNvSpPr txBox="1"/>
          <p:nvPr/>
        </p:nvSpPr>
        <p:spPr>
          <a:xfrm>
            <a:off x="3834063" y="1225997"/>
            <a:ext cx="8249908" cy="526297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SoundPlayer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player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SoundPlayer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endParaRPr lang="tr-TR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buttonStart_Click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timer1.Start();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player.SoundLocation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@"</a:t>
            </a:r>
            <a:r>
              <a:rPr lang="tr-TR" sz="1400" dirty="0">
                <a:solidFill>
                  <a:srgbClr val="800000"/>
                </a:solidFill>
                <a:latin typeface="Consolas" panose="020B0609020204030204" pitchFamily="49" charset="0"/>
              </a:rPr>
              <a:t>...\...\...\XXX</a:t>
            </a:r>
            <a:r>
              <a:rPr lang="en-US" sz="1400" dirty="0">
                <a:solidFill>
                  <a:srgbClr val="800000"/>
                </a:solidFill>
                <a:latin typeface="Consolas" panose="020B0609020204030204" pitchFamily="49" charset="0"/>
              </a:rPr>
              <a:t>.wav"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player.Play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buttonStop_Click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player.Stop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timer1.Stop();</a:t>
            </a:r>
          </a:p>
          <a:p>
            <a:pPr lvl="1"/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panel1.Height = 200;</a:t>
            </a:r>
          </a:p>
          <a:p>
            <a:pPr lvl="1"/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panel2.Height = 200;</a:t>
            </a:r>
          </a:p>
          <a:p>
            <a:pPr lvl="1"/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panel3.Height = 200;</a:t>
            </a:r>
          </a:p>
          <a:p>
            <a:pPr lvl="1"/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panel4.Height = 200;</a:t>
            </a:r>
          </a:p>
          <a:p>
            <a:pPr lvl="1"/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panel5.Height = 200;</a:t>
            </a:r>
          </a:p>
          <a:p>
            <a:pPr lvl="1"/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panel6.Height = 200;</a:t>
            </a:r>
          </a:p>
          <a:p>
            <a:pPr lvl="1"/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panel7.Height = 200;</a:t>
            </a:r>
          </a:p>
          <a:p>
            <a:pPr lvl="1"/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panel8.Height = 200;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46472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Örnek 3: Video oynatma</a:t>
            </a:r>
          </a:p>
        </p:txBody>
      </p:sp>
      <p:sp>
        <p:nvSpPr>
          <p:cNvPr id="8" name="Metin kutusu 7">
            <a:extLst>
              <a:ext uri="{FF2B5EF4-FFF2-40B4-BE49-F238E27FC236}">
                <a16:creationId xmlns:a16="http://schemas.microsoft.com/office/drawing/2014/main" id="{4DCF46B4-81C0-4A9C-B767-A4D90306AF65}"/>
              </a:ext>
            </a:extLst>
          </p:cNvPr>
          <p:cNvSpPr txBox="1"/>
          <p:nvPr/>
        </p:nvSpPr>
        <p:spPr>
          <a:xfrm>
            <a:off x="0" y="594884"/>
            <a:ext cx="1219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Araç kutusundan Tüm Windows Formları -&gt; Öğeleri Seç -&gt; COM Bileşenleri -&gt; Windows Media Player adımlarını izliyoruz. </a:t>
            </a:r>
          </a:p>
          <a:p>
            <a:pPr algn="just"/>
            <a:r>
              <a:rPr lang="tr-TR" sz="20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Daha sonra Windows M</a:t>
            </a:r>
            <a:r>
              <a:rPr lang="tr-TR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edia Player nesnesi diğer nesneler arasında ekleniyor. Sürükleyip forma ekranına bırakıyoruz. Buton da ekleyerek videonun kontrolünü gerçekleştiriyoruz. </a:t>
            </a: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05ABD447-464F-4E4C-8D65-22F05E19D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28" y="1918323"/>
            <a:ext cx="6842385" cy="4081423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7CB9AF3D-37D5-40F8-8560-192BD0F706EC}"/>
              </a:ext>
            </a:extLst>
          </p:cNvPr>
          <p:cNvSpPr txBox="1"/>
          <p:nvPr/>
        </p:nvSpPr>
        <p:spPr>
          <a:xfrm>
            <a:off x="4839018" y="5062787"/>
            <a:ext cx="7244954" cy="120032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button1_Click(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		mp1.URL = </a:t>
            </a:r>
            <a:r>
              <a:rPr lang="tr-TR" sz="1800" dirty="0">
                <a:solidFill>
                  <a:srgbClr val="A31515"/>
                </a:solidFill>
                <a:latin typeface="Consolas" panose="020B0609020204030204" pitchFamily="49" charset="0"/>
              </a:rPr>
              <a:t>"...\\...\\...\\Amasya.mp4"</a:t>
            </a:r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;         </a:t>
            </a:r>
          </a:p>
          <a:p>
            <a:r>
              <a:rPr lang="tr-TR" sz="18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23559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1933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Örnek 4: Dosyaya veri yazma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9277F440-D63E-4539-9C27-151623DC01D3}"/>
              </a:ext>
            </a:extLst>
          </p:cNvPr>
          <p:cNvSpPr txBox="1"/>
          <p:nvPr/>
        </p:nvSpPr>
        <p:spPr>
          <a:xfrm>
            <a:off x="0" y="594884"/>
            <a:ext cx="1219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 örnekte forma ekranından girilen metinlerin bir .</a:t>
            </a:r>
            <a:r>
              <a:rPr lang="tr-TR" sz="20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txt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dosyasına yazdırılması gerçekleştirilmektedir. Bunun için form </a:t>
            </a:r>
            <a:r>
              <a:rPr lang="tr-TR" sz="20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uygulamasıne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2000" b="0" i="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RichTextBox</a:t>
            </a:r>
            <a:r>
              <a:rPr lang="tr-TR" sz="20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ve Buton eklenmiştir.</a:t>
            </a:r>
          </a:p>
          <a:p>
            <a:pPr algn="just"/>
            <a:r>
              <a:rPr lang="tr-T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Dosya işlemleri için </a:t>
            </a:r>
            <a:r>
              <a:rPr lang="tr-TR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System.IO</a:t>
            </a:r>
            <a:r>
              <a:rPr lang="tr-TR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isim uzayı eklenmelidir. Aksi halde koddaki File sınıfına erişim sağlanamaz. </a:t>
            </a:r>
            <a:endParaRPr lang="tr-TR" sz="20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06B2614C-E598-4C3D-ADA2-C1C8D45C0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65" y="1610547"/>
            <a:ext cx="5442541" cy="3315664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9" name="Metin kutusu 8">
            <a:extLst>
              <a:ext uri="{FF2B5EF4-FFF2-40B4-BE49-F238E27FC236}">
                <a16:creationId xmlns:a16="http://schemas.microsoft.com/office/drawing/2014/main" id="{5BF86FE7-BAD9-419C-9280-690E01B9566D}"/>
              </a:ext>
            </a:extLst>
          </p:cNvPr>
          <p:cNvSpPr txBox="1"/>
          <p:nvPr/>
        </p:nvSpPr>
        <p:spPr>
          <a:xfrm>
            <a:off x="5915271" y="3268379"/>
            <a:ext cx="552943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btnSave_Click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(!</a:t>
            </a:r>
            <a:r>
              <a:rPr lang="tr-TR" sz="1400" dirty="0" err="1">
                <a:solidFill>
                  <a:srgbClr val="006600"/>
                </a:solidFill>
                <a:latin typeface="Consolas" panose="020B0609020204030204" pitchFamily="49" charset="0"/>
              </a:rPr>
              <a:t>File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.Exists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fpath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))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tr-TR" sz="1400" dirty="0" err="1">
                <a:solidFill>
                  <a:srgbClr val="006600"/>
                </a:solidFill>
                <a:latin typeface="Consolas" panose="020B0609020204030204" pitchFamily="49" charset="0"/>
              </a:rPr>
              <a:t>File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.Create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fpath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400" dirty="0" err="1">
                <a:solidFill>
                  <a:srgbClr val="006600"/>
                </a:solidFill>
                <a:latin typeface="Consolas" panose="020B0609020204030204" pitchFamily="49" charset="0"/>
              </a:rPr>
              <a:t>File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.WriteAllText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(fpath,richTextBox1.Text);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400" dirty="0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35C656BB-4CD6-455E-884B-BDDB00BEE578}"/>
              </a:ext>
            </a:extLst>
          </p:cNvPr>
          <p:cNvSpPr txBox="1"/>
          <p:nvPr/>
        </p:nvSpPr>
        <p:spPr>
          <a:xfrm>
            <a:off x="5943600" y="1648871"/>
            <a:ext cx="62484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fpath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Form1_Load(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sender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fpath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"dosya.txt"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400" dirty="0"/>
          </a:p>
        </p:txBody>
      </p:sp>
      <p:sp>
        <p:nvSpPr>
          <p:cNvPr id="13" name="Metin kutusu 12">
            <a:extLst>
              <a:ext uri="{FF2B5EF4-FFF2-40B4-BE49-F238E27FC236}">
                <a16:creationId xmlns:a16="http://schemas.microsoft.com/office/drawing/2014/main" id="{43F534DF-B208-4087-918F-18F84880DF8B}"/>
              </a:ext>
            </a:extLst>
          </p:cNvPr>
          <p:cNvSpPr txBox="1"/>
          <p:nvPr/>
        </p:nvSpPr>
        <p:spPr>
          <a:xfrm>
            <a:off x="108028" y="5247453"/>
            <a:ext cx="11930229" cy="646331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tr-TR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 şekilde dosya yolu verildiğinde uygulamanın altındaki "bin" klasörüne dosyayı oluşturur. </a:t>
            </a:r>
            <a:r>
              <a:rPr lang="tr-TR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Başka bir konumda dosya yaratmak veya bir konumdaki dosya üzerine yazmak için dosyanın tam yolunun verilmesi gerekir. </a:t>
            </a:r>
            <a:endParaRPr lang="tr-TR" sz="1800" b="0" i="0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778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lt Başlık 2">
            <a:extLst>
              <a:ext uri="{FF2B5EF4-FFF2-40B4-BE49-F238E27FC236}">
                <a16:creationId xmlns:a16="http://schemas.microsoft.com/office/drawing/2014/main" id="{4DE85122-41A6-43DF-A9E4-E5B2F9B7FA4D}"/>
              </a:ext>
            </a:extLst>
          </p:cNvPr>
          <p:cNvSpPr txBox="1">
            <a:spLocks/>
          </p:cNvSpPr>
          <p:nvPr/>
        </p:nvSpPr>
        <p:spPr>
          <a:xfrm>
            <a:off x="108028" y="-11367"/>
            <a:ext cx="12083972" cy="612032"/>
          </a:xfrm>
          <a:prstGeom prst="rect">
            <a:avLst/>
          </a:prstGeom>
        </p:spPr>
        <p:txBody>
          <a:bodyPr vert="horz" lIns="0" tIns="45720" rIns="0" bIns="45720" rtlCol="0" anchor="ctr">
            <a:norm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Calibri" panose="020F0502020204030204" pitchFamily="34" charset="0"/>
              <a:buNone/>
            </a:pPr>
            <a:r>
              <a:rPr lang="tr-T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Örnek 5: Dosyadan veri okuma</a:t>
            </a:r>
          </a:p>
        </p:txBody>
      </p:sp>
      <p:pic>
        <p:nvPicPr>
          <p:cNvPr id="2" name="Resim 1">
            <a:extLst>
              <a:ext uri="{FF2B5EF4-FFF2-40B4-BE49-F238E27FC236}">
                <a16:creationId xmlns:a16="http://schemas.microsoft.com/office/drawing/2014/main" id="{FD3F8EF5-F2BB-413D-BFA1-2ED69DBC1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23" y="793680"/>
            <a:ext cx="3315163" cy="4067743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1" name="Metin kutusu 10">
            <a:extLst>
              <a:ext uri="{FF2B5EF4-FFF2-40B4-BE49-F238E27FC236}">
                <a16:creationId xmlns:a16="http://schemas.microsoft.com/office/drawing/2014/main" id="{AA2079E3-F550-4F5E-9AC3-3BDB5DC8B759}"/>
              </a:ext>
            </a:extLst>
          </p:cNvPr>
          <p:cNvSpPr txBox="1"/>
          <p:nvPr/>
        </p:nvSpPr>
        <p:spPr>
          <a:xfrm>
            <a:off x="3910263" y="793680"/>
            <a:ext cx="7720263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fpath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tr-TR" sz="14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Form1_Load(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sender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fpath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"dosya.txt"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btnSave_Click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EventArgs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FileStream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fileStream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FileStream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fpath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FileMode.OpenOrCreate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tr-TR" sz="1400" dirty="0">
                <a:solidFill>
                  <a:srgbClr val="008000"/>
                </a:solidFill>
                <a:latin typeface="Consolas" panose="020B0609020204030204" pitchFamily="49" charset="0"/>
              </a:rPr>
              <a:t>	//Dosya okuma </a:t>
            </a:r>
            <a:r>
              <a:rPr lang="tr-TR" sz="1400" dirty="0" err="1">
                <a:solidFill>
                  <a:srgbClr val="008000"/>
                </a:solidFill>
                <a:latin typeface="Consolas" panose="020B0609020204030204" pitchFamily="49" charset="0"/>
              </a:rPr>
              <a:t>modunda</a:t>
            </a:r>
            <a:r>
              <a:rPr lang="tr-TR" sz="1400" dirty="0">
                <a:solidFill>
                  <a:srgbClr val="008000"/>
                </a:solidFill>
                <a:latin typeface="Consolas" panose="020B0609020204030204" pitchFamily="49" charset="0"/>
              </a:rPr>
              <a:t> açılır.</a:t>
            </a:r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StreamReader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streamReader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StreamReader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fileStream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true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tr-TR" sz="14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satir = 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streamReader.ReadLine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/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richTextBox1.Text += satir + 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"\n"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8000"/>
                </a:solidFill>
                <a:latin typeface="Consolas" panose="020B0609020204030204" pitchFamily="49" charset="0"/>
              </a:rPr>
              <a:t>		// okunan satır ve satır başı ekleniyor.</a:t>
            </a:r>
            <a:endParaRPr lang="tr-TR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tr-TR" sz="14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 (satir == </a:t>
            </a:r>
            <a:r>
              <a:rPr lang="tr-T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null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tr-TR" sz="1400" dirty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tr-T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fileStream.Close</a:t>
            </a: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tr-TR" sz="1400" dirty="0"/>
          </a:p>
        </p:txBody>
      </p:sp>
    </p:spTree>
    <p:extLst>
      <p:ext uri="{BB962C8B-B14F-4D97-AF65-F5344CB8AC3E}">
        <p14:creationId xmlns:p14="http://schemas.microsoft.com/office/powerpoint/2010/main" val="475394756"/>
      </p:ext>
    </p:extLst>
  </p:cSld>
  <p:clrMapOvr>
    <a:masterClrMapping/>
  </p:clrMapOvr>
</p:sld>
</file>

<file path=ppt/theme/theme1.xml><?xml version="1.0" encoding="utf-8"?>
<a:theme xmlns:a="http://schemas.openxmlformats.org/drawingml/2006/main" name="Geçmişe bakış">
  <a:themeElements>
    <a:clrScheme name="Özel 1">
      <a:dk1>
        <a:srgbClr val="2D2D2D"/>
      </a:dk1>
      <a:lt1>
        <a:srgbClr val="2D2D2D"/>
      </a:lt1>
      <a:dk2>
        <a:srgbClr val="FFFFFF"/>
      </a:dk2>
      <a:lt2>
        <a:srgbClr val="FFFFFF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F2F2F2"/>
      </a:accent6>
      <a:hlink>
        <a:srgbClr val="6B9F25"/>
      </a:hlink>
      <a:folHlink>
        <a:srgbClr val="B26B02"/>
      </a:folHlink>
    </a:clrScheme>
    <a:fontScheme name="Geçmişe bakış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eçmişe bakış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CA72677B-2F8C-4192-8EBE-D360BE3B20F6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Hafta1</Template>
  <TotalTime>7131</TotalTime>
  <Words>720</Words>
  <Application>Microsoft Office PowerPoint</Application>
  <PresentationFormat>Geniş ekran</PresentationFormat>
  <Paragraphs>108</Paragraphs>
  <Slides>7</Slides>
  <Notes>7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7</vt:i4>
      </vt:variant>
    </vt:vector>
  </HeadingPairs>
  <TitlesOfParts>
    <vt:vector size="12" baseType="lpstr">
      <vt:lpstr>Calibri</vt:lpstr>
      <vt:lpstr>Calibri Light</vt:lpstr>
      <vt:lpstr>Consolas</vt:lpstr>
      <vt:lpstr>Times New Roman</vt:lpstr>
      <vt:lpstr>Geçmişe bakış</vt:lpstr>
      <vt:lpstr>BİL207-NESNE YÖNELİMLİ PROGRAMLAMA I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BİL102-ALGORİTMA ve PROGRAMLAMA I</dc:title>
  <dc:creator>FUNDA KUTLU ONAY</dc:creator>
  <cp:lastModifiedBy>FUNDA KUTLU ONAY</cp:lastModifiedBy>
  <cp:revision>82</cp:revision>
  <dcterms:created xsi:type="dcterms:W3CDTF">2021-02-24T12:37:41Z</dcterms:created>
  <dcterms:modified xsi:type="dcterms:W3CDTF">2024-10-16T18:12:35Z</dcterms:modified>
</cp:coreProperties>
</file>