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9" r:id="rId1"/>
  </p:sldMasterIdLst>
  <p:notesMasterIdLst>
    <p:notesMasterId r:id="rId18"/>
  </p:notesMasterIdLst>
  <p:sldIdLst>
    <p:sldId id="256" r:id="rId2"/>
    <p:sldId id="411" r:id="rId3"/>
    <p:sldId id="412" r:id="rId4"/>
    <p:sldId id="417" r:id="rId5"/>
    <p:sldId id="418" r:id="rId6"/>
    <p:sldId id="419" r:id="rId7"/>
    <p:sldId id="420" r:id="rId8"/>
    <p:sldId id="421" r:id="rId9"/>
    <p:sldId id="422" r:id="rId10"/>
    <p:sldId id="423" r:id="rId11"/>
    <p:sldId id="424" r:id="rId12"/>
    <p:sldId id="427" r:id="rId13"/>
    <p:sldId id="428" r:id="rId14"/>
    <p:sldId id="429" r:id="rId15"/>
    <p:sldId id="430" r:id="rId16"/>
    <p:sldId id="43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33CC33"/>
    <a:srgbClr val="66FF33"/>
    <a:srgbClr val="FF3399"/>
    <a:srgbClr val="FF66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Açık Stil 2 - Vurgu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Açık Stil 3 - Vurgu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ema Uygulanmış Stil 1 - Vurgu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Açık Stil 1 - Vurgu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Açık Stil 1 - Vurgu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5" autoAdjust="0"/>
    <p:restoredTop sz="86456" autoAdjust="0"/>
  </p:normalViewPr>
  <p:slideViewPr>
    <p:cSldViewPr snapToGrid="0">
      <p:cViewPr varScale="1">
        <p:scale>
          <a:sx n="96" d="100"/>
          <a:sy n="96" d="100"/>
        </p:scale>
        <p:origin x="124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2BC61F-CF9C-438D-878D-5F289BFF98B2}" type="datetimeFigureOut">
              <a:rPr lang="tr-TR" smtClean="0"/>
              <a:t>16.10.2024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F0F1D-777A-4D20-B29A-2D838269CE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901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5130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7748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1212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2130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0679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89492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8654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0919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2179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56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0181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86772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0915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27923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30363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3036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24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85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591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42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90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72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19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57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2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89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32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9857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F6194B-F41A-4525-AEB3-77447690A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62968"/>
            <a:ext cx="12192000" cy="823667"/>
          </a:xfrm>
        </p:spPr>
        <p:txBody>
          <a:bodyPr>
            <a:normAutofit/>
          </a:bodyPr>
          <a:lstStyle/>
          <a:p>
            <a:pPr algn="ctr"/>
            <a:r>
              <a:rPr lang="tr-TR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BİL207-NESNE YÖNELİMLİ PROGRAMLAMA 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2036685"/>
            <a:ext cx="12192000" cy="1126283"/>
          </a:xfrm>
        </p:spPr>
        <p:txBody>
          <a:bodyPr>
            <a:normAutofit/>
          </a:bodyPr>
          <a:lstStyle/>
          <a:p>
            <a:pPr algn="ctr"/>
            <a:r>
              <a:rPr lang="tr-T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MÜHENDİSLİK FAKÜLTESİ </a:t>
            </a:r>
          </a:p>
          <a:p>
            <a:pPr algn="ctr"/>
            <a:r>
              <a:rPr lang="tr-T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BİLGİSAYAR MÜHENDİSLİĞİ BÖLÜMÜ</a:t>
            </a:r>
          </a:p>
        </p:txBody>
      </p:sp>
      <p:pic>
        <p:nvPicPr>
          <p:cNvPr id="1026" name="Picture 2" descr="Amasya Üniversitesi Logo Vector (.AI) Free Download">
            <a:extLst>
              <a:ext uri="{FF2B5EF4-FFF2-40B4-BE49-F238E27FC236}">
                <a16:creationId xmlns:a16="http://schemas.microsoft.com/office/drawing/2014/main" id="{D0EB15F1-5DFF-44D5-B2FF-50975D94D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293" y="159026"/>
            <a:ext cx="1889990" cy="165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aşlık 1">
            <a:extLst>
              <a:ext uri="{FF2B5EF4-FFF2-40B4-BE49-F238E27FC236}">
                <a16:creationId xmlns:a16="http://schemas.microsoft.com/office/drawing/2014/main" id="{396A8088-FB20-4AC5-BF87-A4E322DF3AE5}"/>
              </a:ext>
            </a:extLst>
          </p:cNvPr>
          <p:cNvSpPr txBox="1">
            <a:spLocks/>
          </p:cNvSpPr>
          <p:nvPr/>
        </p:nvSpPr>
        <p:spPr>
          <a:xfrm>
            <a:off x="0" y="4432605"/>
            <a:ext cx="12192000" cy="11041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Hafta 12-13-14</a:t>
            </a:r>
          </a:p>
          <a:p>
            <a:pPr algn="ctr"/>
            <a:r>
              <a:rPr lang="tr-T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Forms (Çeşitli Örnekler - 2)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C01E9738-1494-44D7-B855-BBD35AF016D4}"/>
              </a:ext>
            </a:extLst>
          </p:cNvPr>
          <p:cNvSpPr txBox="1">
            <a:spLocks/>
          </p:cNvSpPr>
          <p:nvPr/>
        </p:nvSpPr>
        <p:spPr>
          <a:xfrm>
            <a:off x="139485" y="5724630"/>
            <a:ext cx="12191999" cy="5074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Doç. Dr</a:t>
            </a:r>
            <a:r>
              <a:rPr lang="tr-T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Funda KUTLU ONAY</a:t>
            </a:r>
          </a:p>
        </p:txBody>
      </p:sp>
    </p:spTree>
    <p:extLst>
      <p:ext uri="{BB962C8B-B14F-4D97-AF65-F5344CB8AC3E}">
        <p14:creationId xmlns:p14="http://schemas.microsoft.com/office/powerpoint/2010/main" val="4251242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DateTime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Sınıfı Örneği</a:t>
            </a:r>
            <a:endParaRPr lang="tr-T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29389355-114F-4A43-8A3D-0662F441EC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51" b="4818"/>
          <a:stretch/>
        </p:blipFill>
        <p:spPr>
          <a:xfrm>
            <a:off x="6569243" y="2161222"/>
            <a:ext cx="5622757" cy="34624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559DB8C5-219B-4282-BA40-48EC9D5547B4}"/>
              </a:ext>
            </a:extLst>
          </p:cNvPr>
          <p:cNvSpPr txBox="1"/>
          <p:nvPr/>
        </p:nvSpPr>
        <p:spPr>
          <a:xfrm>
            <a:off x="108028" y="613965"/>
            <a:ext cx="7576140" cy="1384995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DateTime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dateNow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DateTime.Now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lblNow.Text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"Bugünün tarihi: 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dateNow.ToShortDateString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+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dateNow.DayOfWeek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8ADBBD05-6D78-42B3-918F-EA31FAA0AE4C}"/>
              </a:ext>
            </a:extLst>
          </p:cNvPr>
          <p:cNvSpPr txBox="1"/>
          <p:nvPr/>
        </p:nvSpPr>
        <p:spPr>
          <a:xfrm>
            <a:off x="108028" y="2610992"/>
            <a:ext cx="5819529" cy="1600438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button2_Click(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DateTime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dateNow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DateTime.Now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DateTime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dateFinish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DateTime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(2022, 7, 27);</a:t>
            </a:r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TimeSpan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dateFinish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dateNow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lblFinish.Text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"Kalan gün: 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ts.Days.ToString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2815BE4F-8CBC-44DA-95D7-7AB0728D53AF}"/>
              </a:ext>
            </a:extLst>
          </p:cNvPr>
          <p:cNvSpPr txBox="1"/>
          <p:nvPr/>
        </p:nvSpPr>
        <p:spPr>
          <a:xfrm>
            <a:off x="108028" y="4823462"/>
            <a:ext cx="6152146" cy="1600438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button3_Click(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DateTime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dateNow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DateTime.Now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DateTime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dateFinish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dateTimePicker1.Value;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TimeSpan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dateFinish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dateNow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lblRemain.Text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"Kalan gün: 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ts.Days.ToString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  <p:cxnSp>
        <p:nvCxnSpPr>
          <p:cNvPr id="15" name="Düz Ok Bağlayıcısı 14">
            <a:extLst>
              <a:ext uri="{FF2B5EF4-FFF2-40B4-BE49-F238E27FC236}">
                <a16:creationId xmlns:a16="http://schemas.microsoft.com/office/drawing/2014/main" id="{5D5ACF0F-8AF8-4355-A248-02AFB125FE3B}"/>
              </a:ext>
            </a:extLst>
          </p:cNvPr>
          <p:cNvCxnSpPr>
            <a:cxnSpLocks/>
          </p:cNvCxnSpPr>
          <p:nvPr/>
        </p:nvCxnSpPr>
        <p:spPr>
          <a:xfrm flipH="1" flipV="1">
            <a:off x="6785812" y="1998961"/>
            <a:ext cx="609599" cy="9759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CDA69F2D-5505-4CE6-A78F-D19E014C2D51}"/>
              </a:ext>
            </a:extLst>
          </p:cNvPr>
          <p:cNvCxnSpPr>
            <a:cxnSpLocks/>
          </p:cNvCxnSpPr>
          <p:nvPr/>
        </p:nvCxnSpPr>
        <p:spPr>
          <a:xfrm flipH="1" flipV="1">
            <a:off x="5943600" y="3546217"/>
            <a:ext cx="794087" cy="4879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>
            <a:extLst>
              <a:ext uri="{FF2B5EF4-FFF2-40B4-BE49-F238E27FC236}">
                <a16:creationId xmlns:a16="http://schemas.microsoft.com/office/drawing/2014/main" id="{06D155A3-921A-4A22-B25B-9DA8E654C54A}"/>
              </a:ext>
            </a:extLst>
          </p:cNvPr>
          <p:cNvCxnSpPr>
            <a:cxnSpLocks/>
          </p:cNvCxnSpPr>
          <p:nvPr/>
        </p:nvCxnSpPr>
        <p:spPr>
          <a:xfrm flipH="1">
            <a:off x="6260174" y="5367200"/>
            <a:ext cx="866536" cy="4071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Download Highlight Free PNG HQ HQ PNG Image | FreePNGImg">
            <a:extLst>
              <a:ext uri="{FF2B5EF4-FFF2-40B4-BE49-F238E27FC236}">
                <a16:creationId xmlns:a16="http://schemas.microsoft.com/office/drawing/2014/main" id="{309C3D3F-47E4-4A9F-B3DB-A1D518C96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730" y="2807596"/>
            <a:ext cx="1923480" cy="760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Download Highlight Free PNG HQ HQ PNG Image | FreePNGImg">
            <a:extLst>
              <a:ext uri="{FF2B5EF4-FFF2-40B4-BE49-F238E27FC236}">
                <a16:creationId xmlns:a16="http://schemas.microsoft.com/office/drawing/2014/main" id="{0FA2B3B1-EAA4-4AD7-98E1-00C69A8AD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730" y="3667964"/>
            <a:ext cx="1923480" cy="760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Download Highlight Free PNG HQ HQ PNG Image | FreePNGImg">
            <a:extLst>
              <a:ext uri="{FF2B5EF4-FFF2-40B4-BE49-F238E27FC236}">
                <a16:creationId xmlns:a16="http://schemas.microsoft.com/office/drawing/2014/main" id="{DD620137-7818-4AC8-9971-B64EE2324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779" y="5110299"/>
            <a:ext cx="1487233" cy="58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186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Kayan Yazı Örneği (Sola kaydırma)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4A023AC8-F0C0-49BD-8B3D-0365AF2E4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8" y="532986"/>
            <a:ext cx="5279766" cy="122373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EB90A913-916E-4CC2-A9EE-CE3BA9E05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8" y="1976543"/>
            <a:ext cx="5248980" cy="117755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6C389910-5A6C-4360-93F0-206982A6E6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28" y="3461240"/>
            <a:ext cx="5233587" cy="114677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Metin kutusu 13">
            <a:extLst>
              <a:ext uri="{FF2B5EF4-FFF2-40B4-BE49-F238E27FC236}">
                <a16:creationId xmlns:a16="http://schemas.microsoft.com/office/drawing/2014/main" id="{54D66695-6157-4CA5-BE94-AD8EF1715DBB}"/>
              </a:ext>
            </a:extLst>
          </p:cNvPr>
          <p:cNvSpPr txBox="1"/>
          <p:nvPr/>
        </p:nvSpPr>
        <p:spPr>
          <a:xfrm>
            <a:off x="5699987" y="307949"/>
            <a:ext cx="614149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WindowsFormsApp1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.Text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"Kayan Yazı"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Form1_Load(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timer1.Start();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timer1.Interval = 20;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label1.Left = 100;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timer1_Tick(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(label1.Left &gt; -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.Width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/2)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label1.Left -= 1;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label1.Left =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.Width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3171002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Kayan Yazı Örneği (Yukarı kaydırma)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54D66695-6157-4CA5-BE94-AD8EF1715DBB}"/>
              </a:ext>
            </a:extLst>
          </p:cNvPr>
          <p:cNvSpPr txBox="1"/>
          <p:nvPr/>
        </p:nvSpPr>
        <p:spPr>
          <a:xfrm>
            <a:off x="5242787" y="537765"/>
            <a:ext cx="641581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WindowsFormsApp1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.Text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"Kayan Yazı"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Form1_Load(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timer1.Start();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timer1.Interval = 20;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label1.Top = 100;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timer1_Tick(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(label1.Top &gt; -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/2)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label1.Top -= 1;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label1.Top =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.Height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CC7E1CF4-B8B5-4FF5-BA85-A18C2A50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8" y="2248058"/>
            <a:ext cx="4968687" cy="137695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7CBF55F4-D623-4415-A55E-C658AE901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27" y="3911293"/>
            <a:ext cx="4917688" cy="134781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ACDA326C-7B08-49E8-BE08-A4BDDC2633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28" y="637988"/>
            <a:ext cx="4924974" cy="1355096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057381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MenuStrip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Nesnesi Örneği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9F9B6389-D290-4E7F-979B-AF8BA6BF1855}"/>
              </a:ext>
            </a:extLst>
          </p:cNvPr>
          <p:cNvSpPr txBox="1"/>
          <p:nvPr/>
        </p:nvSpPr>
        <p:spPr>
          <a:xfrm>
            <a:off x="0" y="613965"/>
            <a:ext cx="120839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200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MenuStrip</a:t>
            </a:r>
            <a:r>
              <a:rPr lang="tr-TR" sz="22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kontrolü </a:t>
            </a:r>
            <a:r>
              <a:rPr lang="tr-TR" sz="22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Menü tasarımı</a:t>
            </a:r>
            <a:r>
              <a:rPr lang="tr-TR" sz="22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yapmak amacıyla kullanılmaktadır. </a:t>
            </a:r>
          </a:p>
          <a:p>
            <a:pPr algn="just"/>
            <a:r>
              <a:rPr lang="tr-TR" sz="22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 kontrol sayesinde geliştireceğimiz projeye istediğimiz menüyü yerleştirebiliriz. </a:t>
            </a:r>
            <a:endParaRPr lang="tr-TR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5257204C-B2E8-4711-B38C-B4E97FD96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8" y="1527695"/>
            <a:ext cx="4482943" cy="200798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83350A53-1823-417B-B07F-82CD53E21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8" y="3777512"/>
            <a:ext cx="4492475" cy="173936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6" name="Metin kutusu 15">
            <a:extLst>
              <a:ext uri="{FF2B5EF4-FFF2-40B4-BE49-F238E27FC236}">
                <a16:creationId xmlns:a16="http://schemas.microsoft.com/office/drawing/2014/main" id="{1934066B-A90C-4EE9-9107-39F57C474207}"/>
              </a:ext>
            </a:extLst>
          </p:cNvPr>
          <p:cNvSpPr txBox="1"/>
          <p:nvPr/>
        </p:nvSpPr>
        <p:spPr>
          <a:xfrm>
            <a:off x="4751070" y="1487852"/>
            <a:ext cx="7440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Enabled</a:t>
            </a:r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Varsayılan olarak </a:t>
            </a:r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seçilidir. Eğer ilgili menü öğesi pasif yapılmak istenirse bu özellik 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olarak değiştirilir.</a:t>
            </a:r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Resim 17">
            <a:extLst>
              <a:ext uri="{FF2B5EF4-FFF2-40B4-BE49-F238E27FC236}">
                <a16:creationId xmlns:a16="http://schemas.microsoft.com/office/drawing/2014/main" id="{D37E6740-FC5C-4935-B835-24CBD7095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070" y="2217352"/>
            <a:ext cx="3894354" cy="156016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0" name="Metin kutusu 19">
            <a:extLst>
              <a:ext uri="{FF2B5EF4-FFF2-40B4-BE49-F238E27FC236}">
                <a16:creationId xmlns:a16="http://schemas.microsoft.com/office/drawing/2014/main" id="{58FC198D-42D7-4232-92B0-BEA84972AEF7}"/>
              </a:ext>
            </a:extLst>
          </p:cNvPr>
          <p:cNvSpPr txBox="1"/>
          <p:nvPr/>
        </p:nvSpPr>
        <p:spPr>
          <a:xfrm>
            <a:off x="4751070" y="3860681"/>
            <a:ext cx="73329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Checked</a:t>
            </a:r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Menü öğesinin yanına </a:t>
            </a:r>
            <a:r>
              <a:rPr lang="tr-TR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işareti eklenmek istendiğinde varsayılan olarak 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olan değeri </a:t>
            </a:r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olarak değiştirilmelidir.</a:t>
            </a:r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Resim 21">
            <a:extLst>
              <a:ext uri="{FF2B5EF4-FFF2-40B4-BE49-F238E27FC236}">
                <a16:creationId xmlns:a16="http://schemas.microsoft.com/office/drawing/2014/main" id="{FC79AEBA-95DF-4B0A-9297-903D031F87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1070" y="4590181"/>
            <a:ext cx="3943175" cy="187157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622641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MenuStrip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Nesnesi Örneği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9F9B6389-D290-4E7F-979B-AF8BA6BF1855}"/>
              </a:ext>
            </a:extLst>
          </p:cNvPr>
          <p:cNvSpPr txBox="1"/>
          <p:nvPr/>
        </p:nvSpPr>
        <p:spPr>
          <a:xfrm>
            <a:off x="0" y="613965"/>
            <a:ext cx="120839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CheckOnClick</a:t>
            </a:r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Varsayılan olan değeri 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tr-TR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Menü öğelerinin fare ile tıklandığında seçili olması yada seçiliyse seçimin kaldırılması gibi durumlarda kullanılacaksa bu özellik </a:t>
            </a:r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olarak değiştirilmelidir. Aşağıda </a:t>
            </a:r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Aç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sekmesi için 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CheckOnClick</a:t>
            </a:r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durumu</a:t>
            </a:r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True </a:t>
            </a:r>
            <a:r>
              <a:rPr lang="tr-TR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olarak değiştirilmiştir. </a:t>
            </a:r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Aç</a:t>
            </a:r>
            <a:r>
              <a:rPr lang="tr-TR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sekmesi seçildiğinde bir sonraki gösterimde yanında </a:t>
            </a:r>
            <a:r>
              <a:rPr lang="tr-TR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tick</a:t>
            </a:r>
            <a:r>
              <a:rPr lang="tr-TR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işareti görülmektedir. </a:t>
            </a:r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1B37A696-B192-45D7-B646-E721A1C12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7" y="1747975"/>
            <a:ext cx="2147191" cy="1822287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424A6BBF-338E-4F4D-911F-3BDEB59BC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1047" y="1818606"/>
            <a:ext cx="2147191" cy="1681024"/>
          </a:xfrm>
          <a:prstGeom prst="rect">
            <a:avLst/>
          </a:prstGeom>
        </p:spPr>
      </p:pic>
      <p:sp>
        <p:nvSpPr>
          <p:cNvPr id="15" name="Metin kutusu 14">
            <a:extLst>
              <a:ext uri="{FF2B5EF4-FFF2-40B4-BE49-F238E27FC236}">
                <a16:creationId xmlns:a16="http://schemas.microsoft.com/office/drawing/2014/main" id="{3366852F-4CEB-4FC2-BE00-88520BED0B94}"/>
              </a:ext>
            </a:extLst>
          </p:cNvPr>
          <p:cNvSpPr txBox="1"/>
          <p:nvPr/>
        </p:nvSpPr>
        <p:spPr>
          <a:xfrm>
            <a:off x="0" y="3851573"/>
            <a:ext cx="11643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ShowShortcutKeys</a:t>
            </a:r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Varsayılan değeri </a:t>
            </a:r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seçilidir. Menü elemanlarıyla birlikte 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kısayol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tr-TR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tuşlarıda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kullanılabilir.</a:t>
            </a:r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6B0ED795-3320-4710-9074-A87CBDE23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27" y="4404011"/>
            <a:ext cx="4090322" cy="184002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50F37831-304B-4E40-B119-CB9A741D4A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250" y="4274058"/>
            <a:ext cx="2356710" cy="2008083"/>
          </a:xfrm>
          <a:prstGeom prst="rect">
            <a:avLst/>
          </a:prstGeom>
        </p:spPr>
      </p:pic>
      <p:sp>
        <p:nvSpPr>
          <p:cNvPr id="21" name="Metin kutusu 20">
            <a:extLst>
              <a:ext uri="{FF2B5EF4-FFF2-40B4-BE49-F238E27FC236}">
                <a16:creationId xmlns:a16="http://schemas.microsoft.com/office/drawing/2014/main" id="{DEC94BC2-A085-4CE5-A1F4-3907638B268B}"/>
              </a:ext>
            </a:extLst>
          </p:cNvPr>
          <p:cNvSpPr txBox="1"/>
          <p:nvPr/>
        </p:nvSpPr>
        <p:spPr>
          <a:xfrm>
            <a:off x="7390889" y="5597704"/>
            <a:ext cx="48011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Diğer nesnelerde olduğu gibi, menülere çift tıklayarak menüye özel kodlar yazılabilir.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56564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 Olayları: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MouseDown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MouseUp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MouseMove</a:t>
            </a:r>
            <a:endParaRPr lang="tr-T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9F9B6389-D290-4E7F-979B-AF8BA6BF1855}"/>
              </a:ext>
            </a:extLst>
          </p:cNvPr>
          <p:cNvSpPr txBox="1"/>
          <p:nvPr/>
        </p:nvSpPr>
        <p:spPr>
          <a:xfrm>
            <a:off x="0" y="613965"/>
            <a:ext cx="12083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Örnek 1: Mouse hareketi ile koordinatı ekrana yazdırma. </a:t>
            </a:r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15D9A789-16EA-4CAB-96F1-3FF928AAD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8" y="983297"/>
            <a:ext cx="4042440" cy="2262823"/>
          </a:xfrm>
          <a:prstGeom prst="rect">
            <a:avLst/>
          </a:prstGeom>
        </p:spPr>
      </p:pic>
      <p:sp>
        <p:nvSpPr>
          <p:cNvPr id="13" name="Metin kutusu 12">
            <a:extLst>
              <a:ext uri="{FF2B5EF4-FFF2-40B4-BE49-F238E27FC236}">
                <a16:creationId xmlns:a16="http://schemas.microsoft.com/office/drawing/2014/main" id="{2CC0DF06-278E-4E63-AFBE-F7AA6E430FB5}"/>
              </a:ext>
            </a:extLst>
          </p:cNvPr>
          <p:cNvSpPr txBox="1"/>
          <p:nvPr/>
        </p:nvSpPr>
        <p:spPr>
          <a:xfrm>
            <a:off x="4258496" y="983297"/>
            <a:ext cx="7825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Formumuza 1 adet 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ekleyelim. Form üzerinde boş bir alana tıklayarak 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penceresinden 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MouseMove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çift tıklıyoruz.</a:t>
            </a:r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Resim 17">
            <a:extLst>
              <a:ext uri="{FF2B5EF4-FFF2-40B4-BE49-F238E27FC236}">
                <a16:creationId xmlns:a16="http://schemas.microsoft.com/office/drawing/2014/main" id="{5C6D318B-AE90-489E-9447-0908F1F3E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7" y="3429001"/>
            <a:ext cx="3969835" cy="244570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2" name="Metin kutusu 21">
            <a:extLst>
              <a:ext uri="{FF2B5EF4-FFF2-40B4-BE49-F238E27FC236}">
                <a16:creationId xmlns:a16="http://schemas.microsoft.com/office/drawing/2014/main" id="{37EA8AC5-0449-4B65-BD3C-EF1313CC6419}"/>
              </a:ext>
            </a:extLst>
          </p:cNvPr>
          <p:cNvSpPr txBox="1"/>
          <p:nvPr/>
        </p:nvSpPr>
        <p:spPr>
          <a:xfrm>
            <a:off x="4385310" y="1998960"/>
            <a:ext cx="7471410" cy="138499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Form1_MouseMove(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MouseEventArgs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label1.Visible =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Point p =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e.Location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label1.Text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"x : 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p.X.ToString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+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tr-T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ny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 : 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p.Y.ToString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708509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 Olayları: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MouseDown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MouseUp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MouseMove</a:t>
            </a:r>
            <a:endParaRPr lang="tr-T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9F9B6389-D290-4E7F-979B-AF8BA6BF1855}"/>
              </a:ext>
            </a:extLst>
          </p:cNvPr>
          <p:cNvSpPr txBox="1"/>
          <p:nvPr/>
        </p:nvSpPr>
        <p:spPr>
          <a:xfrm>
            <a:off x="0" y="613965"/>
            <a:ext cx="12083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Örnek 2 : Ekrana çizim yapma (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DrawLine</a:t>
            </a:r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F5A4B59C-B633-4F9A-A58B-FD7B6C7260F8}"/>
              </a:ext>
            </a:extLst>
          </p:cNvPr>
          <p:cNvSpPr txBox="1"/>
          <p:nvPr/>
        </p:nvSpPr>
        <p:spPr>
          <a:xfrm>
            <a:off x="674" y="995164"/>
            <a:ext cx="120832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 işlemi yapabilmek için 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MouseMove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tr-TR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’ inin </a:t>
            </a:r>
            <a:r>
              <a:rPr lang="tr-TR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yanısıra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MouseUp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ve 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MouseDown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tr-TR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olaylarınıda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kullanacağız. 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MouseDown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fareyle basıldığında 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MouseUp</a:t>
            </a:r>
            <a:r>
              <a:rPr lang="tr-TR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ise fareden çekildiğinde yazılacak kodlarımızı barındıracak.</a:t>
            </a:r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460677B5-9460-4011-A198-3F9359047CE8}"/>
              </a:ext>
            </a:extLst>
          </p:cNvPr>
          <p:cNvSpPr txBox="1"/>
          <p:nvPr/>
        </p:nvSpPr>
        <p:spPr>
          <a:xfrm>
            <a:off x="0" y="1904385"/>
            <a:ext cx="627753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WindowsFormsApp3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startX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startY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Form1_Load(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.BackColor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Color.Black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Form1_MouseDown(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MouseEventArgs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startX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e.X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startY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e.Y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endParaRPr lang="tr-TR" sz="1200" dirty="0"/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C3C4B52F-B8E2-497A-95DC-8C790782D264}"/>
              </a:ext>
            </a:extLst>
          </p:cNvPr>
          <p:cNvSpPr txBox="1"/>
          <p:nvPr/>
        </p:nvSpPr>
        <p:spPr>
          <a:xfrm>
            <a:off x="6150014" y="1779687"/>
            <a:ext cx="614934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Form1_MouseUp(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MouseEventArgs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Graphics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myDraw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.CreateGraphics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myDraw.Clear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Color.Black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Form1_MouseMove(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MouseEventArgs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Graphics g =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.CreateGraphics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Pen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p =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Pen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Color.White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, 4); </a:t>
            </a:r>
            <a:r>
              <a:rPr lang="tr-TR" sz="1200" dirty="0">
                <a:solidFill>
                  <a:srgbClr val="008000"/>
                </a:solidFill>
                <a:latin typeface="Consolas" panose="020B0609020204030204" pitchFamily="49" charset="0"/>
              </a:rPr>
              <a:t>//Kalemin rengi ve kalınlığı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Point point1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Point(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Point point2 =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Point(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e.X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e.Y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g.DrawLine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(p, point1, point2);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startX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e.X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startY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e.Y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200" dirty="0"/>
          </a:p>
        </p:txBody>
      </p:sp>
    </p:spTree>
    <p:extLst>
      <p:ext uri="{BB962C8B-B14F-4D97-AF65-F5344CB8AC3E}">
        <p14:creationId xmlns:p14="http://schemas.microsoft.com/office/powerpoint/2010/main" val="1187101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 Olayları: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MouseDown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MouseUp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MouseMove</a:t>
            </a:r>
            <a:endParaRPr lang="tr-T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9F9B6389-D290-4E7F-979B-AF8BA6BF1855}"/>
              </a:ext>
            </a:extLst>
          </p:cNvPr>
          <p:cNvSpPr txBox="1"/>
          <p:nvPr/>
        </p:nvSpPr>
        <p:spPr>
          <a:xfrm>
            <a:off x="0" y="613965"/>
            <a:ext cx="12083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Örnek 2 : Ekrana çizim yapma (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DrawLine</a:t>
            </a:r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2FBC74F2-F4E2-4FD3-929F-7EA81C8EC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7" y="981132"/>
            <a:ext cx="5768197" cy="345370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9AE8AFDE-541F-46EC-8E39-2EFC470D6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159" y="2596408"/>
            <a:ext cx="6099813" cy="364762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988571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Klavye Olayları (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410CEB26-178C-4FA7-9686-3188E24C5BC3}"/>
              </a:ext>
            </a:extLst>
          </p:cNvPr>
          <p:cNvSpPr txBox="1"/>
          <p:nvPr/>
        </p:nvSpPr>
        <p:spPr>
          <a:xfrm>
            <a:off x="0" y="613965"/>
            <a:ext cx="12083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Örnek 1 : Basılan ok tuşlarını yakalama (</a:t>
            </a:r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eyDown-KeyUp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B8794BC1-07F8-48B1-9CFF-DE35BFE67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05" y="2256046"/>
            <a:ext cx="2229161" cy="123842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394CF605-0D3A-4BAC-AE9D-266318C3BE07}"/>
              </a:ext>
            </a:extLst>
          </p:cNvPr>
          <p:cNvSpPr txBox="1"/>
          <p:nvPr/>
        </p:nvSpPr>
        <p:spPr>
          <a:xfrm>
            <a:off x="3191607" y="1086496"/>
            <a:ext cx="6608885" cy="16004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Form1_KeyDown(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KeyEventArgs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e.KeyCode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Keys.Right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label1.Text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"Sağa Ok"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e.KeyCode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Keys.Left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label1.Text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"Sola Ok"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FF"/>
                </a:solidFill>
                <a:latin typeface="Consolas" panose="020B0609020204030204" pitchFamily="49" charset="0"/>
              </a:rPr>
              <a:t> 	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e.KeyCode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Keys.Up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label1.Text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"Yukarı Ok"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e.KeyCode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Keys.Down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label1.Text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"Aşağı Ok"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F020A287-5BE7-4A57-ABCB-74CEA8FC416F}"/>
              </a:ext>
            </a:extLst>
          </p:cNvPr>
          <p:cNvSpPr txBox="1"/>
          <p:nvPr/>
        </p:nvSpPr>
        <p:spPr>
          <a:xfrm>
            <a:off x="10164318" y="1517382"/>
            <a:ext cx="1919654" cy="73866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KeyDown</a:t>
            </a:r>
            <a:r>
              <a:rPr lang="tr-TR" sz="1400" dirty="0">
                <a:solidFill>
                  <a:schemeClr val="bg1"/>
                </a:solidFill>
                <a:latin typeface="Consolas" panose="020B0609020204030204" pitchFamily="49" charset="0"/>
              </a:rPr>
              <a:t> butona basma durumunda tetiklenir. </a:t>
            </a:r>
            <a:endParaRPr lang="tr-TR" sz="1400" dirty="0">
              <a:solidFill>
                <a:schemeClr val="bg1"/>
              </a:solidFill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1D799CA6-590C-4FD7-860C-094F2A8F1730}"/>
              </a:ext>
            </a:extLst>
          </p:cNvPr>
          <p:cNvSpPr txBox="1"/>
          <p:nvPr/>
        </p:nvSpPr>
        <p:spPr>
          <a:xfrm>
            <a:off x="3191606" y="3204157"/>
            <a:ext cx="6608885" cy="16004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Form1_KeyUp(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KeyEventArgs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e.KeyCode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Keys.Right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label1.Text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"Sağa Ok"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e.KeyCode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Keys.Left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label1.Text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"Sola Ok"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FF"/>
                </a:solidFill>
                <a:latin typeface="Consolas" panose="020B0609020204030204" pitchFamily="49" charset="0"/>
              </a:rPr>
              <a:t> 	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e.KeyCode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Keys.Up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label1.Text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"Yukarı Ok"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e.KeyCode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Keys.Down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label1.Text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"Aşağı Ok"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B6167A6D-DE15-445B-AC77-6E2F0056CE17}"/>
              </a:ext>
            </a:extLst>
          </p:cNvPr>
          <p:cNvSpPr txBox="1"/>
          <p:nvPr/>
        </p:nvSpPr>
        <p:spPr>
          <a:xfrm>
            <a:off x="10164318" y="3494469"/>
            <a:ext cx="1919654" cy="95410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KeyDown</a:t>
            </a:r>
            <a:r>
              <a:rPr lang="tr-TR" sz="1400" dirty="0">
                <a:solidFill>
                  <a:schemeClr val="bg1"/>
                </a:solidFill>
                <a:latin typeface="Consolas" panose="020B0609020204030204" pitchFamily="49" charset="0"/>
              </a:rPr>
              <a:t> butona basılıp çekilme durumunda tetiklenir. </a:t>
            </a:r>
            <a:endParaRPr lang="tr-TR" sz="1400" dirty="0">
              <a:solidFill>
                <a:schemeClr val="bg1"/>
              </a:solidFill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840FF93B-19E8-49DF-8591-DBF439821BB3}"/>
              </a:ext>
            </a:extLst>
          </p:cNvPr>
          <p:cNvSpPr txBox="1"/>
          <p:nvPr/>
        </p:nvSpPr>
        <p:spPr>
          <a:xfrm>
            <a:off x="108028" y="5004522"/>
            <a:ext cx="119684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KeyDown</a:t>
            </a:r>
            <a:r>
              <a:rPr lang="tr-TR" sz="1800" dirty="0">
                <a:solidFill>
                  <a:schemeClr val="bg1"/>
                </a:solidFill>
                <a:latin typeface="Consolas" panose="020B0609020204030204" pitchFamily="49" charset="0"/>
              </a:rPr>
              <a:t> fonksiyonu içine aşağıdaki satır eklenirse, </a:t>
            </a:r>
            <a:r>
              <a:rPr lang="tr-T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Esc</a:t>
            </a:r>
            <a:r>
              <a:rPr lang="tr-TR" sz="1800" dirty="0">
                <a:solidFill>
                  <a:schemeClr val="bg1"/>
                </a:solidFill>
                <a:latin typeface="Consolas" panose="020B0609020204030204" pitchFamily="49" charset="0"/>
              </a:rPr>
              <a:t> tuşuna basılarak form ekranı klavye aracılığıyla kapatılabilir:</a:t>
            </a:r>
          </a:p>
          <a:p>
            <a:pPr algn="just"/>
            <a:endParaRPr lang="tr-TR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e.KeyCode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Keys.Escape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tr-T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tr-T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tr-T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051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Klavye Olayları (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410CEB26-178C-4FA7-9686-3188E24C5BC3}"/>
              </a:ext>
            </a:extLst>
          </p:cNvPr>
          <p:cNvSpPr txBox="1"/>
          <p:nvPr/>
        </p:nvSpPr>
        <p:spPr>
          <a:xfrm>
            <a:off x="0" y="613965"/>
            <a:ext cx="12083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Örnek 2 : 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TextBox’ta</a:t>
            </a:r>
            <a:r>
              <a:rPr lang="tr-TR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sadece sayı girişine izin verme (</a:t>
            </a:r>
            <a:r>
              <a:rPr lang="tr-T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tr-TR" b="1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eyPress</a:t>
            </a:r>
            <a:r>
              <a:rPr lang="tr-T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CB41994C-25DB-4683-A234-71FD045B4A03}"/>
              </a:ext>
            </a:extLst>
          </p:cNvPr>
          <p:cNvSpPr txBox="1"/>
          <p:nvPr/>
        </p:nvSpPr>
        <p:spPr>
          <a:xfrm>
            <a:off x="3385591" y="1224180"/>
            <a:ext cx="8806409" cy="461664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textBox1_KeyPress(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KeyPressEventArgs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fr-F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basilan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Convert.ToInt32(</a:t>
            </a:r>
            <a:r>
              <a:rPr lang="fr-F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e.KeyChar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(!(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basilan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&gt;= 48 &amp;&amp;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e.KeyChar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57 ||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basilan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8 ))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e.Handled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MessageBox.Show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"Yalnızca rakam girin!"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}        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keypress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event'i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text'e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bir tuş basıldığında çalışan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eventtir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.</a:t>
            </a:r>
            <a:endParaRPr kumimoji="0" lang="tr-TR" altLang="tr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e.KeyChar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ile hangi karaktere basıldığını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ascii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karşılıgını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bulabiliriz.</a:t>
            </a:r>
            <a:endParaRPr kumimoji="0" lang="tr-TR" altLang="tr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sadece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sayilara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izin vermek için 0 ile 9 un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ascii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karşılığını bulmamız gerek.</a:t>
            </a:r>
            <a:endParaRPr kumimoji="0" lang="tr-TR" altLang="tr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0'ın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ascii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karşılığı 48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tr-TR" sz="14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9'un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ascii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karşılığı 57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tr-TR" sz="14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tr-TR" altLang="tr-TR" sz="1400" dirty="0" err="1">
                <a:solidFill>
                  <a:srgbClr val="008200"/>
                </a:solidFill>
                <a:latin typeface="Consolas" panose="020B0609020204030204" pitchFamily="49" charset="0"/>
              </a:rPr>
              <a:t>backspace’in</a:t>
            </a:r>
            <a:r>
              <a:rPr lang="tr-TR" altLang="tr-TR" sz="1400" dirty="0">
                <a:solidFill>
                  <a:srgbClr val="008200"/>
                </a:solidFill>
                <a:latin typeface="Consolas" panose="020B0609020204030204" pitchFamily="49" charset="0"/>
              </a:rPr>
              <a:t> </a:t>
            </a:r>
            <a:r>
              <a:rPr lang="tr-TR" altLang="tr-TR" sz="1400" dirty="0" err="1">
                <a:solidFill>
                  <a:srgbClr val="008200"/>
                </a:solidFill>
                <a:latin typeface="Consolas" panose="020B0609020204030204" pitchFamily="49" charset="0"/>
              </a:rPr>
              <a:t>ascii</a:t>
            </a:r>
            <a:r>
              <a:rPr lang="tr-TR" altLang="tr-TR" sz="1400" dirty="0">
                <a:solidFill>
                  <a:srgbClr val="008200"/>
                </a:solidFill>
                <a:latin typeface="Consolas" panose="020B0609020204030204" pitchFamily="49" charset="0"/>
              </a:rPr>
              <a:t> karşılığı 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tr-TR" sz="14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tr-TR" altLang="tr-TR" sz="1400" dirty="0" err="1">
                <a:solidFill>
                  <a:srgbClr val="008200"/>
                </a:solidFill>
                <a:latin typeface="Consolas" panose="020B0609020204030204" pitchFamily="49" charset="0"/>
              </a:rPr>
              <a:t>e.Handled</a:t>
            </a:r>
            <a:r>
              <a:rPr lang="tr-TR" altLang="tr-TR" sz="1400" dirty="0">
                <a:solidFill>
                  <a:srgbClr val="008200"/>
                </a:solidFill>
                <a:latin typeface="Consolas" panose="020B0609020204030204" pitchFamily="49" charset="0"/>
              </a:rPr>
              <a:t> olayın yapılıp yapılmamasına izin verilip verilememesi olayıdır.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tr-TR" sz="1400" dirty="0">
                <a:solidFill>
                  <a:srgbClr val="008200"/>
                </a:solidFill>
                <a:latin typeface="Consolas" panose="020B0609020204030204" pitchFamily="49" charset="0"/>
              </a:rPr>
              <a:t>// True değerini aldığını yapılmamasını, </a:t>
            </a:r>
            <a:r>
              <a:rPr lang="tr-TR" altLang="tr-TR" sz="1400" dirty="0" err="1">
                <a:solidFill>
                  <a:srgbClr val="008200"/>
                </a:solidFill>
                <a:latin typeface="Consolas" panose="020B0609020204030204" pitchFamily="49" charset="0"/>
              </a:rPr>
              <a:t>false</a:t>
            </a:r>
            <a:r>
              <a:rPr lang="tr-TR" altLang="tr-TR" sz="1400" dirty="0">
                <a:solidFill>
                  <a:srgbClr val="008200"/>
                </a:solidFill>
                <a:latin typeface="Consolas" panose="020B0609020204030204" pitchFamily="49" charset="0"/>
              </a:rPr>
              <a:t> olduğunda ise yapılmasını ifade eder.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tr-TR" sz="1400" dirty="0">
                <a:solidFill>
                  <a:srgbClr val="008200"/>
                </a:solidFill>
                <a:latin typeface="Consolas" panose="020B0609020204030204" pitchFamily="49" charset="0"/>
              </a:rPr>
              <a:t>// Bu kodda gelen değer sayısal yada </a:t>
            </a:r>
            <a:r>
              <a:rPr lang="tr-TR" altLang="tr-TR" sz="1400" dirty="0" err="1">
                <a:solidFill>
                  <a:srgbClr val="008200"/>
                </a:solidFill>
                <a:latin typeface="Consolas" panose="020B0609020204030204" pitchFamily="49" charset="0"/>
              </a:rPr>
              <a:t>backspace</a:t>
            </a:r>
            <a:r>
              <a:rPr lang="tr-TR" altLang="tr-TR" sz="1400" dirty="0">
                <a:solidFill>
                  <a:srgbClr val="008200"/>
                </a:solidFill>
                <a:latin typeface="Consolas" panose="020B0609020204030204" pitchFamily="49" charset="0"/>
              </a:rPr>
              <a:t> değil ise </a:t>
            </a:r>
            <a:r>
              <a:rPr lang="tr-TR" altLang="tr-TR" sz="1400" dirty="0" err="1">
                <a:solidFill>
                  <a:srgbClr val="008200"/>
                </a:solidFill>
                <a:latin typeface="Consolas" panose="020B0609020204030204" pitchFamily="49" charset="0"/>
              </a:rPr>
              <a:t>e.handled</a:t>
            </a:r>
            <a:r>
              <a:rPr lang="tr-TR" altLang="tr-TR" sz="1400" dirty="0">
                <a:solidFill>
                  <a:srgbClr val="008200"/>
                </a:solidFill>
                <a:latin typeface="Consolas" panose="020B0609020204030204" pitchFamily="49" charset="0"/>
              </a:rPr>
              <a:t>=</a:t>
            </a:r>
            <a:r>
              <a:rPr lang="tr-TR" altLang="tr-TR" sz="1400" dirty="0" err="1">
                <a:solidFill>
                  <a:srgbClr val="008200"/>
                </a:solidFill>
                <a:latin typeface="Consolas" panose="020B0609020204030204" pitchFamily="49" charset="0"/>
              </a:rPr>
              <a:t>true</a:t>
            </a:r>
            <a:r>
              <a:rPr lang="tr-TR" altLang="tr-TR" sz="1400" dirty="0">
                <a:solidFill>
                  <a:srgbClr val="008200"/>
                </a:solidFill>
                <a:latin typeface="Consolas" panose="020B0609020204030204" pitchFamily="49" charset="0"/>
              </a:rPr>
              <a:t>;  yapılmış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tr-TR" sz="1400" dirty="0">
                <a:solidFill>
                  <a:srgbClr val="008200"/>
                </a:solidFill>
                <a:latin typeface="Consolas" panose="020B0609020204030204" pitchFamily="49" charset="0"/>
              </a:rPr>
              <a:t>// yani </a:t>
            </a:r>
            <a:r>
              <a:rPr lang="tr-TR" altLang="tr-TR" sz="1400" dirty="0" err="1">
                <a:solidFill>
                  <a:srgbClr val="008200"/>
                </a:solidFill>
                <a:latin typeface="Consolas" panose="020B0609020204030204" pitchFamily="49" charset="0"/>
              </a:rPr>
              <a:t>textbox’a</a:t>
            </a:r>
            <a:r>
              <a:rPr lang="tr-TR" altLang="tr-TR" sz="1400" dirty="0">
                <a:solidFill>
                  <a:srgbClr val="008200"/>
                </a:solidFill>
                <a:latin typeface="Consolas" panose="020B0609020204030204" pitchFamily="49" charset="0"/>
              </a:rPr>
              <a:t> yazma engellenmiştir. </a:t>
            </a:r>
          </a:p>
          <a:p>
            <a:endParaRPr lang="tr-TR" sz="1400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1497743C-1AA1-479E-A846-89228EBB7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82" y="1224180"/>
            <a:ext cx="2953162" cy="298174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998761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Formlar Arası Geçiş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49A49A07-9FCE-4F51-BA05-519292886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45" y="613965"/>
            <a:ext cx="10269382" cy="5610372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976DA5E4-04D6-4D08-BB29-09CB6CB76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8" y="2167216"/>
            <a:ext cx="3520481" cy="245096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B4AB0BD4-3C44-4C8B-8E7B-7EC29D49DD1A}"/>
              </a:ext>
            </a:extLst>
          </p:cNvPr>
          <p:cNvSpPr txBox="1"/>
          <p:nvPr/>
        </p:nvSpPr>
        <p:spPr>
          <a:xfrm>
            <a:off x="108029" y="3140855"/>
            <a:ext cx="5314204" cy="147732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tr-TR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Projemize yeni bir form eklemek için </a:t>
            </a:r>
            <a:r>
              <a:rPr lang="tr-TR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Çözüm </a:t>
            </a:r>
            <a:r>
              <a:rPr lang="tr-TR" b="1" i="0" dirty="0" err="1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Gezgini</a:t>
            </a:r>
            <a:r>
              <a:rPr lang="tr-TR" b="0" i="0" dirty="0" err="1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’nde</a:t>
            </a:r>
            <a:r>
              <a:rPr lang="tr-TR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projemizin isminin üstüne farenin sağ tuşu ile tıklanarak </a:t>
            </a:r>
            <a:r>
              <a:rPr lang="tr-TR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Ekle/Windows Form</a:t>
            </a:r>
            <a:r>
              <a:rPr lang="tr-TR" b="1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tr-TR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tr-TR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kullanılabilir.</a:t>
            </a:r>
          </a:p>
          <a:p>
            <a:pPr algn="just"/>
            <a:endParaRPr lang="tr-TR" dirty="0">
              <a:solidFill>
                <a:srgbClr val="4444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r-TR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buton aracılığıyla başka Form2’ye geçelim. 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200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Formlar Arası Geçiş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CD293C18-02C7-4158-86A9-B9D8B76343D6}"/>
              </a:ext>
            </a:extLst>
          </p:cNvPr>
          <p:cNvSpPr txBox="1"/>
          <p:nvPr/>
        </p:nvSpPr>
        <p:spPr>
          <a:xfrm>
            <a:off x="4696327" y="4255370"/>
            <a:ext cx="7158789" cy="1477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	Form2 f2 = </a:t>
            </a:r>
            <a:r>
              <a:rPr lang="tr-T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Form2();</a:t>
            </a:r>
          </a:p>
          <a:p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	f2.Show();</a:t>
            </a:r>
          </a:p>
          <a:p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003BBF15-4DEC-4F47-BA18-99521DDF7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09" y="613965"/>
            <a:ext cx="8110703" cy="323614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767954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Formlar Arası Geçiş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CD293C18-02C7-4158-86A9-B9D8B76343D6}"/>
              </a:ext>
            </a:extLst>
          </p:cNvPr>
          <p:cNvSpPr txBox="1"/>
          <p:nvPr/>
        </p:nvSpPr>
        <p:spPr>
          <a:xfrm>
            <a:off x="108028" y="613965"/>
            <a:ext cx="11975944" cy="19389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tr-TR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ta</a:t>
            </a:r>
            <a:r>
              <a:rPr lang="tr-TR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birden fazla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formumuz varsa çalıştırdığımız zaman ilk oluşturduğumuz form gözükmektedir. Eğer biz ilk oluşturduğumuz form değil de 2. yada 3. oluşturduğumuz formun yani </a:t>
            </a:r>
            <a:r>
              <a:rPr lang="tr-TR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Form2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tr-TR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Form3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yada farklı bir formun ilk açılışta gelmesini istiyorsak yapılması gerekenler sırasıyla;</a:t>
            </a:r>
          </a:p>
          <a:p>
            <a:endParaRPr lang="tr-T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“Çözüm Gezgini (Solution Explorer)” panelinde </a:t>
            </a:r>
            <a:r>
              <a:rPr lang="tr-TR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Program.cs</a:t>
            </a:r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üzerinde çift tıklanır.</a:t>
            </a:r>
          </a:p>
          <a:p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Gelen kod penceresinde seçili satırdaki Form1 yazan kısma istenilen formun ismi yazılır. (Örneğin Form2)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57C79C08-CEB9-4DA3-87E5-D9D9A1191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69" y="2724241"/>
            <a:ext cx="3294327" cy="3519794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DC89AA62-A82F-494B-B2B5-1058695CF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201" y="2724241"/>
            <a:ext cx="5310566" cy="3519794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E90105C2-1EF3-43B6-ADC1-5741C3D88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6134" y="2724241"/>
            <a:ext cx="3837838" cy="229739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450997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ProgressBar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Kullanımı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5842EC0-4B7A-446F-8C8E-99778163A622}"/>
              </a:ext>
            </a:extLst>
          </p:cNvPr>
          <p:cNvSpPr txBox="1"/>
          <p:nvPr/>
        </p:nvSpPr>
        <p:spPr>
          <a:xfrm>
            <a:off x="54013" y="592803"/>
            <a:ext cx="12137987" cy="16312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fontAlgn="base"/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ProgressBar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bir işlem sırasında işlemin ilerleme durumunu göstermek amacıyla kullanılır. </a:t>
            </a:r>
            <a:r>
              <a:rPr lang="tr-TR" sz="200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ProgressBar</a:t>
            </a:r>
            <a:r>
              <a:rPr lang="tr-TR" sz="20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Kontrolünün özellikleri:</a:t>
            </a:r>
          </a:p>
          <a:p>
            <a:pPr algn="l" fontAlgn="base"/>
            <a:r>
              <a:rPr lang="tr-TR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ProgressBar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nesnesinin alabileceği en fazla değeri belirtir.</a:t>
            </a:r>
          </a:p>
          <a:p>
            <a:pPr algn="l" fontAlgn="base"/>
            <a:r>
              <a:rPr lang="tr-TR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ProgressBar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nesnesinin alabileceği en fazla değeri belirtir.</a:t>
            </a:r>
          </a:p>
          <a:p>
            <a:pPr algn="l" fontAlgn="base"/>
            <a:r>
              <a:rPr lang="tr-TR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ProgressBar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ın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artış miktarını verir.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6BD883A-BB9C-4503-99D2-B49E7A7A1FFB}"/>
              </a:ext>
            </a:extLst>
          </p:cNvPr>
          <p:cNvSpPr txBox="1"/>
          <p:nvPr/>
        </p:nvSpPr>
        <p:spPr>
          <a:xfrm>
            <a:off x="108028" y="2381565"/>
            <a:ext cx="12083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 </a:t>
            </a:r>
            <a:r>
              <a:rPr lang="tr-TR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TextBox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’a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girilen karakter sayısına göre </a:t>
            </a:r>
            <a:r>
              <a:rPr lang="tr-TR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ProgressBar’ı</a:t>
            </a:r>
            <a:r>
              <a:rPr lang="tr-TR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güncelleyen uygulama: </a:t>
            </a:r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09DEBF8E-5916-44A4-BFEC-2FD829AD2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8" y="2814890"/>
            <a:ext cx="3206003" cy="221162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189D1BAF-CD3C-4DBB-80AE-359503DEFBFF}"/>
              </a:ext>
            </a:extLst>
          </p:cNvPr>
          <p:cNvSpPr txBox="1"/>
          <p:nvPr/>
        </p:nvSpPr>
        <p:spPr>
          <a:xfrm>
            <a:off x="3606118" y="3015175"/>
            <a:ext cx="5352853" cy="1754326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tr-TR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TextBox’ın</a:t>
            </a:r>
            <a:r>
              <a:rPr lang="tr-TR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Multiline</a:t>
            </a:r>
            <a:r>
              <a:rPr lang="tr-TR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özelliğini True yaparak alanı genişletebiliriz.</a:t>
            </a:r>
          </a:p>
          <a:p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Aynı zamanda </a:t>
            </a:r>
            <a:r>
              <a:rPr lang="tr-T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TextBox’a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maksimum 100 karakter sınırı koyalım.</a:t>
            </a:r>
          </a:p>
          <a:p>
            <a:endParaRPr lang="tr-T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textBox1.MaxLength = 100;</a:t>
            </a:r>
            <a:endParaRPr lang="tr-TR" dirty="0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E3B03887-3B82-4C34-B99C-E8E553E18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6272" y="2814889"/>
            <a:ext cx="2937700" cy="203807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2" name="Metin kutusu 11">
            <a:extLst>
              <a:ext uri="{FF2B5EF4-FFF2-40B4-BE49-F238E27FC236}">
                <a16:creationId xmlns:a16="http://schemas.microsoft.com/office/drawing/2014/main" id="{2C0E2B6F-3459-492C-81BE-40A414E1C00E}"/>
              </a:ext>
            </a:extLst>
          </p:cNvPr>
          <p:cNvSpPr txBox="1"/>
          <p:nvPr/>
        </p:nvSpPr>
        <p:spPr>
          <a:xfrm>
            <a:off x="288891" y="5296379"/>
            <a:ext cx="4844448" cy="64633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tr-TR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ProgressBar’ın</a:t>
            </a:r>
            <a:r>
              <a:rPr lang="tr-TR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Maximum’unu</a:t>
            </a:r>
            <a:r>
              <a:rPr lang="tr-TR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100, 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Minimumunu 0 ve </a:t>
            </a:r>
            <a:r>
              <a:rPr lang="tr-TR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Step’ini 1 e eşitleyelim. </a:t>
            </a:r>
            <a:endParaRPr lang="tr-TR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ED24392-93A0-4364-9274-58F2A98CF928}"/>
              </a:ext>
            </a:extLst>
          </p:cNvPr>
          <p:cNvSpPr txBox="1"/>
          <p:nvPr/>
        </p:nvSpPr>
        <p:spPr>
          <a:xfrm>
            <a:off x="5635046" y="5176752"/>
            <a:ext cx="6448926" cy="95410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textBox1_TextChanged(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progressBar1.Value = textBox1.TextLength;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1315596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ProgressBar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Kullanımı</a:t>
            </a:r>
          </a:p>
        </p:txBody>
      </p:sp>
      <p:sp>
        <p:nvSpPr>
          <p:cNvPr id="2" name="Dikdörtgen 1"/>
          <p:cNvSpPr/>
          <p:nvPr/>
        </p:nvSpPr>
        <p:spPr>
          <a:xfrm>
            <a:off x="104171" y="613965"/>
            <a:ext cx="60960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1200" dirty="0" err="1"/>
              <a:t>namespace</a:t>
            </a:r>
            <a:r>
              <a:rPr lang="tr-TR" sz="1200" dirty="0"/>
              <a:t> WindowsFormsApp21</a:t>
            </a:r>
          </a:p>
          <a:p>
            <a:r>
              <a:rPr lang="tr-TR" sz="1200" dirty="0"/>
              <a:t>{</a:t>
            </a:r>
          </a:p>
          <a:p>
            <a:r>
              <a:rPr lang="en-US" sz="1200" dirty="0"/>
              <a:t>    public partial class Form1 : Form</a:t>
            </a:r>
          </a:p>
          <a:p>
            <a:r>
              <a:rPr lang="tr-TR" sz="1200" dirty="0"/>
              <a:t>    {</a:t>
            </a:r>
          </a:p>
          <a:p>
            <a:r>
              <a:rPr lang="tr-TR" sz="1200" dirty="0"/>
              <a:t>        </a:t>
            </a:r>
            <a:r>
              <a:rPr lang="tr-TR" sz="1200" dirty="0" err="1"/>
              <a:t>public</a:t>
            </a:r>
            <a:r>
              <a:rPr lang="tr-TR" sz="1200" dirty="0"/>
              <a:t> Form1()</a:t>
            </a:r>
          </a:p>
          <a:p>
            <a:r>
              <a:rPr lang="tr-TR" sz="1200" dirty="0"/>
              <a:t>        {</a:t>
            </a:r>
          </a:p>
          <a:p>
            <a:r>
              <a:rPr lang="tr-TR" sz="1200" dirty="0"/>
              <a:t>            </a:t>
            </a:r>
            <a:r>
              <a:rPr lang="tr-TR" sz="1200" dirty="0" err="1"/>
              <a:t>InitializeComponent</a:t>
            </a:r>
            <a:r>
              <a:rPr lang="tr-TR" sz="1200" dirty="0"/>
              <a:t>();</a:t>
            </a:r>
          </a:p>
          <a:p>
            <a:r>
              <a:rPr lang="tr-TR" sz="1200" dirty="0"/>
              <a:t>        }</a:t>
            </a:r>
          </a:p>
          <a:p>
            <a:endParaRPr lang="tr-TR" sz="1200" dirty="0"/>
          </a:p>
          <a:p>
            <a:r>
              <a:rPr lang="en-US" sz="1200" dirty="0"/>
              <a:t>        private void textBox1_TextChanged(object sender, </a:t>
            </a:r>
            <a:r>
              <a:rPr lang="en-US" sz="1200" dirty="0" err="1"/>
              <a:t>EventArgs</a:t>
            </a:r>
            <a:r>
              <a:rPr lang="en-US" sz="1200" dirty="0"/>
              <a:t> e)</a:t>
            </a:r>
          </a:p>
          <a:p>
            <a:r>
              <a:rPr lang="tr-TR" sz="1200" dirty="0"/>
              <a:t>        {</a:t>
            </a:r>
          </a:p>
          <a:p>
            <a:r>
              <a:rPr lang="tr-TR" sz="1200" dirty="0"/>
              <a:t>            </a:t>
            </a:r>
            <a:r>
              <a:rPr lang="tr-TR" sz="1200" dirty="0" err="1"/>
              <a:t>int</a:t>
            </a:r>
            <a:r>
              <a:rPr lang="tr-TR" sz="1200" dirty="0"/>
              <a:t> </a:t>
            </a:r>
            <a:r>
              <a:rPr lang="tr-TR" sz="1200" dirty="0" err="1"/>
              <a:t>txtlen</a:t>
            </a:r>
            <a:r>
              <a:rPr lang="tr-TR" sz="1200" dirty="0"/>
              <a:t> = textBox1.Text.Length;</a:t>
            </a:r>
          </a:p>
          <a:p>
            <a:r>
              <a:rPr lang="tr-TR" sz="1200" dirty="0"/>
              <a:t>            </a:t>
            </a:r>
            <a:r>
              <a:rPr lang="tr-TR" sz="1200" dirty="0" err="1"/>
              <a:t>int</a:t>
            </a:r>
            <a:r>
              <a:rPr lang="tr-TR" sz="1200" dirty="0"/>
              <a:t> </a:t>
            </a:r>
            <a:r>
              <a:rPr lang="tr-TR" sz="1200" dirty="0" err="1"/>
              <a:t>maxlen</a:t>
            </a:r>
            <a:r>
              <a:rPr lang="tr-TR" sz="1200" dirty="0"/>
              <a:t>=textBox1.MaxLength;</a:t>
            </a:r>
          </a:p>
          <a:p>
            <a:r>
              <a:rPr lang="tr-TR" sz="1200" dirty="0"/>
              <a:t>            </a:t>
            </a:r>
            <a:r>
              <a:rPr lang="tr-TR" sz="1200" dirty="0" err="1"/>
              <a:t>int</a:t>
            </a:r>
            <a:r>
              <a:rPr lang="tr-TR" sz="1200" dirty="0"/>
              <a:t> x = progressBar1.Maximum * </a:t>
            </a:r>
            <a:r>
              <a:rPr lang="tr-TR" sz="1200" dirty="0" err="1"/>
              <a:t>txtlen</a:t>
            </a:r>
            <a:r>
              <a:rPr lang="tr-TR" sz="1200" dirty="0"/>
              <a:t> / </a:t>
            </a:r>
            <a:r>
              <a:rPr lang="tr-TR" sz="1200" dirty="0" err="1"/>
              <a:t>maxlen</a:t>
            </a:r>
            <a:r>
              <a:rPr lang="tr-TR" sz="1200" dirty="0"/>
              <a:t> ;</a:t>
            </a:r>
          </a:p>
          <a:p>
            <a:r>
              <a:rPr lang="tr-TR" sz="1200" dirty="0"/>
              <a:t>           </a:t>
            </a:r>
          </a:p>
          <a:p>
            <a:r>
              <a:rPr lang="tr-TR" sz="1200" dirty="0"/>
              <a:t>            </a:t>
            </a:r>
            <a:r>
              <a:rPr lang="tr-TR" sz="1200" dirty="0" err="1"/>
              <a:t>if</a:t>
            </a:r>
            <a:r>
              <a:rPr lang="tr-TR" sz="1200" dirty="0"/>
              <a:t> (</a:t>
            </a:r>
            <a:r>
              <a:rPr lang="tr-TR" sz="1200" dirty="0" err="1"/>
              <a:t>txtlen</a:t>
            </a:r>
            <a:r>
              <a:rPr lang="tr-TR" sz="1200" dirty="0"/>
              <a:t>&lt;</a:t>
            </a:r>
            <a:r>
              <a:rPr lang="tr-TR" sz="1200" dirty="0" err="1"/>
              <a:t>maxlen</a:t>
            </a:r>
            <a:r>
              <a:rPr lang="tr-TR" sz="1200" dirty="0"/>
              <a:t>/4)</a:t>
            </a:r>
          </a:p>
          <a:p>
            <a:r>
              <a:rPr lang="tr-TR" sz="1200" dirty="0"/>
              <a:t>            {</a:t>
            </a:r>
          </a:p>
          <a:p>
            <a:r>
              <a:rPr lang="tr-TR" sz="1200" dirty="0"/>
              <a:t>                progressBar1.Value = x;</a:t>
            </a:r>
          </a:p>
          <a:p>
            <a:r>
              <a:rPr lang="tr-TR" sz="1200" dirty="0"/>
              <a:t>                progressBar1.ForeColor = </a:t>
            </a:r>
            <a:r>
              <a:rPr lang="tr-TR" sz="1200" dirty="0" err="1"/>
              <a:t>Color.Red</a:t>
            </a:r>
            <a:r>
              <a:rPr lang="tr-TR" sz="1200" dirty="0"/>
              <a:t>;</a:t>
            </a:r>
          </a:p>
          <a:p>
            <a:r>
              <a:rPr lang="tr-TR" sz="1200" dirty="0"/>
              <a:t>            }</a:t>
            </a:r>
          </a:p>
          <a:p>
            <a:r>
              <a:rPr lang="tr-TR" sz="1200" dirty="0"/>
              <a:t>            else </a:t>
            </a:r>
            <a:r>
              <a:rPr lang="tr-TR" sz="1200" dirty="0" err="1"/>
              <a:t>if</a:t>
            </a:r>
            <a:r>
              <a:rPr lang="tr-TR" sz="1200" dirty="0"/>
              <a:t> (</a:t>
            </a:r>
            <a:r>
              <a:rPr lang="tr-TR" sz="1200" dirty="0" err="1"/>
              <a:t>txtlen</a:t>
            </a:r>
            <a:r>
              <a:rPr lang="tr-TR" sz="1200" dirty="0"/>
              <a:t> &gt;= </a:t>
            </a:r>
            <a:r>
              <a:rPr lang="tr-TR" sz="1200" dirty="0" err="1"/>
              <a:t>maxlen</a:t>
            </a:r>
            <a:r>
              <a:rPr lang="tr-TR" sz="1200" dirty="0"/>
              <a:t> / 4 &amp;&amp; </a:t>
            </a:r>
            <a:r>
              <a:rPr lang="tr-TR" sz="1200" dirty="0" err="1"/>
              <a:t>txtlen</a:t>
            </a:r>
            <a:r>
              <a:rPr lang="tr-TR" sz="1200" dirty="0"/>
              <a:t> &lt; </a:t>
            </a:r>
            <a:r>
              <a:rPr lang="tr-TR" sz="1200" dirty="0" err="1"/>
              <a:t>maxlen</a:t>
            </a:r>
            <a:r>
              <a:rPr lang="tr-TR" sz="1200" dirty="0"/>
              <a:t> *3 / 4)</a:t>
            </a:r>
          </a:p>
          <a:p>
            <a:r>
              <a:rPr lang="tr-TR" sz="1200" dirty="0"/>
              <a:t>            {</a:t>
            </a:r>
          </a:p>
          <a:p>
            <a:r>
              <a:rPr lang="tr-TR" sz="1200" dirty="0"/>
              <a:t>                progressBar1.Value = x;</a:t>
            </a:r>
          </a:p>
          <a:p>
            <a:r>
              <a:rPr lang="tr-TR" sz="1200" dirty="0"/>
              <a:t>                progressBar1.ForeColor = </a:t>
            </a:r>
            <a:r>
              <a:rPr lang="tr-TR" sz="1200" dirty="0" err="1"/>
              <a:t>Color.Yellow</a:t>
            </a:r>
            <a:r>
              <a:rPr lang="tr-TR" sz="1200" dirty="0"/>
              <a:t>;</a:t>
            </a:r>
          </a:p>
          <a:p>
            <a:r>
              <a:rPr lang="tr-TR" sz="1200" dirty="0"/>
              <a:t>            }</a:t>
            </a:r>
          </a:p>
          <a:p>
            <a:r>
              <a:rPr lang="tr-TR" sz="1200" dirty="0"/>
              <a:t>            else</a:t>
            </a:r>
          </a:p>
          <a:p>
            <a:r>
              <a:rPr lang="tr-TR" sz="1200" dirty="0"/>
              <a:t>            {</a:t>
            </a:r>
          </a:p>
          <a:p>
            <a:r>
              <a:rPr lang="tr-TR" sz="1200" dirty="0"/>
              <a:t>                progressBar1.Value = x;</a:t>
            </a:r>
          </a:p>
          <a:p>
            <a:r>
              <a:rPr lang="tr-TR" sz="1200" dirty="0"/>
              <a:t>                progressBar1.ForeColor = </a:t>
            </a:r>
            <a:r>
              <a:rPr lang="tr-TR" sz="1200" dirty="0" err="1"/>
              <a:t>Color.Green</a:t>
            </a:r>
            <a:r>
              <a:rPr lang="tr-TR" sz="1200" dirty="0"/>
              <a:t>;</a:t>
            </a:r>
          </a:p>
          <a:p>
            <a:r>
              <a:rPr lang="tr-TR" sz="1200" dirty="0"/>
              <a:t>            }</a:t>
            </a:r>
          </a:p>
          <a:p>
            <a:r>
              <a:rPr lang="tr-TR" sz="1200" dirty="0"/>
              <a:t>        }</a:t>
            </a:r>
          </a:p>
          <a:p>
            <a:endParaRPr lang="tr-TR" sz="1200" dirty="0"/>
          </a:p>
        </p:txBody>
      </p:sp>
      <p:sp>
        <p:nvSpPr>
          <p:cNvPr id="3" name="Dikdörtgen 2"/>
          <p:cNvSpPr/>
          <p:nvPr/>
        </p:nvSpPr>
        <p:spPr>
          <a:xfrm>
            <a:off x="5675453" y="81449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1200" dirty="0"/>
              <a:t> </a:t>
            </a:r>
            <a:r>
              <a:rPr lang="tr-TR" sz="1200" dirty="0" err="1"/>
              <a:t>private</a:t>
            </a:r>
            <a:r>
              <a:rPr lang="tr-TR" sz="1200" dirty="0"/>
              <a:t> </a:t>
            </a:r>
            <a:r>
              <a:rPr lang="tr-TR" sz="1200" dirty="0" err="1"/>
              <a:t>void</a:t>
            </a:r>
            <a:r>
              <a:rPr lang="tr-TR" sz="1200" dirty="0"/>
              <a:t> Form1_Load(</a:t>
            </a:r>
            <a:r>
              <a:rPr lang="tr-TR" sz="1200" dirty="0" err="1"/>
              <a:t>object</a:t>
            </a:r>
            <a:r>
              <a:rPr lang="tr-TR" sz="1200" dirty="0"/>
              <a:t> </a:t>
            </a:r>
            <a:r>
              <a:rPr lang="tr-TR" sz="1200" dirty="0" err="1"/>
              <a:t>sender</a:t>
            </a:r>
            <a:r>
              <a:rPr lang="tr-TR" sz="1200" dirty="0"/>
              <a:t>, </a:t>
            </a:r>
            <a:r>
              <a:rPr lang="tr-TR" sz="1200" dirty="0" err="1"/>
              <a:t>EventArgs</a:t>
            </a:r>
            <a:r>
              <a:rPr lang="tr-TR" sz="1200" dirty="0"/>
              <a:t> e)</a:t>
            </a:r>
          </a:p>
          <a:p>
            <a:r>
              <a:rPr lang="tr-TR" sz="1200" dirty="0"/>
              <a:t>        {</a:t>
            </a:r>
          </a:p>
          <a:p>
            <a:r>
              <a:rPr lang="tr-TR" sz="1200" dirty="0"/>
              <a:t>            textBox1.MaxLength = 250; </a:t>
            </a:r>
          </a:p>
          <a:p>
            <a:r>
              <a:rPr lang="tr-TR" sz="1200" dirty="0"/>
              <a:t>        }</a:t>
            </a:r>
          </a:p>
          <a:p>
            <a:r>
              <a:rPr lang="tr-TR" sz="1200" dirty="0"/>
              <a:t>    }</a:t>
            </a:r>
          </a:p>
          <a:p>
            <a:r>
              <a:rPr lang="tr-TR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2161557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Özel 1">
      <a:dk1>
        <a:srgbClr val="2D2D2D"/>
      </a:dk1>
      <a:lt1>
        <a:srgbClr val="2D2D2D"/>
      </a:lt1>
      <a:dk2>
        <a:srgbClr val="FFFFFF"/>
      </a:dk2>
      <a:lt2>
        <a:srgbClr val="FFFFFF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F2F2F2"/>
      </a:accent6>
      <a:hlink>
        <a:srgbClr val="6B9F25"/>
      </a:hlink>
      <a:folHlink>
        <a:srgbClr val="B26B02"/>
      </a:folHlink>
    </a:clrScheme>
    <a:fontScheme name="Geçmişe bakış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CA72677B-2F8C-4192-8EBE-D360BE3B20F6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Hafta1</Template>
  <TotalTime>9264</TotalTime>
  <Words>1873</Words>
  <Application>Microsoft Office PowerPoint</Application>
  <PresentationFormat>Geniş ekran</PresentationFormat>
  <Paragraphs>279</Paragraphs>
  <Slides>16</Slides>
  <Notes>16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1" baseType="lpstr">
      <vt:lpstr>Calibri</vt:lpstr>
      <vt:lpstr>Calibri Light</vt:lpstr>
      <vt:lpstr>Consolas</vt:lpstr>
      <vt:lpstr>Times New Roman</vt:lpstr>
      <vt:lpstr>Geçmişe bakış</vt:lpstr>
      <vt:lpstr>BİL207-NESNE YÖNELİMLİ PROGRAMLAMA I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BİL102-ALGORİTMA ve PROGRAMLAMA I</dc:title>
  <dc:creator>FUNDA KUTLU ONAY</dc:creator>
  <cp:lastModifiedBy>FUNDA KUTLU ONAY</cp:lastModifiedBy>
  <cp:revision>93</cp:revision>
  <dcterms:created xsi:type="dcterms:W3CDTF">2021-02-24T12:37:41Z</dcterms:created>
  <dcterms:modified xsi:type="dcterms:W3CDTF">2024-10-16T18:12:46Z</dcterms:modified>
</cp:coreProperties>
</file>