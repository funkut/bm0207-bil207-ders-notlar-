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notesMasterIdLst>
    <p:notesMasterId r:id="rId35"/>
  </p:notesMasterIdLst>
  <p:sldIdLst>
    <p:sldId id="256" r:id="rId2"/>
    <p:sldId id="257" r:id="rId3"/>
    <p:sldId id="309" r:id="rId4"/>
    <p:sldId id="310" r:id="rId5"/>
    <p:sldId id="311" r:id="rId6"/>
    <p:sldId id="312" r:id="rId7"/>
    <p:sldId id="313" r:id="rId8"/>
    <p:sldId id="314" r:id="rId9"/>
    <p:sldId id="315" r:id="rId10"/>
    <p:sldId id="316" r:id="rId11"/>
    <p:sldId id="317" r:id="rId12"/>
    <p:sldId id="336" r:id="rId13"/>
    <p:sldId id="337" r:id="rId14"/>
    <p:sldId id="338" r:id="rId15"/>
    <p:sldId id="339" r:id="rId16"/>
    <p:sldId id="318"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3" r:id="rId30"/>
    <p:sldId id="331" r:id="rId31"/>
    <p:sldId id="332" r:id="rId32"/>
    <p:sldId id="334" r:id="rId33"/>
    <p:sldId id="335"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6600"/>
    <a:srgbClr val="66FF33"/>
    <a:srgbClr val="FF33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Açık Stil 2 - Vurgu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Açık Stil 3 - Vurgu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ema Uygulanmış Stil 1 - Vurgu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Açık Stil 1 - Vurgu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Orta Stil 2 - Vurgu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45" autoAdjust="0"/>
    <p:restoredTop sz="94700" autoAdjust="0"/>
  </p:normalViewPr>
  <p:slideViewPr>
    <p:cSldViewPr snapToGrid="0">
      <p:cViewPr varScale="1">
        <p:scale>
          <a:sx n="106" d="100"/>
          <a:sy n="106" d="100"/>
        </p:scale>
        <p:origin x="88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BC61F-CF9C-438D-878D-5F289BFF98B2}" type="datetimeFigureOut">
              <a:rPr lang="tr-TR" smtClean="0"/>
              <a:t>16.10.2024</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F0F1D-777A-4D20-B29A-2D838269CEE8}" type="slidenum">
              <a:rPr lang="tr-TR" smtClean="0"/>
              <a:t>‹#›</a:t>
            </a:fld>
            <a:endParaRPr lang="tr-TR"/>
          </a:p>
        </p:txBody>
      </p:sp>
    </p:spTree>
    <p:extLst>
      <p:ext uri="{BB962C8B-B14F-4D97-AF65-F5344CB8AC3E}">
        <p14:creationId xmlns:p14="http://schemas.microsoft.com/office/powerpoint/2010/main" val="519013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18</a:t>
            </a:fld>
            <a:endParaRPr lang="tr-TR"/>
          </a:p>
        </p:txBody>
      </p:sp>
    </p:spTree>
    <p:extLst>
      <p:ext uri="{BB962C8B-B14F-4D97-AF65-F5344CB8AC3E}">
        <p14:creationId xmlns:p14="http://schemas.microsoft.com/office/powerpoint/2010/main" val="4287454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19</a:t>
            </a:fld>
            <a:endParaRPr lang="tr-TR"/>
          </a:p>
        </p:txBody>
      </p:sp>
    </p:spTree>
    <p:extLst>
      <p:ext uri="{BB962C8B-B14F-4D97-AF65-F5344CB8AC3E}">
        <p14:creationId xmlns:p14="http://schemas.microsoft.com/office/powerpoint/2010/main" val="2269953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20</a:t>
            </a:fld>
            <a:endParaRPr lang="tr-TR"/>
          </a:p>
        </p:txBody>
      </p:sp>
    </p:spTree>
    <p:extLst>
      <p:ext uri="{BB962C8B-B14F-4D97-AF65-F5344CB8AC3E}">
        <p14:creationId xmlns:p14="http://schemas.microsoft.com/office/powerpoint/2010/main" val="3121825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21</a:t>
            </a:fld>
            <a:endParaRPr lang="tr-TR"/>
          </a:p>
        </p:txBody>
      </p:sp>
    </p:spTree>
    <p:extLst>
      <p:ext uri="{BB962C8B-B14F-4D97-AF65-F5344CB8AC3E}">
        <p14:creationId xmlns:p14="http://schemas.microsoft.com/office/powerpoint/2010/main" val="3619509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22</a:t>
            </a:fld>
            <a:endParaRPr lang="tr-TR"/>
          </a:p>
        </p:txBody>
      </p:sp>
    </p:spTree>
    <p:extLst>
      <p:ext uri="{BB962C8B-B14F-4D97-AF65-F5344CB8AC3E}">
        <p14:creationId xmlns:p14="http://schemas.microsoft.com/office/powerpoint/2010/main" val="2930964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23</a:t>
            </a:fld>
            <a:endParaRPr lang="tr-TR"/>
          </a:p>
        </p:txBody>
      </p:sp>
    </p:spTree>
    <p:extLst>
      <p:ext uri="{BB962C8B-B14F-4D97-AF65-F5344CB8AC3E}">
        <p14:creationId xmlns:p14="http://schemas.microsoft.com/office/powerpoint/2010/main" val="1537223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24</a:t>
            </a:fld>
            <a:endParaRPr lang="tr-TR"/>
          </a:p>
        </p:txBody>
      </p:sp>
    </p:spTree>
    <p:extLst>
      <p:ext uri="{BB962C8B-B14F-4D97-AF65-F5344CB8AC3E}">
        <p14:creationId xmlns:p14="http://schemas.microsoft.com/office/powerpoint/2010/main" val="2092715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25</a:t>
            </a:fld>
            <a:endParaRPr lang="tr-TR"/>
          </a:p>
        </p:txBody>
      </p:sp>
    </p:spTree>
    <p:extLst>
      <p:ext uri="{BB962C8B-B14F-4D97-AF65-F5344CB8AC3E}">
        <p14:creationId xmlns:p14="http://schemas.microsoft.com/office/powerpoint/2010/main" val="1818185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26</a:t>
            </a:fld>
            <a:endParaRPr lang="tr-TR"/>
          </a:p>
        </p:txBody>
      </p:sp>
    </p:spTree>
    <p:extLst>
      <p:ext uri="{BB962C8B-B14F-4D97-AF65-F5344CB8AC3E}">
        <p14:creationId xmlns:p14="http://schemas.microsoft.com/office/powerpoint/2010/main" val="3512278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27</a:t>
            </a:fld>
            <a:endParaRPr lang="tr-TR"/>
          </a:p>
        </p:txBody>
      </p:sp>
    </p:spTree>
    <p:extLst>
      <p:ext uri="{BB962C8B-B14F-4D97-AF65-F5344CB8AC3E}">
        <p14:creationId xmlns:p14="http://schemas.microsoft.com/office/powerpoint/2010/main" val="4206916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28</a:t>
            </a:fld>
            <a:endParaRPr lang="tr-TR"/>
          </a:p>
        </p:txBody>
      </p:sp>
    </p:spTree>
    <p:extLst>
      <p:ext uri="{BB962C8B-B14F-4D97-AF65-F5344CB8AC3E}">
        <p14:creationId xmlns:p14="http://schemas.microsoft.com/office/powerpoint/2010/main" val="1457563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29</a:t>
            </a:fld>
            <a:endParaRPr lang="tr-TR"/>
          </a:p>
        </p:txBody>
      </p:sp>
    </p:spTree>
    <p:extLst>
      <p:ext uri="{BB962C8B-B14F-4D97-AF65-F5344CB8AC3E}">
        <p14:creationId xmlns:p14="http://schemas.microsoft.com/office/powerpoint/2010/main" val="3417911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30</a:t>
            </a:fld>
            <a:endParaRPr lang="tr-TR"/>
          </a:p>
        </p:txBody>
      </p:sp>
    </p:spTree>
    <p:extLst>
      <p:ext uri="{BB962C8B-B14F-4D97-AF65-F5344CB8AC3E}">
        <p14:creationId xmlns:p14="http://schemas.microsoft.com/office/powerpoint/2010/main" val="3556511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31</a:t>
            </a:fld>
            <a:endParaRPr lang="tr-TR"/>
          </a:p>
        </p:txBody>
      </p:sp>
    </p:spTree>
    <p:extLst>
      <p:ext uri="{BB962C8B-B14F-4D97-AF65-F5344CB8AC3E}">
        <p14:creationId xmlns:p14="http://schemas.microsoft.com/office/powerpoint/2010/main" val="2192239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32</a:t>
            </a:fld>
            <a:endParaRPr lang="tr-TR"/>
          </a:p>
        </p:txBody>
      </p:sp>
    </p:spTree>
    <p:extLst>
      <p:ext uri="{BB962C8B-B14F-4D97-AF65-F5344CB8AC3E}">
        <p14:creationId xmlns:p14="http://schemas.microsoft.com/office/powerpoint/2010/main" val="13307553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342F0F1D-777A-4D20-B29A-2D838269CEE8}" type="slidenum">
              <a:rPr lang="tr-TR" smtClean="0"/>
              <a:t>33</a:t>
            </a:fld>
            <a:endParaRPr lang="tr-TR"/>
          </a:p>
        </p:txBody>
      </p:sp>
    </p:spTree>
    <p:extLst>
      <p:ext uri="{BB962C8B-B14F-4D97-AF65-F5344CB8AC3E}">
        <p14:creationId xmlns:p14="http://schemas.microsoft.com/office/powerpoint/2010/main" val="841790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24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8854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591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7423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28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92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239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724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3191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61BEF0D-F0BB-DE4B-95CE-6DB70DBA9567}" type="datetimeFigureOut">
              <a:rPr lang="en-US" smtClean="0"/>
              <a:pPr/>
              <a:t>10/16/2024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576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02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68891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8320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10/16/2024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985783"/>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F6194B-F41A-4525-AEB3-77447690ACBB}"/>
              </a:ext>
            </a:extLst>
          </p:cNvPr>
          <p:cNvSpPr>
            <a:spLocks noGrp="1"/>
          </p:cNvSpPr>
          <p:nvPr>
            <p:ph type="ctrTitle"/>
          </p:nvPr>
        </p:nvSpPr>
        <p:spPr>
          <a:xfrm>
            <a:off x="0" y="3162968"/>
            <a:ext cx="12192000" cy="823667"/>
          </a:xfrm>
        </p:spPr>
        <p:txBody>
          <a:bodyPr>
            <a:normAutofit/>
          </a:bodyPr>
          <a:lstStyle/>
          <a:p>
            <a:pPr algn="ctr"/>
            <a:r>
              <a:rPr lang="tr-TR" sz="4000" dirty="0">
                <a:solidFill>
                  <a:schemeClr val="bg1"/>
                </a:solidFill>
                <a:latin typeface="Times New Roman" panose="02020603050405020304" pitchFamily="18" charset="0"/>
                <a:cs typeface="Times New Roman" panose="02020603050405020304" pitchFamily="18" charset="0"/>
              </a:rPr>
              <a:t>BİL207-NESNE YÖNELİMLİ PROGRAMLAMA I</a:t>
            </a:r>
          </a:p>
        </p:txBody>
      </p:sp>
      <p:sp>
        <p:nvSpPr>
          <p:cNvPr id="3" name="Alt Başlık 2">
            <a:extLst>
              <a:ext uri="{FF2B5EF4-FFF2-40B4-BE49-F238E27FC236}">
                <a16:creationId xmlns:a16="http://schemas.microsoft.com/office/drawing/2014/main" id="{CB41DA49-5670-4ECE-A68E-25663738BFB8}"/>
              </a:ext>
            </a:extLst>
          </p:cNvPr>
          <p:cNvSpPr>
            <a:spLocks noGrp="1"/>
          </p:cNvSpPr>
          <p:nvPr>
            <p:ph type="subTitle" idx="1"/>
          </p:nvPr>
        </p:nvSpPr>
        <p:spPr>
          <a:xfrm>
            <a:off x="1" y="2036685"/>
            <a:ext cx="12192000" cy="1126283"/>
          </a:xfrm>
        </p:spPr>
        <p:txBody>
          <a:bodyPr>
            <a:normAutofit/>
          </a:bodyPr>
          <a:lstStyle/>
          <a:p>
            <a:pPr algn="ctr"/>
            <a:r>
              <a:rPr lang="tr-TR" sz="3000" dirty="0">
                <a:solidFill>
                  <a:schemeClr val="bg1"/>
                </a:solidFill>
                <a:latin typeface="Times New Roman" panose="02020603050405020304" pitchFamily="18" charset="0"/>
                <a:cs typeface="Times New Roman" panose="02020603050405020304" pitchFamily="18" charset="0"/>
              </a:rPr>
              <a:t>MÜHENDİSLİK FAKÜLTESİ </a:t>
            </a:r>
          </a:p>
          <a:p>
            <a:pPr algn="ctr"/>
            <a:r>
              <a:rPr lang="tr-TR" sz="3000" dirty="0">
                <a:solidFill>
                  <a:schemeClr val="bg1"/>
                </a:solidFill>
                <a:latin typeface="Times New Roman" panose="02020603050405020304" pitchFamily="18" charset="0"/>
                <a:cs typeface="Times New Roman" panose="02020603050405020304" pitchFamily="18" charset="0"/>
              </a:rPr>
              <a:t>BİLGİSAYAR MÜHENDİSLİĞİ BÖLÜMÜ</a:t>
            </a:r>
          </a:p>
        </p:txBody>
      </p:sp>
      <p:pic>
        <p:nvPicPr>
          <p:cNvPr id="1026" name="Picture 2" descr="Amasya Üniversitesi Logo Vector (.AI) Free Download">
            <a:extLst>
              <a:ext uri="{FF2B5EF4-FFF2-40B4-BE49-F238E27FC236}">
                <a16:creationId xmlns:a16="http://schemas.microsoft.com/office/drawing/2014/main" id="{D0EB15F1-5DFF-44D5-B2FF-50975D94D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9293" y="159026"/>
            <a:ext cx="1889990" cy="1656891"/>
          </a:xfrm>
          <a:prstGeom prst="rect">
            <a:avLst/>
          </a:prstGeom>
          <a:noFill/>
          <a:extLst>
            <a:ext uri="{909E8E84-426E-40DD-AFC4-6F175D3DCCD1}">
              <a14:hiddenFill xmlns:a14="http://schemas.microsoft.com/office/drawing/2010/main">
                <a:solidFill>
                  <a:srgbClr val="FFFFFF"/>
                </a:solidFill>
              </a14:hiddenFill>
            </a:ext>
          </a:extLst>
        </p:spPr>
      </p:pic>
      <p:sp>
        <p:nvSpPr>
          <p:cNvPr id="5" name="Başlık 1">
            <a:extLst>
              <a:ext uri="{FF2B5EF4-FFF2-40B4-BE49-F238E27FC236}">
                <a16:creationId xmlns:a16="http://schemas.microsoft.com/office/drawing/2014/main" id="{396A8088-FB20-4AC5-BF87-A4E322DF3AE5}"/>
              </a:ext>
            </a:extLst>
          </p:cNvPr>
          <p:cNvSpPr txBox="1">
            <a:spLocks/>
          </p:cNvSpPr>
          <p:nvPr/>
        </p:nvSpPr>
        <p:spPr>
          <a:xfrm>
            <a:off x="0" y="4432605"/>
            <a:ext cx="12192000" cy="1104129"/>
          </a:xfrm>
          <a:prstGeom prst="rect">
            <a:avLst/>
          </a:prstGeom>
        </p:spPr>
        <p:txBody>
          <a:bodyPr vert="horz" lIns="91440" tIns="45720" rIns="91440" bIns="45720" rtlCol="0" anchor="b">
            <a:norm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tr-TR" sz="2500" dirty="0">
                <a:solidFill>
                  <a:schemeClr val="bg1"/>
                </a:solidFill>
                <a:latin typeface="Times New Roman" panose="02020603050405020304" pitchFamily="18" charset="0"/>
                <a:cs typeface="Times New Roman" panose="02020603050405020304" pitchFamily="18" charset="0"/>
              </a:rPr>
              <a:t>Hafta 2</a:t>
            </a:r>
          </a:p>
          <a:p>
            <a:pPr algn="ctr"/>
            <a:r>
              <a:rPr lang="tr-TR" sz="4000" dirty="0">
                <a:solidFill>
                  <a:schemeClr val="bg1"/>
                </a:solidFill>
                <a:latin typeface="Times New Roman" panose="02020603050405020304" pitchFamily="18" charset="0"/>
                <a:cs typeface="Times New Roman" panose="02020603050405020304" pitchFamily="18" charset="0"/>
              </a:rPr>
              <a:t>C# Programlama Dili (Temel Kavramlar)</a:t>
            </a:r>
          </a:p>
        </p:txBody>
      </p:sp>
      <p:sp>
        <p:nvSpPr>
          <p:cNvPr id="6" name="Alt Başlık 2">
            <a:extLst>
              <a:ext uri="{FF2B5EF4-FFF2-40B4-BE49-F238E27FC236}">
                <a16:creationId xmlns:a16="http://schemas.microsoft.com/office/drawing/2014/main" id="{C01E9738-1494-44D7-B855-BBD35AF016D4}"/>
              </a:ext>
            </a:extLst>
          </p:cNvPr>
          <p:cNvSpPr txBox="1">
            <a:spLocks/>
          </p:cNvSpPr>
          <p:nvPr/>
        </p:nvSpPr>
        <p:spPr>
          <a:xfrm>
            <a:off x="139485" y="5724630"/>
            <a:ext cx="12191999" cy="507484"/>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ctr"/>
            <a:r>
              <a:rPr lang="tr-TR" sz="2400" dirty="0">
                <a:solidFill>
                  <a:schemeClr val="bg1"/>
                </a:solidFill>
                <a:latin typeface="Times New Roman" panose="02020603050405020304" pitchFamily="18" charset="0"/>
                <a:cs typeface="Times New Roman" panose="02020603050405020304" pitchFamily="18" charset="0"/>
              </a:rPr>
              <a:t>Doç. Dr</a:t>
            </a:r>
            <a:r>
              <a:rPr lang="tr-TR" sz="2400">
                <a:solidFill>
                  <a:schemeClr val="bg1"/>
                </a:solidFill>
                <a:latin typeface="Times New Roman" panose="02020603050405020304" pitchFamily="18" charset="0"/>
                <a:cs typeface="Times New Roman" panose="02020603050405020304" pitchFamily="18" charset="0"/>
              </a:rPr>
              <a:t>. Funda </a:t>
            </a:r>
            <a:r>
              <a:rPr lang="tr-TR" sz="2400" dirty="0">
                <a:solidFill>
                  <a:schemeClr val="bg1"/>
                </a:solidFill>
                <a:latin typeface="Times New Roman" panose="02020603050405020304" pitchFamily="18" charset="0"/>
                <a:cs typeface="Times New Roman" panose="02020603050405020304" pitchFamily="18" charset="0"/>
              </a:rPr>
              <a:t>KUTLU ONAY</a:t>
            </a:r>
          </a:p>
        </p:txBody>
      </p:sp>
    </p:spTree>
    <p:extLst>
      <p:ext uri="{BB962C8B-B14F-4D97-AF65-F5344CB8AC3E}">
        <p14:creationId xmlns:p14="http://schemas.microsoft.com/office/powerpoint/2010/main" val="4251242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Değişkenler (</a:t>
            </a:r>
            <a:r>
              <a:rPr lang="tr-TR" sz="3000" b="1" dirty="0" err="1">
                <a:solidFill>
                  <a:schemeClr val="tx1"/>
                </a:solidFill>
                <a:latin typeface="Times New Roman" panose="02020603050405020304" pitchFamily="18" charset="0"/>
                <a:cs typeface="Times New Roman" panose="02020603050405020304" pitchFamily="18" charset="0"/>
              </a:rPr>
              <a:t>Variables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C# temel veri türleri aşağıdaki gibi kategorize edilebilir:</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C# ayrıca, </a:t>
            </a:r>
            <a:r>
              <a:rPr lang="tr-TR" sz="2400" b="1" dirty="0" err="1">
                <a:solidFill>
                  <a:schemeClr val="tx1"/>
                </a:solidFill>
                <a:latin typeface="Times New Roman" panose="02020603050405020304" pitchFamily="18" charset="0"/>
                <a:cs typeface="Times New Roman" panose="02020603050405020304" pitchFamily="18" charset="0"/>
              </a:rPr>
              <a:t>enum</a:t>
            </a:r>
            <a:r>
              <a:rPr lang="tr-TR" sz="2400" dirty="0">
                <a:solidFill>
                  <a:schemeClr val="tx1"/>
                </a:solidFill>
                <a:latin typeface="Times New Roman" panose="02020603050405020304" pitchFamily="18" charset="0"/>
                <a:cs typeface="Times New Roman" panose="02020603050405020304" pitchFamily="18" charset="0"/>
              </a:rPr>
              <a:t> gibi değişkenlerin diğer değer tiplerini ve </a:t>
            </a:r>
            <a:r>
              <a:rPr lang="tr-TR" sz="2400" b="1" dirty="0" err="1">
                <a:solidFill>
                  <a:schemeClr val="tx1"/>
                </a:solidFill>
                <a:latin typeface="Times New Roman" panose="02020603050405020304" pitchFamily="18" charset="0"/>
                <a:cs typeface="Times New Roman" panose="02020603050405020304" pitchFamily="18" charset="0"/>
              </a:rPr>
              <a:t>class</a:t>
            </a:r>
            <a:r>
              <a:rPr lang="tr-TR" sz="2400" dirty="0">
                <a:solidFill>
                  <a:schemeClr val="tx1"/>
                </a:solidFill>
                <a:latin typeface="Times New Roman" panose="02020603050405020304" pitchFamily="18" charset="0"/>
                <a:cs typeface="Times New Roman" panose="02020603050405020304" pitchFamily="18" charset="0"/>
              </a:rPr>
              <a:t> gibi değişkenlerin referans tiplerini tanımlamaya da izin verir.</a:t>
            </a:r>
          </a:p>
          <a:p>
            <a:pPr algn="just">
              <a:lnSpc>
                <a:spcPct val="100000"/>
              </a:lnSpc>
            </a:pPr>
            <a:r>
              <a:rPr lang="tr-TR" sz="2400" b="1" dirty="0" err="1">
                <a:solidFill>
                  <a:schemeClr val="tx1"/>
                </a:solidFill>
                <a:latin typeface="Times New Roman" panose="02020603050405020304" pitchFamily="18" charset="0"/>
                <a:cs typeface="Times New Roman" panose="02020603050405020304" pitchFamily="18" charset="0"/>
              </a:rPr>
              <a:t>enum</a:t>
            </a:r>
            <a:r>
              <a:rPr lang="tr-TR" sz="2400" b="1" dirty="0">
                <a:solidFill>
                  <a:schemeClr val="tx1"/>
                </a:solidFill>
                <a:latin typeface="Times New Roman" panose="02020603050405020304" pitchFamily="18" charset="0"/>
                <a:cs typeface="Times New Roman" panose="02020603050405020304" pitchFamily="18" charset="0"/>
              </a:rPr>
              <a:t>: </a:t>
            </a:r>
            <a:r>
              <a:rPr lang="tr-TR" sz="2400" dirty="0">
                <a:solidFill>
                  <a:schemeClr val="tx1"/>
                </a:solidFill>
                <a:latin typeface="Times New Roman" panose="02020603050405020304" pitchFamily="18" charset="0"/>
                <a:cs typeface="Times New Roman" panose="02020603050405020304" pitchFamily="18" charset="0"/>
              </a:rPr>
              <a:t>Bu yapı yazılım dilinde </a:t>
            </a:r>
            <a:r>
              <a:rPr lang="tr-TR" sz="2400" dirty="0" err="1">
                <a:solidFill>
                  <a:schemeClr val="tx1"/>
                </a:solidFill>
                <a:latin typeface="Times New Roman" panose="02020603050405020304" pitchFamily="18" charset="0"/>
                <a:cs typeface="Times New Roman" panose="02020603050405020304" pitchFamily="18" charset="0"/>
              </a:rPr>
              <a:t>enum</a:t>
            </a:r>
            <a:r>
              <a:rPr lang="tr-TR" sz="2400" dirty="0">
                <a:solidFill>
                  <a:schemeClr val="tx1"/>
                </a:solidFill>
                <a:latin typeface="Times New Roman" panose="02020603050405020304" pitchFamily="18" charset="0"/>
                <a:cs typeface="Times New Roman" panose="02020603050405020304" pitchFamily="18" charset="0"/>
              </a:rPr>
              <a:t>, </a:t>
            </a:r>
            <a:r>
              <a:rPr lang="tr-TR" sz="2400" dirty="0" err="1">
                <a:solidFill>
                  <a:schemeClr val="tx1"/>
                </a:solidFill>
                <a:latin typeface="Times New Roman" panose="02020603050405020304" pitchFamily="18" charset="0"/>
                <a:cs typeface="Times New Roman" panose="02020603050405020304" pitchFamily="18" charset="0"/>
              </a:rPr>
              <a:t>enumaration</a:t>
            </a:r>
            <a:r>
              <a:rPr lang="tr-TR" sz="2400" dirty="0">
                <a:solidFill>
                  <a:schemeClr val="tx1"/>
                </a:solidFill>
                <a:latin typeface="Times New Roman" panose="02020603050405020304" pitchFamily="18" charset="0"/>
                <a:cs typeface="Times New Roman" panose="02020603050405020304" pitchFamily="18" charset="0"/>
              </a:rPr>
              <a:t> ya da </a:t>
            </a:r>
            <a:r>
              <a:rPr lang="tr-TR" sz="2400" dirty="0" err="1">
                <a:solidFill>
                  <a:schemeClr val="tx1"/>
                </a:solidFill>
                <a:latin typeface="Times New Roman" panose="02020603050405020304" pitchFamily="18" charset="0"/>
                <a:cs typeface="Times New Roman" panose="02020603050405020304" pitchFamily="18" charset="0"/>
              </a:rPr>
              <a:t>enum</a:t>
            </a:r>
            <a:r>
              <a:rPr lang="tr-TR" sz="2400" dirty="0">
                <a:solidFill>
                  <a:schemeClr val="tx1"/>
                </a:solidFill>
                <a:latin typeface="Times New Roman" panose="02020603050405020304" pitchFamily="18" charset="0"/>
                <a:cs typeface="Times New Roman" panose="02020603050405020304" pitchFamily="18" charset="0"/>
              </a:rPr>
              <a:t> sabitleri olarak adlandırılır. Değişkenlerin alabileceği değerlerin sabit (belli) olduğu durumlarda programı daha okunabilir hale getirmek için kullanılır. Programda birçok değişkene tek tek sayısal değer vermek yerine "</a:t>
            </a:r>
            <a:r>
              <a:rPr lang="tr-TR" sz="2400" dirty="0" err="1">
                <a:solidFill>
                  <a:schemeClr val="tx1"/>
                </a:solidFill>
                <a:latin typeface="Times New Roman" panose="02020603050405020304" pitchFamily="18" charset="0"/>
                <a:cs typeface="Times New Roman" panose="02020603050405020304" pitchFamily="18" charset="0"/>
              </a:rPr>
              <a:t>enum</a:t>
            </a:r>
            <a:r>
              <a:rPr lang="tr-TR" sz="2400" dirty="0">
                <a:solidFill>
                  <a:schemeClr val="tx1"/>
                </a:solidFill>
                <a:latin typeface="Times New Roman" panose="02020603050405020304" pitchFamily="18" charset="0"/>
                <a:cs typeface="Times New Roman" panose="02020603050405020304" pitchFamily="18" charset="0"/>
              </a:rPr>
              <a:t>" kullanılabilir. Özet olarak "</a:t>
            </a:r>
            <a:r>
              <a:rPr lang="tr-TR" sz="2400" dirty="0" err="1">
                <a:solidFill>
                  <a:schemeClr val="tx1"/>
                </a:solidFill>
                <a:latin typeface="Times New Roman" panose="02020603050405020304" pitchFamily="18" charset="0"/>
                <a:cs typeface="Times New Roman" panose="02020603050405020304" pitchFamily="18" charset="0"/>
              </a:rPr>
              <a:t>enum</a:t>
            </a:r>
            <a:r>
              <a:rPr lang="tr-TR" sz="2400" dirty="0">
                <a:solidFill>
                  <a:schemeClr val="tx1"/>
                </a:solidFill>
                <a:latin typeface="Times New Roman" panose="02020603050405020304" pitchFamily="18" charset="0"/>
                <a:cs typeface="Times New Roman" panose="02020603050405020304" pitchFamily="18" charset="0"/>
              </a:rPr>
              <a:t>" yapısı sayıları anlamlı şekilde isimlendirerek kullanabilmeye izin verir.</a:t>
            </a:r>
          </a:p>
        </p:txBody>
      </p:sp>
      <p:graphicFrame>
        <p:nvGraphicFramePr>
          <p:cNvPr id="2" name="Tablo 3">
            <a:extLst>
              <a:ext uri="{FF2B5EF4-FFF2-40B4-BE49-F238E27FC236}">
                <a16:creationId xmlns:a16="http://schemas.microsoft.com/office/drawing/2014/main" id="{8A0C06B9-FF50-4393-9804-6F79EE60951B}"/>
              </a:ext>
            </a:extLst>
          </p:cNvPr>
          <p:cNvGraphicFramePr>
            <a:graphicFrameLocks noGrp="1"/>
          </p:cNvGraphicFramePr>
          <p:nvPr>
            <p:extLst>
              <p:ext uri="{D42A27DB-BD31-4B8C-83A1-F6EECF244321}">
                <p14:modId xmlns:p14="http://schemas.microsoft.com/office/powerpoint/2010/main" val="877478413"/>
              </p:ext>
            </p:extLst>
          </p:nvPr>
        </p:nvGraphicFramePr>
        <p:xfrm>
          <a:off x="1342662" y="1420857"/>
          <a:ext cx="9664861" cy="1854200"/>
        </p:xfrm>
        <a:graphic>
          <a:graphicData uri="http://schemas.openxmlformats.org/drawingml/2006/table">
            <a:tbl>
              <a:tblPr firstRow="1" bandRow="1">
                <a:tableStyleId>{5940675A-B579-460E-94D1-54222C63F5DA}</a:tableStyleId>
              </a:tblPr>
              <a:tblGrid>
                <a:gridCol w="3072409">
                  <a:extLst>
                    <a:ext uri="{9D8B030D-6E8A-4147-A177-3AD203B41FA5}">
                      <a16:colId xmlns:a16="http://schemas.microsoft.com/office/drawing/2014/main" val="1958258359"/>
                    </a:ext>
                  </a:extLst>
                </a:gridCol>
                <a:gridCol w="6592452">
                  <a:extLst>
                    <a:ext uri="{9D8B030D-6E8A-4147-A177-3AD203B41FA5}">
                      <a16:colId xmlns:a16="http://schemas.microsoft.com/office/drawing/2014/main" val="2743058263"/>
                    </a:ext>
                  </a:extLst>
                </a:gridCol>
              </a:tblGrid>
              <a:tr h="370840">
                <a:tc>
                  <a:txBody>
                    <a:bodyPr/>
                    <a:lstStyle/>
                    <a:p>
                      <a:r>
                        <a:rPr lang="tr-TR" dirty="0">
                          <a:latin typeface="Times New Roman" panose="02020603050405020304" pitchFamily="18" charset="0"/>
                          <a:cs typeface="Times New Roman" panose="02020603050405020304" pitchFamily="18" charset="0"/>
                        </a:rPr>
                        <a:t>Tam (integral) veri türleri</a:t>
                      </a:r>
                    </a:p>
                  </a:txBody>
                  <a:tcPr/>
                </a:tc>
                <a:tc>
                  <a:txBody>
                    <a:bodyPr/>
                    <a:lstStyle/>
                    <a:p>
                      <a:r>
                        <a:rPr lang="en-US" dirty="0" err="1">
                          <a:latin typeface="Times New Roman" panose="02020603050405020304" pitchFamily="18" charset="0"/>
                          <a:cs typeface="Times New Roman" panose="02020603050405020304" pitchFamily="18" charset="0"/>
                        </a:rPr>
                        <a:t>sbyte</a:t>
                      </a:r>
                      <a:r>
                        <a:rPr lang="en-US" dirty="0">
                          <a:latin typeface="Times New Roman" panose="02020603050405020304" pitchFamily="18" charset="0"/>
                          <a:cs typeface="Times New Roman" panose="02020603050405020304" pitchFamily="18" charset="0"/>
                        </a:rPr>
                        <a:t>, byte, short, </a:t>
                      </a:r>
                      <a:r>
                        <a:rPr lang="en-US" dirty="0" err="1">
                          <a:latin typeface="Times New Roman" panose="02020603050405020304" pitchFamily="18" charset="0"/>
                          <a:cs typeface="Times New Roman" panose="02020603050405020304" pitchFamily="18" charset="0"/>
                        </a:rPr>
                        <a:t>ushort</a:t>
                      </a:r>
                      <a:r>
                        <a:rPr lang="en-US" dirty="0">
                          <a:latin typeface="Times New Roman" panose="02020603050405020304" pitchFamily="18" charset="0"/>
                          <a:cs typeface="Times New Roman" panose="02020603050405020304" pitchFamily="18" charset="0"/>
                        </a:rPr>
                        <a:t>, int, </a:t>
                      </a:r>
                      <a:r>
                        <a:rPr lang="en-US" dirty="0" err="1">
                          <a:latin typeface="Times New Roman" panose="02020603050405020304" pitchFamily="18" charset="0"/>
                          <a:cs typeface="Times New Roman" panose="02020603050405020304" pitchFamily="18" charset="0"/>
                        </a:rPr>
                        <a:t>uint</a:t>
                      </a:r>
                      <a:r>
                        <a:rPr lang="en-US" dirty="0">
                          <a:latin typeface="Times New Roman" panose="02020603050405020304" pitchFamily="18" charset="0"/>
                          <a:cs typeface="Times New Roman" panose="02020603050405020304" pitchFamily="18" charset="0"/>
                        </a:rPr>
                        <a:t>, long, </a:t>
                      </a:r>
                      <a:r>
                        <a:rPr lang="en-US" dirty="0" err="1">
                          <a:latin typeface="Times New Roman" panose="02020603050405020304" pitchFamily="18" charset="0"/>
                          <a:cs typeface="Times New Roman" panose="02020603050405020304" pitchFamily="18" charset="0"/>
                        </a:rPr>
                        <a:t>ulong</a:t>
                      </a:r>
                      <a:r>
                        <a:rPr lang="en-US" dirty="0">
                          <a:latin typeface="Times New Roman" panose="02020603050405020304" pitchFamily="18" charset="0"/>
                          <a:cs typeface="Times New Roman" panose="02020603050405020304" pitchFamily="18" charset="0"/>
                        </a:rPr>
                        <a:t>, and char</a:t>
                      </a:r>
                      <a:endParaRPr lang="tr-T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15963500"/>
                  </a:ext>
                </a:extLst>
              </a:tr>
              <a:tr h="370840">
                <a:tc>
                  <a:txBody>
                    <a:bodyPr/>
                    <a:lstStyle/>
                    <a:p>
                      <a:r>
                        <a:rPr lang="tr-TR" dirty="0">
                          <a:latin typeface="Times New Roman" panose="02020603050405020304" pitchFamily="18" charset="0"/>
                          <a:cs typeface="Times New Roman" panose="02020603050405020304" pitchFamily="18" charset="0"/>
                        </a:rPr>
                        <a:t>Kayan noktalı türler (</a:t>
                      </a:r>
                      <a:r>
                        <a:rPr lang="tr-TR" dirty="0" err="1">
                          <a:latin typeface="Times New Roman" panose="02020603050405020304" pitchFamily="18" charset="0"/>
                          <a:cs typeface="Times New Roman" panose="02020603050405020304" pitchFamily="18" charset="0"/>
                        </a:rPr>
                        <a:t>ondalıklı</a:t>
                      </a:r>
                      <a:r>
                        <a:rPr lang="tr-TR" dirty="0">
                          <a:latin typeface="Times New Roman" panose="02020603050405020304" pitchFamily="18" charset="0"/>
                          <a:cs typeface="Times New Roman" panose="02020603050405020304" pitchFamily="18" charset="0"/>
                        </a:rPr>
                        <a:t>)</a:t>
                      </a:r>
                    </a:p>
                  </a:txBody>
                  <a:tcPr/>
                </a:tc>
                <a:tc>
                  <a:txBody>
                    <a:bodyPr/>
                    <a:lstStyle/>
                    <a:p>
                      <a:r>
                        <a:rPr lang="tr-TR" dirty="0" err="1">
                          <a:latin typeface="Times New Roman" panose="02020603050405020304" pitchFamily="18" charset="0"/>
                          <a:cs typeface="Times New Roman" panose="02020603050405020304" pitchFamily="18" charset="0"/>
                        </a:rPr>
                        <a:t>float</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double</a:t>
                      </a:r>
                      <a:endParaRPr lang="tr-T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0206466"/>
                  </a:ext>
                </a:extLst>
              </a:tr>
              <a:tr h="370840">
                <a:tc>
                  <a:txBody>
                    <a:bodyPr/>
                    <a:lstStyle/>
                    <a:p>
                      <a:r>
                        <a:rPr lang="tr-TR" dirty="0">
                          <a:latin typeface="Times New Roman" panose="02020603050405020304" pitchFamily="18" charset="0"/>
                          <a:cs typeface="Times New Roman" panose="02020603050405020304" pitchFamily="18" charset="0"/>
                        </a:rPr>
                        <a:t>Onlu (</a:t>
                      </a:r>
                      <a:r>
                        <a:rPr lang="tr-TR" dirty="0" err="1">
                          <a:latin typeface="Times New Roman" panose="02020603050405020304" pitchFamily="18" charset="0"/>
                          <a:cs typeface="Times New Roman" panose="02020603050405020304" pitchFamily="18" charset="0"/>
                        </a:rPr>
                        <a:t>decimal</a:t>
                      </a:r>
                      <a:r>
                        <a:rPr lang="tr-TR" dirty="0">
                          <a:latin typeface="Times New Roman" panose="02020603050405020304" pitchFamily="18" charset="0"/>
                          <a:cs typeface="Times New Roman" panose="02020603050405020304" pitchFamily="18" charset="0"/>
                        </a:rPr>
                        <a:t>) türler</a:t>
                      </a:r>
                    </a:p>
                  </a:txBody>
                  <a:tcPr/>
                </a:tc>
                <a:tc>
                  <a:txBody>
                    <a:bodyPr/>
                    <a:lstStyle/>
                    <a:p>
                      <a:r>
                        <a:rPr lang="tr-TR" dirty="0" err="1">
                          <a:latin typeface="Times New Roman" panose="02020603050405020304" pitchFamily="18" charset="0"/>
                          <a:cs typeface="Times New Roman" panose="02020603050405020304" pitchFamily="18" charset="0"/>
                        </a:rPr>
                        <a:t>decimal</a:t>
                      </a:r>
                      <a:endParaRPr lang="tr-T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1084136"/>
                  </a:ext>
                </a:extLst>
              </a:tr>
              <a:tr h="370840">
                <a:tc>
                  <a:txBody>
                    <a:bodyPr/>
                    <a:lstStyle/>
                    <a:p>
                      <a:r>
                        <a:rPr lang="tr-TR" dirty="0" err="1">
                          <a:latin typeface="Times New Roman" panose="02020603050405020304" pitchFamily="18" charset="0"/>
                          <a:cs typeface="Times New Roman" panose="02020603050405020304" pitchFamily="18" charset="0"/>
                        </a:rPr>
                        <a:t>Boolean</a:t>
                      </a:r>
                      <a:r>
                        <a:rPr lang="tr-TR" dirty="0">
                          <a:latin typeface="Times New Roman" panose="02020603050405020304" pitchFamily="18" charset="0"/>
                          <a:cs typeface="Times New Roman" panose="02020603050405020304" pitchFamily="18" charset="0"/>
                        </a:rPr>
                        <a:t> türler</a:t>
                      </a:r>
                    </a:p>
                  </a:txBody>
                  <a:tcPr/>
                </a:tc>
                <a:tc>
                  <a:txBody>
                    <a:bodyPr/>
                    <a:lstStyle/>
                    <a:p>
                      <a:r>
                        <a:rPr lang="tr-TR" dirty="0" err="1">
                          <a:latin typeface="Times New Roman" panose="02020603050405020304" pitchFamily="18" charset="0"/>
                          <a:cs typeface="Times New Roman" panose="02020603050405020304" pitchFamily="18" charset="0"/>
                        </a:rPr>
                        <a:t>true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false</a:t>
                      </a:r>
                      <a:endParaRPr lang="tr-T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35699750"/>
                  </a:ext>
                </a:extLst>
              </a:tr>
              <a:tr h="370840">
                <a:tc>
                  <a:txBody>
                    <a:bodyPr/>
                    <a:lstStyle/>
                    <a:p>
                      <a:r>
                        <a:rPr lang="tr-TR" dirty="0">
                          <a:latin typeface="Times New Roman" panose="02020603050405020304" pitchFamily="18" charset="0"/>
                          <a:cs typeface="Times New Roman" panose="02020603050405020304" pitchFamily="18" charset="0"/>
                        </a:rPr>
                        <a:t>Boş (</a:t>
                      </a:r>
                      <a:r>
                        <a:rPr lang="tr-TR" dirty="0" err="1">
                          <a:latin typeface="Times New Roman" panose="02020603050405020304" pitchFamily="18" charset="0"/>
                          <a:cs typeface="Times New Roman" panose="02020603050405020304" pitchFamily="18" charset="0"/>
                        </a:rPr>
                        <a:t>nullable</a:t>
                      </a:r>
                      <a:r>
                        <a:rPr lang="tr-TR" dirty="0">
                          <a:latin typeface="Times New Roman" panose="02020603050405020304" pitchFamily="18" charset="0"/>
                          <a:cs typeface="Times New Roman" panose="02020603050405020304" pitchFamily="18" charset="0"/>
                        </a:rPr>
                        <a:t>) türler</a:t>
                      </a:r>
                    </a:p>
                  </a:txBody>
                  <a:tcPr/>
                </a:tc>
                <a:tc>
                  <a:txBody>
                    <a:bodyPr/>
                    <a:lstStyle/>
                    <a:p>
                      <a:r>
                        <a:rPr lang="tr-TR" dirty="0" err="1">
                          <a:latin typeface="Times New Roman" panose="02020603050405020304" pitchFamily="18" charset="0"/>
                          <a:cs typeface="Times New Roman" panose="02020603050405020304" pitchFamily="18" charset="0"/>
                        </a:rPr>
                        <a:t>null</a:t>
                      </a:r>
                      <a:endParaRPr lang="tr-TR"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2779150"/>
                  </a:ext>
                </a:extLst>
              </a:tr>
            </a:tbl>
          </a:graphicData>
        </a:graphic>
      </p:graphicFrame>
    </p:spTree>
    <p:extLst>
      <p:ext uri="{BB962C8B-B14F-4D97-AF65-F5344CB8AC3E}">
        <p14:creationId xmlns:p14="http://schemas.microsoft.com/office/powerpoint/2010/main" val="3350749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Değişken Tanımlama ve Başlatma</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C# değişken </a:t>
            </a:r>
            <a:r>
              <a:rPr lang="tr-TR" sz="2400" dirty="0" err="1">
                <a:solidFill>
                  <a:schemeClr val="tx1"/>
                </a:solidFill>
                <a:latin typeface="Times New Roman" panose="02020603050405020304" pitchFamily="18" charset="0"/>
                <a:cs typeface="Times New Roman" panose="02020603050405020304" pitchFamily="18" charset="0"/>
              </a:rPr>
              <a:t>tanımlası</a:t>
            </a:r>
            <a:r>
              <a:rPr lang="tr-TR" sz="2400" dirty="0">
                <a:solidFill>
                  <a:schemeClr val="tx1"/>
                </a:solidFill>
                <a:latin typeface="Times New Roman" panose="02020603050405020304" pitchFamily="18" charset="0"/>
                <a:cs typeface="Times New Roman" panose="02020603050405020304" pitchFamily="18" charset="0"/>
              </a:rPr>
              <a:t> aşağıdaki gibi yapılır: </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&lt;</a:t>
            </a:r>
            <a:r>
              <a:rPr lang="tr-TR" sz="2400" dirty="0" err="1">
                <a:solidFill>
                  <a:schemeClr val="tx1"/>
                </a:solidFill>
                <a:latin typeface="Times New Roman" panose="02020603050405020304" pitchFamily="18" charset="0"/>
                <a:cs typeface="Times New Roman" panose="02020603050405020304" pitchFamily="18" charset="0"/>
              </a:rPr>
              <a:t>veri_tipi</a:t>
            </a:r>
            <a:r>
              <a:rPr lang="tr-TR" sz="2400" dirty="0">
                <a:solidFill>
                  <a:schemeClr val="tx1"/>
                </a:solidFill>
                <a:latin typeface="Times New Roman" panose="02020603050405020304" pitchFamily="18" charset="0"/>
                <a:cs typeface="Times New Roman" panose="02020603050405020304" pitchFamily="18" charset="0"/>
              </a:rPr>
              <a:t>&gt; &lt;</a:t>
            </a:r>
            <a:r>
              <a:rPr lang="tr-TR" sz="2400" dirty="0" err="1">
                <a:solidFill>
                  <a:schemeClr val="tx1"/>
                </a:solidFill>
                <a:latin typeface="Times New Roman" panose="02020603050405020304" pitchFamily="18" charset="0"/>
                <a:cs typeface="Times New Roman" panose="02020603050405020304" pitchFamily="18" charset="0"/>
              </a:rPr>
              <a:t>değişken_listesi</a:t>
            </a:r>
            <a:r>
              <a:rPr lang="tr-TR" sz="2400" dirty="0">
                <a:solidFill>
                  <a:schemeClr val="tx1"/>
                </a:solidFill>
                <a:latin typeface="Times New Roman" panose="02020603050405020304" pitchFamily="18" charset="0"/>
                <a:cs typeface="Times New Roman" panose="02020603050405020304" pitchFamily="18" charset="0"/>
              </a:rPr>
              <a:t>&gt;</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Burada &lt;</a:t>
            </a:r>
            <a:r>
              <a:rPr lang="tr-TR" sz="2400" dirty="0" err="1">
                <a:solidFill>
                  <a:schemeClr val="tx1"/>
                </a:solidFill>
                <a:latin typeface="Times New Roman" panose="02020603050405020304" pitchFamily="18" charset="0"/>
                <a:cs typeface="Times New Roman" panose="02020603050405020304" pitchFamily="18" charset="0"/>
              </a:rPr>
              <a:t>veri_tipi</a:t>
            </a:r>
            <a:r>
              <a:rPr lang="tr-TR" sz="2400" dirty="0">
                <a:solidFill>
                  <a:schemeClr val="tx1"/>
                </a:solidFill>
                <a:latin typeface="Times New Roman" panose="02020603050405020304" pitchFamily="18" charset="0"/>
                <a:cs typeface="Times New Roman" panose="02020603050405020304" pitchFamily="18" charset="0"/>
              </a:rPr>
              <a:t>&gt;, C# için geçerli olan bir veri tipini; &lt;</a:t>
            </a:r>
            <a:r>
              <a:rPr lang="tr-TR" sz="2400" dirty="0" err="1">
                <a:solidFill>
                  <a:schemeClr val="tx1"/>
                </a:solidFill>
                <a:latin typeface="Times New Roman" panose="02020603050405020304" pitchFamily="18" charset="0"/>
                <a:cs typeface="Times New Roman" panose="02020603050405020304" pitchFamily="18" charset="0"/>
              </a:rPr>
              <a:t>değişken_listesi</a:t>
            </a:r>
            <a:r>
              <a:rPr lang="tr-TR" sz="2400" dirty="0">
                <a:solidFill>
                  <a:schemeClr val="tx1"/>
                </a:solidFill>
                <a:latin typeface="Times New Roman" panose="02020603050405020304" pitchFamily="18" charset="0"/>
                <a:cs typeface="Times New Roman" panose="02020603050405020304" pitchFamily="18" charset="0"/>
              </a:rPr>
              <a:t>&gt; ise virgülle ayrılmış birden fazla değişkeni gösterir. Örneğin;</a:t>
            </a:r>
          </a:p>
          <a:p>
            <a:pPr marL="384048" lvl="2" indent="0" algn="just">
              <a:lnSpc>
                <a:spcPct val="100000"/>
              </a:lnSpc>
              <a:buNone/>
            </a:pPr>
            <a:r>
              <a:rPr lang="en-US" sz="1800" dirty="0">
                <a:solidFill>
                  <a:schemeClr val="tx1"/>
                </a:solidFill>
                <a:latin typeface="Consolas" panose="020B0609020204030204" pitchFamily="49" charset="0"/>
                <a:cs typeface="Times New Roman" panose="02020603050405020304" pitchFamily="18" charset="0"/>
              </a:rPr>
              <a:t>int </a:t>
            </a:r>
            <a:r>
              <a:rPr lang="en-US" sz="1800" dirty="0" err="1">
                <a:solidFill>
                  <a:schemeClr val="tx1"/>
                </a:solidFill>
                <a:latin typeface="Consolas" panose="020B0609020204030204" pitchFamily="49" charset="0"/>
                <a:cs typeface="Times New Roman" panose="02020603050405020304" pitchFamily="18" charset="0"/>
              </a:rPr>
              <a:t>i</a:t>
            </a:r>
            <a:r>
              <a:rPr lang="en-US" sz="1800" dirty="0">
                <a:solidFill>
                  <a:schemeClr val="tx1"/>
                </a:solidFill>
                <a:latin typeface="Consolas" panose="020B0609020204030204" pitchFamily="49" charset="0"/>
                <a:cs typeface="Times New Roman" panose="02020603050405020304" pitchFamily="18" charset="0"/>
              </a:rPr>
              <a:t>, j, k;</a:t>
            </a:r>
          </a:p>
          <a:p>
            <a:pPr marL="384048" lvl="2" indent="0" algn="just">
              <a:lnSpc>
                <a:spcPct val="100000"/>
              </a:lnSpc>
              <a:buNone/>
            </a:pPr>
            <a:r>
              <a:rPr lang="en-US" sz="1800" dirty="0">
                <a:solidFill>
                  <a:schemeClr val="tx1"/>
                </a:solidFill>
                <a:latin typeface="Consolas" panose="020B0609020204030204" pitchFamily="49" charset="0"/>
                <a:cs typeface="Times New Roman" panose="02020603050405020304" pitchFamily="18" charset="0"/>
              </a:rPr>
              <a:t>char c, </a:t>
            </a:r>
            <a:r>
              <a:rPr lang="en-US" sz="1800" dirty="0" err="1">
                <a:solidFill>
                  <a:schemeClr val="tx1"/>
                </a:solidFill>
                <a:latin typeface="Consolas" panose="020B0609020204030204" pitchFamily="49" charset="0"/>
                <a:cs typeface="Times New Roman" panose="02020603050405020304" pitchFamily="18" charset="0"/>
              </a:rPr>
              <a:t>ch</a:t>
            </a:r>
            <a:r>
              <a:rPr lang="en-US" sz="1800" dirty="0">
                <a:solidFill>
                  <a:schemeClr val="tx1"/>
                </a:solidFill>
                <a:latin typeface="Consolas" panose="020B0609020204030204" pitchFamily="49" charset="0"/>
                <a:cs typeface="Times New Roman" panose="02020603050405020304" pitchFamily="18" charset="0"/>
              </a:rPr>
              <a:t>;</a:t>
            </a:r>
          </a:p>
          <a:p>
            <a:pPr marL="384048" lvl="2" indent="0" algn="just">
              <a:lnSpc>
                <a:spcPct val="100000"/>
              </a:lnSpc>
              <a:buNone/>
            </a:pPr>
            <a:r>
              <a:rPr lang="en-US" sz="1800" dirty="0">
                <a:solidFill>
                  <a:schemeClr val="tx1"/>
                </a:solidFill>
                <a:latin typeface="Consolas" panose="020B0609020204030204" pitchFamily="49" charset="0"/>
                <a:cs typeface="Times New Roman" panose="02020603050405020304" pitchFamily="18" charset="0"/>
              </a:rPr>
              <a:t>float f</a:t>
            </a:r>
            <a:r>
              <a:rPr lang="tr-TR" sz="1800" dirty="0">
                <a:solidFill>
                  <a:schemeClr val="tx1"/>
                </a:solidFill>
                <a:latin typeface="Consolas" panose="020B0609020204030204" pitchFamily="49" charset="0"/>
                <a:cs typeface="Times New Roman" panose="02020603050405020304" pitchFamily="18" charset="0"/>
              </a:rPr>
              <a:t> </a:t>
            </a:r>
            <a:r>
              <a:rPr lang="en-US" sz="1800" dirty="0">
                <a:solidFill>
                  <a:schemeClr val="tx1"/>
                </a:solidFill>
                <a:latin typeface="Consolas" panose="020B0609020204030204" pitchFamily="49" charset="0"/>
                <a:cs typeface="Times New Roman" panose="02020603050405020304" pitchFamily="18" charset="0"/>
              </a:rPr>
              <a:t>;</a:t>
            </a:r>
          </a:p>
          <a:p>
            <a:pPr marL="384048" lvl="2" indent="0" algn="just">
              <a:lnSpc>
                <a:spcPct val="100000"/>
              </a:lnSpc>
              <a:buNone/>
            </a:pPr>
            <a:r>
              <a:rPr lang="en-US" sz="1800" dirty="0">
                <a:solidFill>
                  <a:schemeClr val="tx1"/>
                </a:solidFill>
                <a:latin typeface="Consolas" panose="020B0609020204030204" pitchFamily="49" charset="0"/>
                <a:cs typeface="Times New Roman" panose="02020603050405020304" pitchFamily="18" charset="0"/>
              </a:rPr>
              <a:t>double d;</a:t>
            </a:r>
            <a:endParaRPr lang="tr-TR" sz="1800" dirty="0">
              <a:solidFill>
                <a:schemeClr val="tx1"/>
              </a:solidFill>
              <a:latin typeface="Consolas" panose="020B0609020204030204" pitchFamily="49" charset="0"/>
              <a:cs typeface="Times New Roman" panose="02020603050405020304" pitchFamily="18" charset="0"/>
            </a:endParaRPr>
          </a:p>
          <a:p>
            <a:pPr marL="201168" lvl="1" indent="0" algn="just">
              <a:lnSpc>
                <a:spcPct val="100000"/>
              </a:lnSpc>
              <a:buNone/>
            </a:pPr>
            <a:r>
              <a:rPr lang="tr-TR" sz="2400" dirty="0">
                <a:solidFill>
                  <a:schemeClr val="tx1"/>
                </a:solidFill>
                <a:latin typeface="Times New Roman" panose="02020603050405020304" pitchFamily="18" charset="0"/>
                <a:cs typeface="Times New Roman" panose="02020603050405020304" pitchFamily="18" charset="0"/>
              </a:rPr>
              <a:t>Değişkenler tanımlama anında başlatılabilir. (</a:t>
            </a:r>
            <a:r>
              <a:rPr lang="tr-TR" sz="2400" dirty="0" err="1">
                <a:solidFill>
                  <a:schemeClr val="tx1"/>
                </a:solidFill>
                <a:latin typeface="Times New Roman" panose="02020603050405020304" pitchFamily="18" charset="0"/>
                <a:cs typeface="Times New Roman" panose="02020603050405020304" pitchFamily="18" charset="0"/>
              </a:rPr>
              <a:t>int</a:t>
            </a:r>
            <a:r>
              <a:rPr lang="tr-TR" sz="2400" dirty="0">
                <a:solidFill>
                  <a:schemeClr val="tx1"/>
                </a:solidFill>
                <a:latin typeface="Times New Roman" panose="02020603050405020304" pitchFamily="18" charset="0"/>
                <a:cs typeface="Times New Roman" panose="02020603050405020304" pitchFamily="18" charset="0"/>
              </a:rPr>
              <a:t> i=100 gibi)</a:t>
            </a:r>
          </a:p>
          <a:p>
            <a:pPr marL="384048" lvl="2" indent="0" algn="just">
              <a:lnSpc>
                <a:spcPct val="100000"/>
              </a:lnSpc>
              <a:buNone/>
            </a:pPr>
            <a:r>
              <a:rPr lang="en-US" dirty="0">
                <a:solidFill>
                  <a:schemeClr val="tx1"/>
                </a:solidFill>
                <a:latin typeface="Consolas" panose="020B0609020204030204" pitchFamily="49" charset="0"/>
                <a:cs typeface="Times New Roman" panose="02020603050405020304" pitchFamily="18" charset="0"/>
              </a:rPr>
              <a:t>int d = 3, f = 5;    /* initializing d and f. */</a:t>
            </a:r>
          </a:p>
          <a:p>
            <a:pPr marL="384048" lvl="2" indent="0" algn="just">
              <a:lnSpc>
                <a:spcPct val="100000"/>
              </a:lnSpc>
              <a:buNone/>
            </a:pPr>
            <a:r>
              <a:rPr lang="en-US" dirty="0">
                <a:solidFill>
                  <a:schemeClr val="tx1"/>
                </a:solidFill>
                <a:latin typeface="Consolas" panose="020B0609020204030204" pitchFamily="49" charset="0"/>
                <a:cs typeface="Times New Roman" panose="02020603050405020304" pitchFamily="18" charset="0"/>
              </a:rPr>
              <a:t>byte z = 22;         /* initializes z. */</a:t>
            </a:r>
          </a:p>
          <a:p>
            <a:pPr marL="384048" lvl="2" indent="0" algn="just">
              <a:lnSpc>
                <a:spcPct val="100000"/>
              </a:lnSpc>
              <a:buNone/>
            </a:pPr>
            <a:r>
              <a:rPr lang="en-US" dirty="0">
                <a:solidFill>
                  <a:schemeClr val="tx1"/>
                </a:solidFill>
                <a:latin typeface="Consolas" panose="020B0609020204030204" pitchFamily="49" charset="0"/>
                <a:cs typeface="Times New Roman" panose="02020603050405020304" pitchFamily="18" charset="0"/>
              </a:rPr>
              <a:t>double pi = 3.14159; /* declares an approximation of pi. */</a:t>
            </a:r>
          </a:p>
          <a:p>
            <a:pPr marL="384048" lvl="2" indent="0" algn="just">
              <a:lnSpc>
                <a:spcPct val="100000"/>
              </a:lnSpc>
              <a:buNone/>
            </a:pPr>
            <a:r>
              <a:rPr lang="en-US" dirty="0">
                <a:solidFill>
                  <a:schemeClr val="tx1"/>
                </a:solidFill>
                <a:latin typeface="Consolas" panose="020B0609020204030204" pitchFamily="49" charset="0"/>
                <a:cs typeface="Times New Roman" panose="02020603050405020304" pitchFamily="18" charset="0"/>
              </a:rPr>
              <a:t>char x = 'x';        /* the variable x has the value 'x'. */</a:t>
            </a:r>
            <a:endParaRPr lang="tr-TR" dirty="0">
              <a:solidFill>
                <a:schemeClr val="tx1"/>
              </a:solidFill>
              <a:latin typeface="Consolas" panose="020B0609020204030204" pitchFamily="49" charset="0"/>
              <a:cs typeface="Times New Roman" panose="02020603050405020304" pitchFamily="18" charset="0"/>
            </a:endParaRPr>
          </a:p>
          <a:p>
            <a:pPr marL="384048" lvl="2" indent="0" algn="just">
              <a:lnSpc>
                <a:spcPct val="100000"/>
              </a:lnSpc>
              <a:buNone/>
            </a:pPr>
            <a:endParaRPr lang="tr-TR" sz="1800" dirty="0">
              <a:solidFill>
                <a:schemeClr val="tx1"/>
              </a:solidFill>
              <a:latin typeface="Consolas" panose="020B0609020204030204" pitchFamily="49" charset="0"/>
              <a:cs typeface="Times New Roman" panose="02020603050405020304" pitchFamily="18" charset="0"/>
            </a:endParaRP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65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Değişken Tanımlama ve Başlatma</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Örnek: Çeşitli değişken türlerini başlatan bir örnek. </a:t>
            </a: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pic>
        <p:nvPicPr>
          <p:cNvPr id="2" name="Resim 1">
            <a:extLst>
              <a:ext uri="{FF2B5EF4-FFF2-40B4-BE49-F238E27FC236}">
                <a16:creationId xmlns:a16="http://schemas.microsoft.com/office/drawing/2014/main" id="{39081F00-C0DB-435A-84FE-8FC8C2A0ECFA}"/>
              </a:ext>
            </a:extLst>
          </p:cNvPr>
          <p:cNvPicPr>
            <a:picLocks noChangeAspect="1"/>
          </p:cNvPicPr>
          <p:nvPr/>
        </p:nvPicPr>
        <p:blipFill>
          <a:blip r:embed="rId2"/>
          <a:stretch>
            <a:fillRect/>
          </a:stretch>
        </p:blipFill>
        <p:spPr>
          <a:xfrm>
            <a:off x="114300" y="1114504"/>
            <a:ext cx="6956920" cy="3685785"/>
          </a:xfrm>
          <a:prstGeom prst="rect">
            <a:avLst/>
          </a:prstGeom>
        </p:spPr>
      </p:pic>
      <p:sp>
        <p:nvSpPr>
          <p:cNvPr id="6" name="Metin kutusu 5">
            <a:extLst>
              <a:ext uri="{FF2B5EF4-FFF2-40B4-BE49-F238E27FC236}">
                <a16:creationId xmlns:a16="http://schemas.microsoft.com/office/drawing/2014/main" id="{8605C868-426B-4A78-8A27-907E3505E61B}"/>
              </a:ext>
            </a:extLst>
          </p:cNvPr>
          <p:cNvSpPr txBox="1"/>
          <p:nvPr/>
        </p:nvSpPr>
        <p:spPr>
          <a:xfrm>
            <a:off x="4713790" y="1377916"/>
            <a:ext cx="2173146" cy="369332"/>
          </a:xfrm>
          <a:prstGeom prst="rect">
            <a:avLst/>
          </a:prstGeom>
          <a:solidFill>
            <a:schemeClr val="bg2"/>
          </a:solidFill>
        </p:spPr>
        <p:txBody>
          <a:bodyPr wrap="square">
            <a:spAutoFit/>
          </a:bodyPr>
          <a:lstStyle/>
          <a:p>
            <a:r>
              <a:rPr lang="tr-TR" dirty="0"/>
              <a:t>a = 10, b = 20, c = 30</a:t>
            </a:r>
          </a:p>
        </p:txBody>
      </p:sp>
      <p:sp>
        <p:nvSpPr>
          <p:cNvPr id="8" name="Metin kutusu 7">
            <a:extLst>
              <a:ext uri="{FF2B5EF4-FFF2-40B4-BE49-F238E27FC236}">
                <a16:creationId xmlns:a16="http://schemas.microsoft.com/office/drawing/2014/main" id="{88EDAF75-D445-42F0-8B1A-4B2731AACFF1}"/>
              </a:ext>
            </a:extLst>
          </p:cNvPr>
          <p:cNvSpPr txBox="1"/>
          <p:nvPr/>
        </p:nvSpPr>
        <p:spPr>
          <a:xfrm>
            <a:off x="7071220" y="1106134"/>
            <a:ext cx="5006480" cy="3139321"/>
          </a:xfrm>
          <a:prstGeom prst="rect">
            <a:avLst/>
          </a:prstGeom>
          <a:noFill/>
        </p:spPr>
        <p:txBody>
          <a:bodyPr wrap="square">
            <a:spAutoFit/>
          </a:bodyPr>
          <a:lstStyle/>
          <a:p>
            <a:pPr algn="just">
              <a:lnSpc>
                <a:spcPct val="100000"/>
              </a:lnSpc>
            </a:pPr>
            <a:r>
              <a:rPr lang="tr-TR" sz="1800" b="1" dirty="0">
                <a:solidFill>
                  <a:schemeClr val="tx1"/>
                </a:solidFill>
                <a:latin typeface="Times New Roman" panose="02020603050405020304" pitchFamily="18" charset="0"/>
                <a:cs typeface="Times New Roman" panose="02020603050405020304" pitchFamily="18" charset="0"/>
              </a:rPr>
              <a:t>Console</a:t>
            </a:r>
            <a:r>
              <a:rPr lang="tr-TR" sz="1800" dirty="0">
                <a:solidFill>
                  <a:schemeClr val="tx1"/>
                </a:solidFill>
                <a:latin typeface="Times New Roman" panose="02020603050405020304" pitchFamily="18" charset="0"/>
                <a:cs typeface="Times New Roman" panose="02020603050405020304" pitchFamily="18" charset="0"/>
              </a:rPr>
              <a:t> sınıfı </a:t>
            </a:r>
            <a:r>
              <a:rPr lang="tr-TR" sz="1800" b="1" dirty="0" err="1">
                <a:solidFill>
                  <a:schemeClr val="tx1"/>
                </a:solidFill>
                <a:latin typeface="Times New Roman" panose="02020603050405020304" pitchFamily="18" charset="0"/>
                <a:cs typeface="Times New Roman" panose="02020603050405020304" pitchFamily="18" charset="0"/>
              </a:rPr>
              <a:t>System</a:t>
            </a:r>
            <a:r>
              <a:rPr lang="tr-TR" sz="1800" dirty="0">
                <a:solidFill>
                  <a:schemeClr val="tx1"/>
                </a:solidFill>
                <a:latin typeface="Times New Roman" panose="02020603050405020304" pitchFamily="18" charset="0"/>
                <a:cs typeface="Times New Roman" panose="02020603050405020304" pitchFamily="18" charset="0"/>
              </a:rPr>
              <a:t> </a:t>
            </a:r>
            <a:r>
              <a:rPr lang="tr-TR" sz="1800" dirty="0" err="1">
                <a:solidFill>
                  <a:schemeClr val="tx1"/>
                </a:solidFill>
                <a:latin typeface="Times New Roman" panose="02020603050405020304" pitchFamily="18" charset="0"/>
                <a:cs typeface="Times New Roman" panose="02020603050405020304" pitchFamily="18" charset="0"/>
              </a:rPr>
              <a:t>namespace</a:t>
            </a:r>
            <a:r>
              <a:rPr lang="tr-TR" sz="1800" dirty="0">
                <a:solidFill>
                  <a:schemeClr val="tx1"/>
                </a:solidFill>
                <a:latin typeface="Times New Roman" panose="02020603050405020304" pitchFamily="18" charset="0"/>
                <a:cs typeface="Times New Roman" panose="02020603050405020304" pitchFamily="18" charset="0"/>
              </a:rPr>
              <a:t> altındadır. </a:t>
            </a:r>
          </a:p>
          <a:p>
            <a:pPr algn="just">
              <a:lnSpc>
                <a:spcPct val="100000"/>
              </a:lnSpc>
            </a:pPr>
            <a:endParaRPr lang="tr-TR" dirty="0">
              <a:latin typeface="Times New Roman" panose="02020603050405020304" pitchFamily="18" charset="0"/>
              <a:cs typeface="Times New Roman" panose="02020603050405020304" pitchFamily="18" charset="0"/>
            </a:endParaRPr>
          </a:p>
          <a:p>
            <a:pPr algn="just">
              <a:lnSpc>
                <a:spcPct val="100000"/>
              </a:lnSpc>
            </a:pPr>
            <a:r>
              <a:rPr lang="tr-TR" dirty="0">
                <a:latin typeface="Times New Roman" panose="02020603050405020304" pitchFamily="18" charset="0"/>
                <a:cs typeface="Times New Roman" panose="02020603050405020304" pitchFamily="18" charset="0"/>
              </a:rPr>
              <a:t>Sırasıyla ekrana yazma ve kullanıcıdan girdi alma işlemlerini gerçekleştiren </a:t>
            </a:r>
            <a:r>
              <a:rPr lang="tr-TR" b="1" dirty="0" err="1">
                <a:solidFill>
                  <a:srgbClr val="7030A0"/>
                </a:solidFill>
                <a:latin typeface="Times New Roman" panose="02020603050405020304" pitchFamily="18" charset="0"/>
                <a:cs typeface="Times New Roman" panose="02020603050405020304" pitchFamily="18" charset="0"/>
              </a:rPr>
              <a:t>WriteLine</a:t>
            </a:r>
            <a:r>
              <a:rPr lang="tr-TR" b="1" dirty="0">
                <a:solidFill>
                  <a:srgbClr val="7030A0"/>
                </a:solidFill>
                <a:latin typeface="Times New Roman" panose="02020603050405020304" pitchFamily="18" charset="0"/>
                <a:cs typeface="Times New Roman" panose="02020603050405020304" pitchFamily="18" charset="0"/>
              </a:rPr>
              <a:t>()</a:t>
            </a:r>
            <a:r>
              <a:rPr lang="tr-TR" dirty="0">
                <a:latin typeface="Times New Roman" panose="02020603050405020304" pitchFamily="18" charset="0"/>
                <a:cs typeface="Times New Roman" panose="02020603050405020304" pitchFamily="18" charset="0"/>
              </a:rPr>
              <a:t> ve </a:t>
            </a:r>
            <a:r>
              <a:rPr lang="tr-TR" b="1" dirty="0" err="1">
                <a:solidFill>
                  <a:srgbClr val="7030A0"/>
                </a:solidFill>
                <a:latin typeface="Times New Roman" panose="02020603050405020304" pitchFamily="18" charset="0"/>
                <a:cs typeface="Times New Roman" panose="02020603050405020304" pitchFamily="18" charset="0"/>
              </a:rPr>
              <a:t>ReadLine</a:t>
            </a:r>
            <a:r>
              <a:rPr lang="tr-TR" b="1" dirty="0">
                <a:solidFill>
                  <a:srgbClr val="7030A0"/>
                </a:solidFill>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fonksiyonlarını sağlarlar. </a:t>
            </a:r>
            <a:r>
              <a:rPr lang="tr-TR" sz="1800" dirty="0">
                <a:solidFill>
                  <a:schemeClr val="tx1"/>
                </a:solidFill>
                <a:latin typeface="Times New Roman" panose="02020603050405020304" pitchFamily="18" charset="0"/>
                <a:cs typeface="Times New Roman" panose="02020603050405020304" pitchFamily="18" charset="0"/>
              </a:rPr>
              <a:t> </a:t>
            </a:r>
          </a:p>
          <a:p>
            <a:pPr algn="just">
              <a:lnSpc>
                <a:spcPct val="100000"/>
              </a:lnSpc>
            </a:pPr>
            <a:endParaRPr lang="tr-TR" dirty="0">
              <a:latin typeface="Times New Roman" panose="02020603050405020304" pitchFamily="18" charset="0"/>
              <a:cs typeface="Times New Roman" panose="02020603050405020304" pitchFamily="18" charset="0"/>
            </a:endParaRPr>
          </a:p>
          <a:p>
            <a:pPr algn="just">
              <a:lnSpc>
                <a:spcPct val="100000"/>
              </a:lnSpc>
            </a:pPr>
            <a:r>
              <a:rPr lang="tr-TR" sz="1800" b="1" dirty="0" err="1">
                <a:solidFill>
                  <a:srgbClr val="002060"/>
                </a:solidFill>
                <a:latin typeface="Times New Roman" panose="02020603050405020304" pitchFamily="18" charset="0"/>
                <a:cs typeface="Times New Roman" panose="02020603050405020304" pitchFamily="18" charset="0"/>
              </a:rPr>
              <a:t>Console.Readline</a:t>
            </a:r>
            <a:r>
              <a:rPr lang="tr-TR" sz="1800" b="1" dirty="0">
                <a:solidFill>
                  <a:srgbClr val="002060"/>
                </a:solidFill>
                <a:latin typeface="Times New Roman" panose="02020603050405020304" pitchFamily="18" charset="0"/>
                <a:cs typeface="Times New Roman" panose="02020603050405020304" pitchFamily="18" charset="0"/>
              </a:rPr>
              <a:t>() </a:t>
            </a:r>
            <a:r>
              <a:rPr lang="tr-TR" sz="1800" dirty="0">
                <a:solidFill>
                  <a:schemeClr val="tx1"/>
                </a:solidFill>
                <a:latin typeface="Times New Roman" panose="02020603050405020304" pitchFamily="18" charset="0"/>
                <a:cs typeface="Times New Roman" panose="02020603050405020304" pitchFamily="18" charset="0"/>
              </a:rPr>
              <a:t>verileri </a:t>
            </a:r>
            <a:r>
              <a:rPr lang="tr-TR" sz="1800" dirty="0" err="1">
                <a:solidFill>
                  <a:schemeClr val="tx1"/>
                </a:solidFill>
                <a:latin typeface="Times New Roman" panose="02020603050405020304" pitchFamily="18" charset="0"/>
                <a:cs typeface="Times New Roman" panose="02020603050405020304" pitchFamily="18" charset="0"/>
              </a:rPr>
              <a:t>string</a:t>
            </a:r>
            <a:r>
              <a:rPr lang="tr-TR" sz="1800" dirty="0">
                <a:solidFill>
                  <a:schemeClr val="tx1"/>
                </a:solidFill>
                <a:latin typeface="Times New Roman" panose="02020603050405020304" pitchFamily="18" charset="0"/>
                <a:cs typeface="Times New Roman" panose="02020603050405020304" pitchFamily="18" charset="0"/>
              </a:rPr>
              <a:t> olarak kabul eder. </a:t>
            </a:r>
          </a:p>
          <a:p>
            <a:pPr algn="just">
              <a:lnSpc>
                <a:spcPct val="100000"/>
              </a:lnSpc>
            </a:pPr>
            <a:endParaRPr lang="tr-TR" dirty="0">
              <a:latin typeface="Times New Roman" panose="02020603050405020304" pitchFamily="18" charset="0"/>
              <a:cs typeface="Times New Roman" panose="02020603050405020304" pitchFamily="18" charset="0"/>
            </a:endParaRPr>
          </a:p>
          <a:p>
            <a:pPr algn="just">
              <a:lnSpc>
                <a:spcPct val="100000"/>
              </a:lnSpc>
            </a:pPr>
            <a:endParaRPr lang="tr-TR" dirty="0">
              <a:latin typeface="Times New Roman" panose="02020603050405020304" pitchFamily="18" charset="0"/>
              <a:cs typeface="Times New Roman" panose="02020603050405020304" pitchFamily="18" charset="0"/>
            </a:endParaRPr>
          </a:p>
          <a:p>
            <a:pPr algn="just">
              <a:lnSpc>
                <a:spcPct val="100000"/>
              </a:lnSpc>
            </a:pPr>
            <a:endParaRPr lang="tr-TR"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5173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Sabitler ve Değişmezler (</a:t>
            </a:r>
            <a:r>
              <a:rPr lang="tr-TR" sz="3000" b="1" dirty="0" err="1">
                <a:solidFill>
                  <a:schemeClr val="tx1"/>
                </a:solidFill>
                <a:latin typeface="Times New Roman" panose="02020603050405020304" pitchFamily="18" charset="0"/>
                <a:cs typeface="Times New Roman" panose="02020603050405020304" pitchFamily="18" charset="0"/>
              </a:rPr>
              <a:t>Constants</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and</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Literals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Sabitler, programın yürütülmesi sırasında değiştiremeyeceği sabit değerleri ifade eder. </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Bu sabit değerlere değişmez (</a:t>
            </a:r>
            <a:r>
              <a:rPr lang="tr-TR" sz="2400" dirty="0" err="1">
                <a:solidFill>
                  <a:schemeClr val="tx1"/>
                </a:solidFill>
                <a:latin typeface="Times New Roman" panose="02020603050405020304" pitchFamily="18" charset="0"/>
                <a:cs typeface="Times New Roman" panose="02020603050405020304" pitchFamily="18" charset="0"/>
              </a:rPr>
              <a:t>literal</a:t>
            </a:r>
            <a:r>
              <a:rPr lang="tr-TR" sz="2400" dirty="0">
                <a:solidFill>
                  <a:schemeClr val="tx1"/>
                </a:solidFill>
                <a:latin typeface="Times New Roman" panose="02020603050405020304" pitchFamily="18" charset="0"/>
                <a:cs typeface="Times New Roman" panose="02020603050405020304" pitchFamily="18" charset="0"/>
              </a:rPr>
              <a:t>) değerler de denir. </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Sabitler, tamsayı sabiti, kayan sabit, karakter sabiti veya dize değişmezi gibi temel veri türlerinden herhangi biri olabilir. Ayrıca numaralandırma (</a:t>
            </a:r>
            <a:r>
              <a:rPr lang="tr-TR" sz="2400" dirty="0" err="1">
                <a:solidFill>
                  <a:schemeClr val="tx1"/>
                </a:solidFill>
                <a:latin typeface="Times New Roman" panose="02020603050405020304" pitchFamily="18" charset="0"/>
                <a:cs typeface="Times New Roman" panose="02020603050405020304" pitchFamily="18" charset="0"/>
              </a:rPr>
              <a:t>enum</a:t>
            </a:r>
            <a:r>
              <a:rPr lang="tr-TR" sz="2400" dirty="0">
                <a:solidFill>
                  <a:schemeClr val="tx1"/>
                </a:solidFill>
                <a:latin typeface="Times New Roman" panose="02020603050405020304" pitchFamily="18" charset="0"/>
                <a:cs typeface="Times New Roman" panose="02020603050405020304" pitchFamily="18" charset="0"/>
              </a:rPr>
              <a:t>) sabitleri de vardır.</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Sabitler, tanımlamalarından sonra değerlerinin değiştirilememesi dışında normal değişkenler gibi ele alınır.  </a:t>
            </a:r>
          </a:p>
          <a:p>
            <a:pPr algn="just">
              <a:lnSpc>
                <a:spcPct val="100000"/>
              </a:lnSpc>
            </a:pPr>
            <a:r>
              <a:rPr lang="tr-TR" sz="2400" b="1" i="1" dirty="0">
                <a:solidFill>
                  <a:schemeClr val="tx1"/>
                </a:solidFill>
                <a:latin typeface="Times New Roman" panose="02020603050405020304" pitchFamily="18" charset="0"/>
                <a:cs typeface="Times New Roman" panose="02020603050405020304" pitchFamily="18" charset="0"/>
              </a:rPr>
              <a:t>Sabitlerin Tanımlanması</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Sabitler </a:t>
            </a:r>
            <a:r>
              <a:rPr lang="tr-TR" sz="2400" b="1" dirty="0" err="1">
                <a:solidFill>
                  <a:schemeClr val="tx1"/>
                </a:solidFill>
                <a:latin typeface="Times New Roman" panose="02020603050405020304" pitchFamily="18" charset="0"/>
                <a:cs typeface="Times New Roman" panose="02020603050405020304" pitchFamily="18" charset="0"/>
              </a:rPr>
              <a:t>const</a:t>
            </a:r>
            <a:r>
              <a:rPr lang="tr-TR" sz="2400" dirty="0">
                <a:solidFill>
                  <a:schemeClr val="tx1"/>
                </a:solidFill>
                <a:latin typeface="Times New Roman" panose="02020603050405020304" pitchFamily="18" charset="0"/>
                <a:cs typeface="Times New Roman" panose="02020603050405020304" pitchFamily="18" charset="0"/>
              </a:rPr>
              <a:t> anahtar kelimesi ile aşağıdaki gibi tanımlanır: </a:t>
            </a:r>
          </a:p>
          <a:p>
            <a:pPr lvl="1" algn="just">
              <a:lnSpc>
                <a:spcPct val="100000"/>
              </a:lnSpc>
            </a:pPr>
            <a:r>
              <a:rPr lang="tr-TR" sz="1600" dirty="0" err="1">
                <a:solidFill>
                  <a:schemeClr val="tx1"/>
                </a:solidFill>
                <a:latin typeface="Consolas" panose="020B0609020204030204" pitchFamily="49" charset="0"/>
                <a:cs typeface="Times New Roman" panose="02020603050405020304" pitchFamily="18" charset="0"/>
              </a:rPr>
              <a:t>const</a:t>
            </a:r>
            <a:r>
              <a:rPr lang="tr-TR" sz="1600" dirty="0">
                <a:solidFill>
                  <a:schemeClr val="tx1"/>
                </a:solidFill>
                <a:latin typeface="Consolas" panose="020B0609020204030204" pitchFamily="49" charset="0"/>
                <a:cs typeface="Times New Roman" panose="02020603050405020304" pitchFamily="18" charset="0"/>
              </a:rPr>
              <a:t> &lt;</a:t>
            </a:r>
            <a:r>
              <a:rPr lang="tr-TR" sz="1600" dirty="0" err="1">
                <a:solidFill>
                  <a:schemeClr val="tx1"/>
                </a:solidFill>
                <a:latin typeface="Consolas" panose="020B0609020204030204" pitchFamily="49" charset="0"/>
                <a:cs typeface="Times New Roman" panose="02020603050405020304" pitchFamily="18" charset="0"/>
              </a:rPr>
              <a:t>veri_tipi</a:t>
            </a:r>
            <a:r>
              <a:rPr lang="tr-TR" sz="1600" dirty="0">
                <a:solidFill>
                  <a:schemeClr val="tx1"/>
                </a:solidFill>
                <a:latin typeface="Consolas" panose="020B0609020204030204" pitchFamily="49" charset="0"/>
                <a:cs typeface="Times New Roman" panose="02020603050405020304" pitchFamily="18" charset="0"/>
              </a:rPr>
              <a:t>&gt; &lt;</a:t>
            </a:r>
            <a:r>
              <a:rPr lang="tr-TR" sz="1600" dirty="0" err="1">
                <a:solidFill>
                  <a:schemeClr val="tx1"/>
                </a:solidFill>
                <a:latin typeface="Consolas" panose="020B0609020204030204" pitchFamily="49" charset="0"/>
                <a:cs typeface="Times New Roman" panose="02020603050405020304" pitchFamily="18" charset="0"/>
              </a:rPr>
              <a:t>sabit_ismi</a:t>
            </a:r>
            <a:r>
              <a:rPr lang="tr-TR" sz="1600" dirty="0">
                <a:solidFill>
                  <a:schemeClr val="tx1"/>
                </a:solidFill>
                <a:latin typeface="Consolas" panose="020B0609020204030204" pitchFamily="49" charset="0"/>
                <a:cs typeface="Times New Roman" panose="02020603050405020304" pitchFamily="18" charset="0"/>
              </a:rPr>
              <a:t>&gt; = değer</a:t>
            </a: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410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Sabitler ve Değişmezler (</a:t>
            </a:r>
            <a:r>
              <a:rPr lang="tr-TR" sz="3000" b="1" dirty="0" err="1">
                <a:solidFill>
                  <a:schemeClr val="tx1"/>
                </a:solidFill>
                <a:latin typeface="Times New Roman" panose="02020603050405020304" pitchFamily="18" charset="0"/>
                <a:cs typeface="Times New Roman" panose="02020603050405020304" pitchFamily="18" charset="0"/>
              </a:rPr>
              <a:t>Constants</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and</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Literals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Örnek: Sabitlerin tanımlanmasına yönelik bir örnek. </a:t>
            </a:r>
            <a:endParaRPr lang="tr-TR" sz="1600" dirty="0">
              <a:solidFill>
                <a:schemeClr val="tx1"/>
              </a:solidFill>
              <a:latin typeface="Consolas" panose="020B0609020204030204" pitchFamily="49" charset="0"/>
              <a:cs typeface="Times New Roman" panose="02020603050405020304" pitchFamily="18" charset="0"/>
            </a:endParaRP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pic>
        <p:nvPicPr>
          <p:cNvPr id="4" name="Resim 3">
            <a:extLst>
              <a:ext uri="{FF2B5EF4-FFF2-40B4-BE49-F238E27FC236}">
                <a16:creationId xmlns:a16="http://schemas.microsoft.com/office/drawing/2014/main" id="{E3EDEB7E-D994-426E-8E47-9A1EF4229E8D}"/>
              </a:ext>
            </a:extLst>
          </p:cNvPr>
          <p:cNvPicPr>
            <a:picLocks noChangeAspect="1"/>
          </p:cNvPicPr>
          <p:nvPr/>
        </p:nvPicPr>
        <p:blipFill>
          <a:blip r:embed="rId2"/>
          <a:stretch>
            <a:fillRect/>
          </a:stretch>
        </p:blipFill>
        <p:spPr>
          <a:xfrm>
            <a:off x="2357070" y="1214128"/>
            <a:ext cx="6518520" cy="5018397"/>
          </a:xfrm>
          <a:prstGeom prst="rect">
            <a:avLst/>
          </a:prstGeom>
        </p:spPr>
      </p:pic>
      <p:sp>
        <p:nvSpPr>
          <p:cNvPr id="5" name="Metin kutusu 4">
            <a:extLst>
              <a:ext uri="{FF2B5EF4-FFF2-40B4-BE49-F238E27FC236}">
                <a16:creationId xmlns:a16="http://schemas.microsoft.com/office/drawing/2014/main" id="{041DA985-4CCB-4A48-B946-7EBF95D3C53A}"/>
              </a:ext>
            </a:extLst>
          </p:cNvPr>
          <p:cNvSpPr txBox="1"/>
          <p:nvPr/>
        </p:nvSpPr>
        <p:spPr>
          <a:xfrm>
            <a:off x="6973769" y="1389845"/>
            <a:ext cx="1687009" cy="1200329"/>
          </a:xfrm>
          <a:prstGeom prst="rect">
            <a:avLst/>
          </a:prstGeom>
          <a:solidFill>
            <a:schemeClr val="bg2">
              <a:lumMod val="95000"/>
            </a:schemeClr>
          </a:solidFill>
        </p:spPr>
        <p:txBody>
          <a:bodyPr wrap="square">
            <a:spAutoFit/>
          </a:bodyPr>
          <a:lstStyle/>
          <a:p>
            <a:r>
              <a:rPr lang="tr-TR" dirty="0"/>
              <a:t>Yarıçap girin: 2</a:t>
            </a:r>
          </a:p>
          <a:p>
            <a:endParaRPr lang="tr-TR" dirty="0"/>
          </a:p>
          <a:p>
            <a:r>
              <a:rPr lang="tr-TR" dirty="0"/>
              <a:t>Yarıçap: 2</a:t>
            </a:r>
          </a:p>
          <a:p>
            <a:r>
              <a:rPr lang="tr-TR" dirty="0"/>
              <a:t>Alan: 12,56636</a:t>
            </a:r>
          </a:p>
        </p:txBody>
      </p:sp>
    </p:spTree>
    <p:extLst>
      <p:ext uri="{BB962C8B-B14F-4D97-AF65-F5344CB8AC3E}">
        <p14:creationId xmlns:p14="http://schemas.microsoft.com/office/powerpoint/2010/main" val="2647671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Operatörler</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Operatör, derleyiciye belirli matematiksel veya mantıksal işlemleri gerçekleştirmesini söyleyen bir semboldür. C#, zengin yerleşik (</a:t>
            </a:r>
            <a:r>
              <a:rPr lang="tr-TR" sz="2400" dirty="0" err="1">
                <a:solidFill>
                  <a:schemeClr val="tx1"/>
                </a:solidFill>
                <a:latin typeface="Times New Roman" panose="02020603050405020304" pitchFamily="18" charset="0"/>
                <a:cs typeface="Times New Roman" panose="02020603050405020304" pitchFamily="18" charset="0"/>
              </a:rPr>
              <a:t>built</a:t>
            </a:r>
            <a:r>
              <a:rPr lang="tr-TR" sz="2400" dirty="0">
                <a:solidFill>
                  <a:schemeClr val="tx1"/>
                </a:solidFill>
                <a:latin typeface="Times New Roman" panose="02020603050405020304" pitchFamily="18" charset="0"/>
                <a:cs typeface="Times New Roman" panose="02020603050405020304" pitchFamily="18" charset="0"/>
              </a:rPr>
              <a:t>-in) operatörlere sahiptir ve aşağıdaki operatör türlerini destekler:</a:t>
            </a: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2" name="Tablo 3">
            <a:extLst>
              <a:ext uri="{FF2B5EF4-FFF2-40B4-BE49-F238E27FC236}">
                <a16:creationId xmlns:a16="http://schemas.microsoft.com/office/drawing/2014/main" id="{D0CFCB6B-D171-492C-A559-EC690065D88A}"/>
              </a:ext>
            </a:extLst>
          </p:cNvPr>
          <p:cNvGraphicFramePr>
            <a:graphicFrameLocks noGrp="1"/>
          </p:cNvGraphicFramePr>
          <p:nvPr>
            <p:extLst>
              <p:ext uri="{D42A27DB-BD31-4B8C-83A1-F6EECF244321}">
                <p14:modId xmlns:p14="http://schemas.microsoft.com/office/powerpoint/2010/main" val="574413193"/>
              </p:ext>
            </p:extLst>
          </p:nvPr>
        </p:nvGraphicFramePr>
        <p:xfrm>
          <a:off x="1673185" y="2039180"/>
          <a:ext cx="8338916" cy="2225040"/>
        </p:xfrm>
        <a:graphic>
          <a:graphicData uri="http://schemas.openxmlformats.org/drawingml/2006/table">
            <a:tbl>
              <a:tblPr firstRow="1" bandRow="1">
                <a:tableStyleId>{5940675A-B579-460E-94D1-54222C63F5DA}</a:tableStyleId>
              </a:tblPr>
              <a:tblGrid>
                <a:gridCol w="4169458">
                  <a:extLst>
                    <a:ext uri="{9D8B030D-6E8A-4147-A177-3AD203B41FA5}">
                      <a16:colId xmlns:a16="http://schemas.microsoft.com/office/drawing/2014/main" val="2304618588"/>
                    </a:ext>
                  </a:extLst>
                </a:gridCol>
                <a:gridCol w="4169458">
                  <a:extLst>
                    <a:ext uri="{9D8B030D-6E8A-4147-A177-3AD203B41FA5}">
                      <a16:colId xmlns:a16="http://schemas.microsoft.com/office/drawing/2014/main" val="3682972909"/>
                    </a:ext>
                  </a:extLst>
                </a:gridCol>
              </a:tblGrid>
              <a:tr h="370840">
                <a:tc>
                  <a:txBody>
                    <a:bodyPr/>
                    <a:lstStyle/>
                    <a:p>
                      <a:r>
                        <a:rPr lang="tr-TR" dirty="0">
                          <a:latin typeface="Times New Roman" panose="02020603050405020304" pitchFamily="18" charset="0"/>
                          <a:cs typeface="Times New Roman" panose="02020603050405020304" pitchFamily="18" charset="0"/>
                        </a:rPr>
                        <a:t>Aritmetik (</a:t>
                      </a:r>
                      <a:r>
                        <a:rPr lang="tr-TR" dirty="0" err="1">
                          <a:latin typeface="Times New Roman" panose="02020603050405020304" pitchFamily="18" charset="0"/>
                          <a:cs typeface="Times New Roman" panose="02020603050405020304" pitchFamily="18" charset="0"/>
                        </a:rPr>
                        <a:t>arithmetic</a:t>
                      </a:r>
                      <a:r>
                        <a:rPr lang="tr-TR" dirty="0">
                          <a:latin typeface="Times New Roman" panose="02020603050405020304" pitchFamily="18" charset="0"/>
                          <a:cs typeface="Times New Roman" panose="02020603050405020304" pitchFamily="18" charset="0"/>
                        </a:rPr>
                        <a:t>) operatörler</a:t>
                      </a:r>
                    </a:p>
                  </a:txBody>
                  <a:tcPr/>
                </a:tc>
                <a:tc>
                  <a:txBody>
                    <a:bodyPr/>
                    <a:lstStyle/>
                    <a:p>
                      <a:r>
                        <a:rPr lang="tr-TR" dirty="0">
                          <a:latin typeface="Times New Roman" panose="02020603050405020304" pitchFamily="18" charset="0"/>
                          <a:cs typeface="Times New Roman" panose="02020603050405020304" pitchFamily="18" charset="0"/>
                        </a:rPr>
                        <a:t>+, -, *, /, %, ++, --</a:t>
                      </a:r>
                    </a:p>
                  </a:txBody>
                  <a:tcPr/>
                </a:tc>
                <a:extLst>
                  <a:ext uri="{0D108BD9-81ED-4DB2-BD59-A6C34878D82A}">
                    <a16:rowId xmlns:a16="http://schemas.microsoft.com/office/drawing/2014/main" val="450909251"/>
                  </a:ext>
                </a:extLst>
              </a:tr>
              <a:tr h="370840">
                <a:tc>
                  <a:txBody>
                    <a:bodyPr/>
                    <a:lstStyle/>
                    <a:p>
                      <a:r>
                        <a:rPr lang="tr-TR" dirty="0">
                          <a:latin typeface="Times New Roman" panose="02020603050405020304" pitchFamily="18" charset="0"/>
                          <a:cs typeface="Times New Roman" panose="02020603050405020304" pitchFamily="18" charset="0"/>
                        </a:rPr>
                        <a:t>İlişkisel (</a:t>
                      </a:r>
                      <a:r>
                        <a:rPr lang="tr-TR" dirty="0" err="1">
                          <a:latin typeface="Times New Roman" panose="02020603050405020304" pitchFamily="18" charset="0"/>
                          <a:cs typeface="Times New Roman" panose="02020603050405020304" pitchFamily="18" charset="0"/>
                        </a:rPr>
                        <a:t>relational</a:t>
                      </a:r>
                      <a:r>
                        <a:rPr lang="tr-TR" dirty="0">
                          <a:latin typeface="Times New Roman" panose="02020603050405020304" pitchFamily="18" charset="0"/>
                          <a:cs typeface="Times New Roman" panose="02020603050405020304" pitchFamily="18" charset="0"/>
                        </a:rPr>
                        <a:t>) operatörler</a:t>
                      </a:r>
                    </a:p>
                  </a:txBody>
                  <a:tcPr/>
                </a:tc>
                <a:tc>
                  <a:txBody>
                    <a:bodyPr/>
                    <a:lstStyle/>
                    <a:p>
                      <a:r>
                        <a:rPr lang="tr-TR" dirty="0">
                          <a:latin typeface="Times New Roman" panose="02020603050405020304" pitchFamily="18" charset="0"/>
                          <a:cs typeface="Times New Roman" panose="02020603050405020304" pitchFamily="18" charset="0"/>
                        </a:rPr>
                        <a:t>==, !=, &gt;, &lt;, &gt;=, &lt;=</a:t>
                      </a:r>
                    </a:p>
                  </a:txBody>
                  <a:tcPr/>
                </a:tc>
                <a:extLst>
                  <a:ext uri="{0D108BD9-81ED-4DB2-BD59-A6C34878D82A}">
                    <a16:rowId xmlns:a16="http://schemas.microsoft.com/office/drawing/2014/main" val="2753234965"/>
                  </a:ext>
                </a:extLst>
              </a:tr>
              <a:tr h="370840">
                <a:tc>
                  <a:txBody>
                    <a:bodyPr/>
                    <a:lstStyle/>
                    <a:p>
                      <a:r>
                        <a:rPr lang="tr-TR" dirty="0">
                          <a:latin typeface="Times New Roman" panose="02020603050405020304" pitchFamily="18" charset="0"/>
                          <a:cs typeface="Times New Roman" panose="02020603050405020304" pitchFamily="18" charset="0"/>
                        </a:rPr>
                        <a:t>Mantıksal (</a:t>
                      </a:r>
                      <a:r>
                        <a:rPr lang="tr-TR" dirty="0" err="1">
                          <a:latin typeface="Times New Roman" panose="02020603050405020304" pitchFamily="18" charset="0"/>
                          <a:cs typeface="Times New Roman" panose="02020603050405020304" pitchFamily="18" charset="0"/>
                        </a:rPr>
                        <a:t>logical</a:t>
                      </a:r>
                      <a:r>
                        <a:rPr lang="tr-TR" dirty="0">
                          <a:latin typeface="Times New Roman" panose="02020603050405020304" pitchFamily="18" charset="0"/>
                          <a:cs typeface="Times New Roman" panose="02020603050405020304" pitchFamily="18" charset="0"/>
                        </a:rPr>
                        <a:t>) operatörler</a:t>
                      </a:r>
                    </a:p>
                  </a:txBody>
                  <a:tcPr/>
                </a:tc>
                <a:tc>
                  <a:txBody>
                    <a:bodyPr/>
                    <a:lstStyle/>
                    <a:p>
                      <a:r>
                        <a:rPr lang="tr-TR" dirty="0">
                          <a:latin typeface="Times New Roman" panose="02020603050405020304" pitchFamily="18" charset="0"/>
                          <a:cs typeface="Times New Roman" panose="02020603050405020304" pitchFamily="18" charset="0"/>
                        </a:rPr>
                        <a:t>&amp;&amp;, ||, !</a:t>
                      </a:r>
                    </a:p>
                  </a:txBody>
                  <a:tcPr/>
                </a:tc>
                <a:extLst>
                  <a:ext uri="{0D108BD9-81ED-4DB2-BD59-A6C34878D82A}">
                    <a16:rowId xmlns:a16="http://schemas.microsoft.com/office/drawing/2014/main" val="3998723797"/>
                  </a:ext>
                </a:extLst>
              </a:tr>
              <a:tr h="370840">
                <a:tc>
                  <a:txBody>
                    <a:bodyPr/>
                    <a:lstStyle/>
                    <a:p>
                      <a:r>
                        <a:rPr lang="tr-TR" dirty="0">
                          <a:latin typeface="Times New Roman" panose="02020603050405020304" pitchFamily="18" charset="0"/>
                          <a:cs typeface="Times New Roman" panose="02020603050405020304" pitchFamily="18" charset="0"/>
                        </a:rPr>
                        <a:t>Bit düzeyinde (</a:t>
                      </a:r>
                      <a:r>
                        <a:rPr lang="tr-TR" dirty="0" err="1">
                          <a:latin typeface="Times New Roman" panose="02020603050405020304" pitchFamily="18" charset="0"/>
                          <a:cs typeface="Times New Roman" panose="02020603050405020304" pitchFamily="18" charset="0"/>
                        </a:rPr>
                        <a:t>bitwise</a:t>
                      </a:r>
                      <a:r>
                        <a:rPr lang="tr-TR" dirty="0">
                          <a:latin typeface="Times New Roman" panose="02020603050405020304" pitchFamily="18" charset="0"/>
                          <a:cs typeface="Times New Roman" panose="02020603050405020304" pitchFamily="18" charset="0"/>
                        </a:rPr>
                        <a:t>) operatörler</a:t>
                      </a:r>
                    </a:p>
                  </a:txBody>
                  <a:tcPr/>
                </a:tc>
                <a:tc>
                  <a:txBody>
                    <a:bodyPr/>
                    <a:lstStyle/>
                    <a:p>
                      <a:r>
                        <a:rPr lang="tr-TR" dirty="0">
                          <a:latin typeface="Times New Roman" panose="02020603050405020304" pitchFamily="18" charset="0"/>
                          <a:cs typeface="Times New Roman" panose="02020603050405020304" pitchFamily="18" charset="0"/>
                        </a:rPr>
                        <a:t>&amp;(AND), |(OR), ^(XOR), ~, &lt;&lt; , &gt;&gt;</a:t>
                      </a:r>
                    </a:p>
                  </a:txBody>
                  <a:tcPr/>
                </a:tc>
                <a:extLst>
                  <a:ext uri="{0D108BD9-81ED-4DB2-BD59-A6C34878D82A}">
                    <a16:rowId xmlns:a16="http://schemas.microsoft.com/office/drawing/2014/main" val="2709446437"/>
                  </a:ext>
                </a:extLst>
              </a:tr>
              <a:tr h="370840">
                <a:tc>
                  <a:txBody>
                    <a:bodyPr/>
                    <a:lstStyle/>
                    <a:p>
                      <a:r>
                        <a:rPr lang="tr-TR" dirty="0">
                          <a:latin typeface="Times New Roman" panose="02020603050405020304" pitchFamily="18" charset="0"/>
                          <a:cs typeface="Times New Roman" panose="02020603050405020304" pitchFamily="18" charset="0"/>
                        </a:rPr>
                        <a:t>Atama (</a:t>
                      </a:r>
                      <a:r>
                        <a:rPr lang="tr-TR" dirty="0" err="1">
                          <a:latin typeface="Times New Roman" panose="02020603050405020304" pitchFamily="18" charset="0"/>
                          <a:cs typeface="Times New Roman" panose="02020603050405020304" pitchFamily="18" charset="0"/>
                        </a:rPr>
                        <a:t>assignment</a:t>
                      </a:r>
                      <a:r>
                        <a:rPr lang="tr-TR" dirty="0">
                          <a:latin typeface="Times New Roman" panose="02020603050405020304" pitchFamily="18" charset="0"/>
                          <a:cs typeface="Times New Roman" panose="02020603050405020304" pitchFamily="18" charset="0"/>
                        </a:rPr>
                        <a:t>) operatörleri</a:t>
                      </a:r>
                    </a:p>
                  </a:txBody>
                  <a:tcPr/>
                </a:tc>
                <a:tc>
                  <a:txBody>
                    <a:bodyPr/>
                    <a:lstStyle/>
                    <a:p>
                      <a:r>
                        <a:rPr lang="tr-TR" dirty="0">
                          <a:latin typeface="Times New Roman" panose="02020603050405020304" pitchFamily="18" charset="0"/>
                          <a:cs typeface="Times New Roman" panose="02020603050405020304" pitchFamily="18" charset="0"/>
                        </a:rPr>
                        <a:t>=, +=, -=, *=, /=, %=, &lt;&lt;=, &gt;&gt;=, &amp;=, ^=, |=</a:t>
                      </a:r>
                    </a:p>
                  </a:txBody>
                  <a:tcPr/>
                </a:tc>
                <a:extLst>
                  <a:ext uri="{0D108BD9-81ED-4DB2-BD59-A6C34878D82A}">
                    <a16:rowId xmlns:a16="http://schemas.microsoft.com/office/drawing/2014/main" val="1967108812"/>
                  </a:ext>
                </a:extLst>
              </a:tr>
              <a:tr h="370840">
                <a:tc>
                  <a:txBody>
                    <a:bodyPr/>
                    <a:lstStyle/>
                    <a:p>
                      <a:r>
                        <a:rPr lang="tr-TR" dirty="0">
                          <a:latin typeface="Times New Roman" panose="02020603050405020304" pitchFamily="18" charset="0"/>
                          <a:cs typeface="Times New Roman" panose="02020603050405020304" pitchFamily="18" charset="0"/>
                        </a:rPr>
                        <a:t>Çeşitli operatörler</a:t>
                      </a:r>
                    </a:p>
                  </a:txBody>
                  <a:tcPr/>
                </a:tc>
                <a:tc>
                  <a:txBody>
                    <a:bodyPr/>
                    <a:lstStyle/>
                    <a:p>
                      <a:r>
                        <a:rPr lang="tr-TR" dirty="0" err="1">
                          <a:latin typeface="Times New Roman" panose="02020603050405020304" pitchFamily="18" charset="0"/>
                          <a:cs typeface="Times New Roman" panose="02020603050405020304" pitchFamily="18" charset="0"/>
                        </a:rPr>
                        <a:t>sizeof</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typeof</a:t>
                      </a:r>
                      <a:r>
                        <a:rPr lang="tr-TR" dirty="0">
                          <a:latin typeface="Times New Roman" panose="02020603050405020304" pitchFamily="18" charset="0"/>
                          <a:cs typeface="Times New Roman" panose="02020603050405020304" pitchFamily="18" charset="0"/>
                        </a:rPr>
                        <a:t>(), &amp;, *, ?:, is, as</a:t>
                      </a:r>
                    </a:p>
                  </a:txBody>
                  <a:tcPr/>
                </a:tc>
                <a:extLst>
                  <a:ext uri="{0D108BD9-81ED-4DB2-BD59-A6C34878D82A}">
                    <a16:rowId xmlns:a16="http://schemas.microsoft.com/office/drawing/2014/main" val="1033525403"/>
                  </a:ext>
                </a:extLst>
              </a:tr>
            </a:tbl>
          </a:graphicData>
        </a:graphic>
      </p:graphicFrame>
    </p:spTree>
    <p:extLst>
      <p:ext uri="{BB962C8B-B14F-4D97-AF65-F5344CB8AC3E}">
        <p14:creationId xmlns:p14="http://schemas.microsoft.com/office/powerpoint/2010/main" val="3804216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Karar Verme (</a:t>
            </a:r>
            <a:r>
              <a:rPr lang="tr-TR" sz="3000" b="1" dirty="0" err="1">
                <a:solidFill>
                  <a:schemeClr val="tx1"/>
                </a:solidFill>
                <a:latin typeface="Times New Roman" panose="02020603050405020304" pitchFamily="18" charset="0"/>
                <a:cs typeface="Times New Roman" panose="02020603050405020304" pitchFamily="18" charset="0"/>
              </a:rPr>
              <a:t>Decision</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Making</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Karar verme yapıları, programcının program tarafından değerlendirilecek veya test edilecek bir veya daha fazla koşulun yanı sıra koşulun doğru olup olmamasına göre ilgili ifadeyi yürütmesini sağlayan yapılardır. </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Programlama dillerinin çoğunda bulunan tipik bir karar verme yapısının genel şekli aşağıdaki gibidir: </a:t>
            </a:r>
          </a:p>
        </p:txBody>
      </p:sp>
      <p:pic>
        <p:nvPicPr>
          <p:cNvPr id="2050" name="Picture 2" descr="Decision making statements in C#">
            <a:extLst>
              <a:ext uri="{FF2B5EF4-FFF2-40B4-BE49-F238E27FC236}">
                <a16:creationId xmlns:a16="http://schemas.microsoft.com/office/drawing/2014/main" id="{065E3845-849D-46F2-AE08-FC6F77A41BC1}"/>
              </a:ext>
            </a:extLst>
          </p:cNvPr>
          <p:cNvPicPr>
            <a:picLocks noChangeAspect="1" noChangeArrowheads="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114299" y="2812502"/>
            <a:ext cx="2721497" cy="3481455"/>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3E476288-ABB9-41F5-A338-23E340BFE0DD}"/>
              </a:ext>
            </a:extLst>
          </p:cNvPr>
          <p:cNvSpPr txBox="1"/>
          <p:nvPr/>
        </p:nvSpPr>
        <p:spPr>
          <a:xfrm>
            <a:off x="2993985" y="2812502"/>
            <a:ext cx="6204030" cy="1938992"/>
          </a:xfrm>
          <a:prstGeom prst="rect">
            <a:avLst/>
          </a:prstGeom>
          <a:noFill/>
        </p:spPr>
        <p:txBody>
          <a:bodyPr wrap="square">
            <a:spAutoFit/>
          </a:bodyPr>
          <a:lstStyle/>
          <a:p>
            <a:r>
              <a:rPr lang="tr-TR" sz="2000" u="sng" dirty="0">
                <a:solidFill>
                  <a:schemeClr val="tx1"/>
                </a:solidFill>
                <a:latin typeface="Times New Roman" panose="02020603050405020304" pitchFamily="18" charset="0"/>
                <a:cs typeface="Times New Roman" panose="02020603050405020304" pitchFamily="18" charset="0"/>
              </a:rPr>
              <a:t>Koşul yapıları aşağıdaki gibi tasarlanabilir:</a:t>
            </a:r>
          </a:p>
          <a:p>
            <a:pPr marL="285750" indent="-285750">
              <a:buFont typeface="Arial" panose="020B0604020202020204" pitchFamily="34" charset="0"/>
              <a:buChar char="•"/>
            </a:pPr>
            <a:r>
              <a:rPr lang="tr-TR" sz="2000" dirty="0" err="1">
                <a:latin typeface="Times New Roman" panose="02020603050405020304" pitchFamily="18" charset="0"/>
                <a:cs typeface="Times New Roman" panose="02020603050405020304" pitchFamily="18" charset="0"/>
              </a:rPr>
              <a:t>if</a:t>
            </a:r>
            <a:endParaRPr lang="tr-T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tr-TR" sz="2000" dirty="0" err="1">
                <a:latin typeface="Times New Roman" panose="02020603050405020304" pitchFamily="18" charset="0"/>
                <a:cs typeface="Times New Roman" panose="02020603050405020304" pitchFamily="18" charset="0"/>
              </a:rPr>
              <a:t>if</a:t>
            </a:r>
            <a:r>
              <a:rPr lang="tr-TR" sz="2000" dirty="0">
                <a:latin typeface="Times New Roman" panose="02020603050405020304" pitchFamily="18" charset="0"/>
                <a:cs typeface="Times New Roman" panose="02020603050405020304" pitchFamily="18" charset="0"/>
              </a:rPr>
              <a:t>…else</a:t>
            </a:r>
          </a:p>
          <a:p>
            <a:pPr marL="285750" indent="-285750">
              <a:buFont typeface="Arial" panose="020B0604020202020204" pitchFamily="34" charset="0"/>
              <a:buChar char="•"/>
            </a:pPr>
            <a:r>
              <a:rPr lang="tr-TR" sz="2000" dirty="0">
                <a:latin typeface="Times New Roman" panose="02020603050405020304" pitchFamily="18" charset="0"/>
                <a:cs typeface="Times New Roman" panose="02020603050405020304" pitchFamily="18" charset="0"/>
              </a:rPr>
              <a:t>İç içe </a:t>
            </a:r>
            <a:r>
              <a:rPr lang="tr-TR" sz="2000" dirty="0" err="1">
                <a:latin typeface="Times New Roman" panose="02020603050405020304" pitchFamily="18" charset="0"/>
                <a:cs typeface="Times New Roman" panose="02020603050405020304" pitchFamily="18" charset="0"/>
              </a:rPr>
              <a:t>if</a:t>
            </a:r>
            <a:r>
              <a:rPr lang="tr-TR" sz="2000" dirty="0">
                <a:latin typeface="Times New Roman" panose="02020603050405020304" pitchFamily="18" charset="0"/>
                <a:cs typeface="Times New Roman" panose="02020603050405020304" pitchFamily="18" charset="0"/>
              </a:rPr>
              <a:t> (veya else </a:t>
            </a:r>
            <a:r>
              <a:rPr lang="tr-TR" sz="2000" dirty="0" err="1">
                <a:latin typeface="Times New Roman" panose="02020603050405020304" pitchFamily="18" charset="0"/>
                <a:cs typeface="Times New Roman" panose="02020603050405020304" pitchFamily="18" charset="0"/>
              </a:rPr>
              <a:t>if</a:t>
            </a:r>
            <a:r>
              <a:rPr lang="tr-TR"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tr-TR" sz="2000" dirty="0" err="1">
                <a:latin typeface="Times New Roman" panose="02020603050405020304" pitchFamily="18" charset="0"/>
                <a:cs typeface="Times New Roman" panose="02020603050405020304" pitchFamily="18" charset="0"/>
              </a:rPr>
              <a:t>switch</a:t>
            </a:r>
            <a:endParaRPr lang="tr-T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tr-TR" sz="2000" dirty="0">
                <a:latin typeface="Times New Roman" panose="02020603050405020304" pitchFamily="18" charset="0"/>
                <a:cs typeface="Times New Roman" panose="02020603050405020304" pitchFamily="18" charset="0"/>
              </a:rPr>
              <a:t>İç içe </a:t>
            </a:r>
            <a:r>
              <a:rPr lang="tr-TR" sz="2000" dirty="0" err="1">
                <a:latin typeface="Times New Roman" panose="02020603050405020304" pitchFamily="18" charset="0"/>
                <a:cs typeface="Times New Roman" panose="02020603050405020304" pitchFamily="18" charset="0"/>
              </a:rPr>
              <a:t>switch</a:t>
            </a:r>
            <a:endParaRPr lang="tr-T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37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Karar Verme (</a:t>
            </a:r>
            <a:r>
              <a:rPr lang="tr-TR" sz="3000" b="1" dirty="0" err="1">
                <a:solidFill>
                  <a:schemeClr val="tx1"/>
                </a:solidFill>
                <a:latin typeface="Times New Roman" panose="02020603050405020304" pitchFamily="18" charset="0"/>
                <a:cs typeface="Times New Roman" panose="02020603050405020304" pitchFamily="18" charset="0"/>
              </a:rPr>
              <a:t>Decision</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Making</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b="1" dirty="0">
                <a:solidFill>
                  <a:srgbClr val="FF0000"/>
                </a:solidFill>
                <a:latin typeface="Times New Roman" panose="02020603050405020304" pitchFamily="18" charset="0"/>
                <a:cs typeface="Times New Roman" panose="02020603050405020304" pitchFamily="18" charset="0"/>
              </a:rPr>
              <a:t>? : </a:t>
            </a:r>
            <a:r>
              <a:rPr lang="tr-TR" sz="2400" b="1" dirty="0">
                <a:solidFill>
                  <a:schemeClr val="tx1"/>
                </a:solidFill>
                <a:latin typeface="Times New Roman" panose="02020603050405020304" pitchFamily="18" charset="0"/>
                <a:cs typeface="Times New Roman" panose="02020603050405020304" pitchFamily="18" charset="0"/>
              </a:rPr>
              <a:t>Operatörü</a:t>
            </a:r>
          </a:p>
          <a:p>
            <a:pPr algn="just">
              <a:lnSpc>
                <a:spcPct val="100000"/>
              </a:lnSpc>
            </a:pPr>
            <a:r>
              <a:rPr lang="tr-TR" sz="2400" b="1" dirty="0" err="1">
                <a:solidFill>
                  <a:schemeClr val="tx1"/>
                </a:solidFill>
                <a:latin typeface="Times New Roman" panose="02020603050405020304" pitchFamily="18" charset="0"/>
                <a:cs typeface="Times New Roman" panose="02020603050405020304" pitchFamily="18" charset="0"/>
              </a:rPr>
              <a:t>if</a:t>
            </a:r>
            <a:r>
              <a:rPr lang="tr-TR" sz="2400" b="1" dirty="0">
                <a:solidFill>
                  <a:schemeClr val="tx1"/>
                </a:solidFill>
                <a:latin typeface="Times New Roman" panose="02020603050405020304" pitchFamily="18" charset="0"/>
                <a:cs typeface="Times New Roman" panose="02020603050405020304" pitchFamily="18" charset="0"/>
              </a:rPr>
              <a:t>-else</a:t>
            </a:r>
            <a:r>
              <a:rPr lang="tr-TR" sz="2400" dirty="0">
                <a:solidFill>
                  <a:schemeClr val="tx1"/>
                </a:solidFill>
                <a:latin typeface="Times New Roman" panose="02020603050405020304" pitchFamily="18" charset="0"/>
                <a:cs typeface="Times New Roman" panose="02020603050405020304" pitchFamily="18" charset="0"/>
              </a:rPr>
              <a:t> yapılarını tek satırda gerçekleştirebilmek için kullanılır.</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ifade1 ? ifade2 : ifade3; satırı şu şekilde çalışır: </a:t>
            </a:r>
          </a:p>
          <a:p>
            <a:pPr marL="635508" lvl="1" indent="-342900" algn="just">
              <a:lnSpc>
                <a:spcPct val="100000"/>
              </a:lnSpc>
              <a:buFont typeface="+mj-lt"/>
              <a:buAutoNum type="arabicPeriod"/>
            </a:pPr>
            <a:r>
              <a:rPr lang="tr-TR" dirty="0">
                <a:solidFill>
                  <a:schemeClr val="tx1"/>
                </a:solidFill>
                <a:latin typeface="Times New Roman" panose="02020603050405020304" pitchFamily="18" charset="0"/>
                <a:cs typeface="Times New Roman" panose="02020603050405020304" pitchFamily="18" charset="0"/>
              </a:rPr>
              <a:t>Bir a </a:t>
            </a:r>
            <a:r>
              <a:rPr lang="tr-TR" dirty="0" err="1">
                <a:solidFill>
                  <a:schemeClr val="tx1"/>
                </a:solidFill>
                <a:latin typeface="Times New Roman" panose="02020603050405020304" pitchFamily="18" charset="0"/>
                <a:cs typeface="Times New Roman" panose="02020603050405020304" pitchFamily="18" charset="0"/>
              </a:rPr>
              <a:t>değişkeni’nin</a:t>
            </a:r>
            <a:r>
              <a:rPr lang="tr-TR" dirty="0">
                <a:solidFill>
                  <a:schemeClr val="tx1"/>
                </a:solidFill>
                <a:latin typeface="Times New Roman" panose="02020603050405020304" pitchFamily="18" charset="0"/>
                <a:cs typeface="Times New Roman" panose="02020603050405020304" pitchFamily="18" charset="0"/>
              </a:rPr>
              <a:t> değeri ifade1 ile değerlendirilir. </a:t>
            </a:r>
          </a:p>
          <a:p>
            <a:pPr marL="635508" lvl="1" indent="-342900" algn="just">
              <a:lnSpc>
                <a:spcPct val="100000"/>
              </a:lnSpc>
              <a:buFont typeface="+mj-lt"/>
              <a:buAutoNum type="arabicPeriod"/>
            </a:pPr>
            <a:r>
              <a:rPr lang="tr-TR" dirty="0">
                <a:solidFill>
                  <a:schemeClr val="tx1"/>
                </a:solidFill>
                <a:latin typeface="Times New Roman" panose="02020603050405020304" pitchFamily="18" charset="0"/>
                <a:cs typeface="Times New Roman" panose="02020603050405020304" pitchFamily="18" charset="0"/>
              </a:rPr>
              <a:t>Eğer doğru (</a:t>
            </a:r>
            <a:r>
              <a:rPr lang="tr-TR" dirty="0" err="1">
                <a:solidFill>
                  <a:schemeClr val="tx1"/>
                </a:solidFill>
                <a:latin typeface="Times New Roman" panose="02020603050405020304" pitchFamily="18" charset="0"/>
                <a:cs typeface="Times New Roman" panose="02020603050405020304" pitchFamily="18" charset="0"/>
              </a:rPr>
              <a:t>true</a:t>
            </a:r>
            <a:r>
              <a:rPr lang="tr-TR" dirty="0">
                <a:solidFill>
                  <a:schemeClr val="tx1"/>
                </a:solidFill>
                <a:latin typeface="Times New Roman" panose="02020603050405020304" pitchFamily="18" charset="0"/>
                <a:cs typeface="Times New Roman" panose="02020603050405020304" pitchFamily="18" charset="0"/>
              </a:rPr>
              <a:t>) ise, ifade2 gerçekleştirilir. </a:t>
            </a:r>
          </a:p>
          <a:p>
            <a:pPr marL="635508" lvl="1" indent="-342900" algn="just">
              <a:lnSpc>
                <a:spcPct val="100000"/>
              </a:lnSpc>
              <a:buFont typeface="+mj-lt"/>
              <a:buAutoNum type="arabicPeriod"/>
            </a:pPr>
            <a:r>
              <a:rPr lang="tr-TR" dirty="0">
                <a:solidFill>
                  <a:schemeClr val="tx1"/>
                </a:solidFill>
                <a:latin typeface="Times New Roman" panose="02020603050405020304" pitchFamily="18" charset="0"/>
                <a:cs typeface="Times New Roman" panose="02020603050405020304" pitchFamily="18" charset="0"/>
              </a:rPr>
              <a:t>Eğer yanlış (</a:t>
            </a:r>
            <a:r>
              <a:rPr lang="tr-TR" dirty="0" err="1">
                <a:solidFill>
                  <a:schemeClr val="tx1"/>
                </a:solidFill>
                <a:latin typeface="Times New Roman" panose="02020603050405020304" pitchFamily="18" charset="0"/>
                <a:cs typeface="Times New Roman" panose="02020603050405020304" pitchFamily="18" charset="0"/>
              </a:rPr>
              <a:t>false</a:t>
            </a:r>
            <a:r>
              <a:rPr lang="tr-TR" dirty="0">
                <a:solidFill>
                  <a:schemeClr val="tx1"/>
                </a:solidFill>
                <a:latin typeface="Times New Roman" panose="02020603050405020304" pitchFamily="18" charset="0"/>
                <a:cs typeface="Times New Roman" panose="02020603050405020304" pitchFamily="18" charset="0"/>
              </a:rPr>
              <a:t>) ise ifade3 gerçekleştirilir. </a:t>
            </a:r>
          </a:p>
          <a:p>
            <a:pPr marL="635508" lvl="1" indent="-342900" algn="just">
              <a:lnSpc>
                <a:spcPct val="100000"/>
              </a:lnSpc>
              <a:buFont typeface="+mj-lt"/>
              <a:buAutoNum type="arabicPeriod"/>
            </a:pPr>
            <a:r>
              <a:rPr lang="tr-TR" dirty="0">
                <a:solidFill>
                  <a:schemeClr val="tx1"/>
                </a:solidFill>
                <a:latin typeface="Times New Roman" panose="02020603050405020304" pitchFamily="18" charset="0"/>
                <a:cs typeface="Times New Roman" panose="02020603050405020304" pitchFamily="18" charset="0"/>
              </a:rPr>
              <a:t>a’nın değeri bu değerlendirmeler sonucu belirlenir. </a:t>
            </a: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5321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Döngüler (</a:t>
            </a:r>
            <a:r>
              <a:rPr lang="tr-TR" sz="3000" b="1" dirty="0" err="1">
                <a:solidFill>
                  <a:schemeClr val="tx1"/>
                </a:solidFill>
                <a:latin typeface="Times New Roman" panose="02020603050405020304" pitchFamily="18" charset="0"/>
                <a:cs typeface="Times New Roman" panose="02020603050405020304" pitchFamily="18" charset="0"/>
              </a:rPr>
              <a:t>Loops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Genel olarak bir programda ifadeler sırayla yürütülür. Programlama dilleri, daha karmaşık yürütme yollarına izin veren çeşitli kontrol yapıları sağlar. Döngü ise, bir deyimi veya bir grup deyimi birden çok kez yürütmemize izin verir ve bir döngü deyiminin genel ifadesi aşağıdaki gibidir:</a:t>
            </a:r>
          </a:p>
          <a:p>
            <a:pPr marL="0" indent="0" algn="just">
              <a:lnSpc>
                <a:spcPct val="100000"/>
              </a:lnSpc>
              <a:buNone/>
            </a:pPr>
            <a:endParaRPr lang="tr-TR" sz="24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400" dirty="0">
              <a:solidFill>
                <a:schemeClr val="tx1"/>
              </a:solidFill>
              <a:latin typeface="Times New Roman" panose="02020603050405020304" pitchFamily="18" charset="0"/>
              <a:cs typeface="Times New Roman" panose="02020603050405020304" pitchFamily="18" charset="0"/>
            </a:endParaRPr>
          </a:p>
        </p:txBody>
      </p:sp>
      <p:pic>
        <p:nvPicPr>
          <p:cNvPr id="4098" name="Picture 2" descr="Loop Architecture">
            <a:extLst>
              <a:ext uri="{FF2B5EF4-FFF2-40B4-BE49-F238E27FC236}">
                <a16:creationId xmlns:a16="http://schemas.microsoft.com/office/drawing/2014/main" id="{8DF97245-3A1F-4644-8C6F-5BDCE3BCFAAD}"/>
              </a:ext>
            </a:extLst>
          </p:cNvPr>
          <p:cNvPicPr>
            <a:picLocks noChangeAspect="1" noChangeArrowheads="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114300" y="2199913"/>
            <a:ext cx="3522742" cy="4032612"/>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2EE4F09C-2CEB-4677-9A59-BA341C71D743}"/>
              </a:ext>
            </a:extLst>
          </p:cNvPr>
          <p:cNvSpPr txBox="1"/>
          <p:nvPr/>
        </p:nvSpPr>
        <p:spPr>
          <a:xfrm>
            <a:off x="3751342" y="2199913"/>
            <a:ext cx="6204030" cy="1938992"/>
          </a:xfrm>
          <a:prstGeom prst="rect">
            <a:avLst/>
          </a:prstGeom>
          <a:noFill/>
        </p:spPr>
        <p:txBody>
          <a:bodyPr wrap="square">
            <a:spAutoFit/>
          </a:bodyPr>
          <a:lstStyle/>
          <a:p>
            <a:r>
              <a:rPr lang="tr-TR" sz="2000" u="sng" dirty="0">
                <a:solidFill>
                  <a:schemeClr val="tx1"/>
                </a:solidFill>
                <a:latin typeface="Times New Roman" panose="02020603050405020304" pitchFamily="18" charset="0"/>
                <a:cs typeface="Times New Roman" panose="02020603050405020304" pitchFamily="18" charset="0"/>
              </a:rPr>
              <a:t>Döngü yapıları aşağıdaki gibi tasarlanabilir:</a:t>
            </a:r>
          </a:p>
          <a:p>
            <a:pPr marL="285750" indent="-285750">
              <a:buFont typeface="Arial" panose="020B0604020202020204" pitchFamily="34" charset="0"/>
              <a:buChar char="•"/>
            </a:pPr>
            <a:r>
              <a:rPr lang="tr-TR" sz="2000" dirty="0" err="1">
                <a:latin typeface="Times New Roman" panose="02020603050405020304" pitchFamily="18" charset="0"/>
                <a:cs typeface="Times New Roman" panose="02020603050405020304" pitchFamily="18" charset="0"/>
              </a:rPr>
              <a:t>while</a:t>
            </a:r>
            <a:endParaRPr lang="tr-T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tr-TR" sz="2000" dirty="0" err="1">
                <a:latin typeface="Times New Roman" panose="02020603050405020304" pitchFamily="18" charset="0"/>
                <a:cs typeface="Times New Roman" panose="02020603050405020304" pitchFamily="18" charset="0"/>
              </a:rPr>
              <a:t>for</a:t>
            </a:r>
            <a:endParaRPr lang="tr-T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tr-TR" sz="2000" dirty="0">
                <a:latin typeface="Times New Roman" panose="02020603050405020304" pitchFamily="18" charset="0"/>
                <a:cs typeface="Times New Roman" panose="02020603050405020304" pitchFamily="18" charset="0"/>
              </a:rPr>
              <a:t>do…</a:t>
            </a:r>
            <a:r>
              <a:rPr lang="tr-TR" sz="2000" dirty="0" err="1">
                <a:latin typeface="Times New Roman" panose="02020603050405020304" pitchFamily="18" charset="0"/>
                <a:cs typeface="Times New Roman" panose="02020603050405020304" pitchFamily="18" charset="0"/>
              </a:rPr>
              <a:t>while</a:t>
            </a:r>
            <a:endParaRPr lang="tr-T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tr-TR" sz="2000">
                <a:latin typeface="Times New Roman" panose="02020603050405020304" pitchFamily="18" charset="0"/>
                <a:cs typeface="Times New Roman" panose="02020603050405020304" pitchFamily="18" charset="0"/>
              </a:rPr>
              <a:t>foreach</a:t>
            </a:r>
            <a:endParaRPr lang="tr-TR"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tr-TR" sz="2000" dirty="0">
                <a:latin typeface="Times New Roman" panose="02020603050405020304" pitchFamily="18" charset="0"/>
                <a:cs typeface="Times New Roman" panose="02020603050405020304" pitchFamily="18" charset="0"/>
              </a:rPr>
              <a:t>İç içe döngüler</a:t>
            </a:r>
          </a:p>
        </p:txBody>
      </p:sp>
    </p:spTree>
    <p:extLst>
      <p:ext uri="{BB962C8B-B14F-4D97-AF65-F5344CB8AC3E}">
        <p14:creationId xmlns:p14="http://schemas.microsoft.com/office/powerpoint/2010/main" val="3306706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a:solidFill>
                  <a:schemeClr val="tx1"/>
                </a:solidFill>
                <a:latin typeface="Times New Roman" panose="02020603050405020304" pitchFamily="18" charset="0"/>
                <a:cs typeface="Times New Roman" panose="02020603050405020304" pitchFamily="18" charset="0"/>
              </a:rPr>
              <a:t>Döngü Kontrol İfadeleri</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Döngü kontrol ifadeleri ile bir döngü normal seyrinden çıkarılabilir. C# aşağıdaki kontrol ifadelerini destekler: </a:t>
            </a:r>
          </a:p>
          <a:p>
            <a:pPr lvl="1" algn="just">
              <a:lnSpc>
                <a:spcPct val="100000"/>
              </a:lnSpc>
            </a:pPr>
            <a:r>
              <a:rPr lang="tr-TR" sz="2200" b="1" i="1" dirty="0">
                <a:solidFill>
                  <a:schemeClr val="tx1"/>
                </a:solidFill>
                <a:latin typeface="Times New Roman" panose="02020603050405020304" pitchFamily="18" charset="0"/>
                <a:cs typeface="Times New Roman" panose="02020603050405020304" pitchFamily="18" charset="0"/>
              </a:rPr>
              <a:t>break: </a:t>
            </a:r>
            <a:r>
              <a:rPr lang="tr-TR" sz="2200" dirty="0">
                <a:solidFill>
                  <a:schemeClr val="tx1"/>
                </a:solidFill>
                <a:latin typeface="Times New Roman" panose="02020603050405020304" pitchFamily="18" charset="0"/>
                <a:cs typeface="Times New Roman" panose="02020603050405020304" pitchFamily="18" charset="0"/>
              </a:rPr>
              <a:t>Döngü veya anahtar ifadesini sonlandırır ve yürütmeyi döngü veya anahtardan hemen sonraki ifadeye aktarır.</a:t>
            </a:r>
          </a:p>
          <a:p>
            <a:pPr lvl="1" algn="just">
              <a:lnSpc>
                <a:spcPct val="100000"/>
              </a:lnSpc>
            </a:pPr>
            <a:r>
              <a:rPr lang="tr-TR" sz="2200" b="1" i="1" dirty="0" err="1">
                <a:solidFill>
                  <a:schemeClr val="tx1"/>
                </a:solidFill>
                <a:latin typeface="Times New Roman" panose="02020603050405020304" pitchFamily="18" charset="0"/>
                <a:cs typeface="Times New Roman" panose="02020603050405020304" pitchFamily="18" charset="0"/>
              </a:rPr>
              <a:t>continue</a:t>
            </a:r>
            <a:r>
              <a:rPr lang="tr-TR" sz="2200" b="1" i="1" dirty="0">
                <a:solidFill>
                  <a:schemeClr val="tx1"/>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Döngünün gövdesinin geri kalanını atlamasına ve yinelemeden önce durumunu hemen yeniden test etmesine neden olur.</a:t>
            </a:r>
          </a:p>
        </p:txBody>
      </p:sp>
      <p:sp>
        <p:nvSpPr>
          <p:cNvPr id="6" name="Alt Başlık 2">
            <a:extLst>
              <a:ext uri="{FF2B5EF4-FFF2-40B4-BE49-F238E27FC236}">
                <a16:creationId xmlns:a16="http://schemas.microsoft.com/office/drawing/2014/main" id="{DC5A0ADE-193C-4FB5-825A-88D9795FA96E}"/>
              </a:ext>
            </a:extLst>
          </p:cNvPr>
          <p:cNvSpPr txBox="1">
            <a:spLocks/>
          </p:cNvSpPr>
          <p:nvPr/>
        </p:nvSpPr>
        <p:spPr>
          <a:xfrm>
            <a:off x="0" y="2918822"/>
            <a:ext cx="12192000" cy="625475"/>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tr-TR" sz="3000" b="1" dirty="0">
                <a:solidFill>
                  <a:schemeClr val="tx1"/>
                </a:solidFill>
                <a:latin typeface="Times New Roman" panose="02020603050405020304" pitchFamily="18" charset="0"/>
                <a:cs typeface="Times New Roman" panose="02020603050405020304" pitchFamily="18" charset="0"/>
              </a:rPr>
              <a:t>Sonsuz Döngü</a:t>
            </a:r>
          </a:p>
        </p:txBody>
      </p:sp>
      <p:sp>
        <p:nvSpPr>
          <p:cNvPr id="8" name="Alt Başlık 2">
            <a:extLst>
              <a:ext uri="{FF2B5EF4-FFF2-40B4-BE49-F238E27FC236}">
                <a16:creationId xmlns:a16="http://schemas.microsoft.com/office/drawing/2014/main" id="{24715C8B-9F6F-4E36-9F67-673637CC7A19}"/>
              </a:ext>
            </a:extLst>
          </p:cNvPr>
          <p:cNvSpPr txBox="1">
            <a:spLocks/>
          </p:cNvSpPr>
          <p:nvPr/>
        </p:nvSpPr>
        <p:spPr>
          <a:xfrm>
            <a:off x="114300" y="3540061"/>
            <a:ext cx="6678592" cy="2939079"/>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dirty="0">
                <a:solidFill>
                  <a:schemeClr val="tx1"/>
                </a:solidFill>
                <a:latin typeface="Times New Roman" panose="02020603050405020304" pitchFamily="18" charset="0"/>
                <a:cs typeface="Times New Roman" panose="02020603050405020304" pitchFamily="18" charset="0"/>
              </a:rPr>
              <a:t>Bir koşul asla yanlış olmazsa, döngü sonsuz döngü olur. </a:t>
            </a:r>
            <a:r>
              <a:rPr lang="tr-TR" b="1" i="1" dirty="0" err="1">
                <a:solidFill>
                  <a:schemeClr val="tx1"/>
                </a:solidFill>
                <a:latin typeface="Times New Roman" panose="02020603050405020304" pitchFamily="18" charset="0"/>
                <a:cs typeface="Times New Roman" panose="02020603050405020304" pitchFamily="18" charset="0"/>
              </a:rPr>
              <a:t>for</a:t>
            </a:r>
            <a:r>
              <a:rPr lang="tr-TR" dirty="0">
                <a:solidFill>
                  <a:schemeClr val="tx1"/>
                </a:solidFill>
                <a:latin typeface="Times New Roman" panose="02020603050405020304" pitchFamily="18" charset="0"/>
                <a:cs typeface="Times New Roman" panose="02020603050405020304" pitchFamily="18" charset="0"/>
              </a:rPr>
              <a:t> döngüsü geleneksel olarak bu amaç için aşağıdaki gibi kullanılırsa sonsuz döngü olur. </a:t>
            </a:r>
          </a:p>
          <a:p>
            <a:pPr marL="201168" lvl="1" indent="0" algn="just">
              <a:lnSpc>
                <a:spcPct val="100000"/>
              </a:lnSpc>
              <a:buNone/>
            </a:pPr>
            <a:r>
              <a:rPr lang="tr-TR" sz="2000" b="1" i="1" dirty="0" err="1">
                <a:solidFill>
                  <a:schemeClr val="tx1"/>
                </a:solidFill>
                <a:latin typeface="Times New Roman" panose="02020603050405020304" pitchFamily="18" charset="0"/>
                <a:cs typeface="Times New Roman" panose="02020603050405020304" pitchFamily="18" charset="0"/>
              </a:rPr>
              <a:t>for</a:t>
            </a:r>
            <a:r>
              <a:rPr lang="tr-TR" sz="2000" dirty="0">
                <a:solidFill>
                  <a:schemeClr val="tx1"/>
                </a:solidFill>
                <a:latin typeface="Times New Roman" panose="02020603050405020304" pitchFamily="18" charset="0"/>
                <a:cs typeface="Times New Roman" panose="02020603050405020304" pitchFamily="18" charset="0"/>
              </a:rPr>
              <a:t>( ; ; )</a:t>
            </a:r>
          </a:p>
          <a:p>
            <a:pPr marL="0" algn="just">
              <a:lnSpc>
                <a:spcPct val="100000"/>
              </a:lnSpc>
              <a:buNone/>
            </a:pPr>
            <a:r>
              <a:rPr lang="tr-TR" dirty="0">
                <a:solidFill>
                  <a:schemeClr val="tx1"/>
                </a:solidFill>
                <a:latin typeface="Times New Roman" panose="02020603050405020304" pitchFamily="18" charset="0"/>
                <a:cs typeface="Times New Roman" panose="02020603050405020304" pitchFamily="18" charset="0"/>
              </a:rPr>
              <a:t>Koşullu ifade olmadığında, </a:t>
            </a:r>
            <a:r>
              <a:rPr lang="tr-TR">
                <a:solidFill>
                  <a:schemeClr val="tx1"/>
                </a:solidFill>
                <a:latin typeface="Times New Roman" panose="02020603050405020304" pitchFamily="18" charset="0"/>
                <a:cs typeface="Times New Roman" panose="02020603050405020304" pitchFamily="18" charset="0"/>
              </a:rPr>
              <a:t>her zaman doğru </a:t>
            </a:r>
            <a:r>
              <a:rPr lang="tr-TR" dirty="0">
                <a:solidFill>
                  <a:schemeClr val="tx1"/>
                </a:solidFill>
                <a:latin typeface="Times New Roman" panose="02020603050405020304" pitchFamily="18" charset="0"/>
                <a:cs typeface="Times New Roman" panose="02020603050405020304" pitchFamily="18" charset="0"/>
              </a:rPr>
              <a:t>olduğu varsayılır. Bir başlatma ve artırma ifadesi kullanılabilir, ancak programcılar daha yaygın olarak sonsuz bir döngüyü belirtmek için </a:t>
            </a:r>
            <a:r>
              <a:rPr lang="tr-TR" b="1" i="1" dirty="0" err="1">
                <a:solidFill>
                  <a:schemeClr val="tx1"/>
                </a:solidFill>
                <a:latin typeface="Times New Roman" panose="02020603050405020304" pitchFamily="18" charset="0"/>
                <a:cs typeface="Times New Roman" panose="02020603050405020304" pitchFamily="18" charset="0"/>
              </a:rPr>
              <a:t>for</a:t>
            </a:r>
            <a:r>
              <a:rPr lang="tr-TR" b="1" i="1" dirty="0">
                <a:solidFill>
                  <a:schemeClr val="tx1"/>
                </a:solidFill>
                <a:latin typeface="Times New Roman" panose="02020603050405020304" pitchFamily="18" charset="0"/>
                <a:cs typeface="Times New Roman" panose="02020603050405020304" pitchFamily="18" charset="0"/>
              </a:rPr>
              <a:t>(;;) </a:t>
            </a:r>
            <a:r>
              <a:rPr lang="tr-TR" dirty="0">
                <a:solidFill>
                  <a:schemeClr val="tx1"/>
                </a:solidFill>
                <a:latin typeface="Times New Roman" panose="02020603050405020304" pitchFamily="18" charset="0"/>
                <a:cs typeface="Times New Roman" panose="02020603050405020304" pitchFamily="18" charset="0"/>
              </a:rPr>
              <a:t>yapısını kullanır.</a:t>
            </a:r>
          </a:p>
        </p:txBody>
      </p:sp>
      <p:pic>
        <p:nvPicPr>
          <p:cNvPr id="2" name="Resim 1">
            <a:extLst>
              <a:ext uri="{FF2B5EF4-FFF2-40B4-BE49-F238E27FC236}">
                <a16:creationId xmlns:a16="http://schemas.microsoft.com/office/drawing/2014/main" id="{73D8D96E-D847-44E4-9182-7652FFFD370C}"/>
              </a:ext>
            </a:extLst>
          </p:cNvPr>
          <p:cNvPicPr>
            <a:picLocks noChangeAspect="1"/>
          </p:cNvPicPr>
          <p:nvPr/>
        </p:nvPicPr>
        <p:blipFill>
          <a:blip r:embed="rId2"/>
          <a:stretch>
            <a:fillRect/>
          </a:stretch>
        </p:blipFill>
        <p:spPr>
          <a:xfrm>
            <a:off x="7162098" y="3184858"/>
            <a:ext cx="5029902" cy="3258005"/>
          </a:xfrm>
          <a:prstGeom prst="rect">
            <a:avLst/>
          </a:prstGeom>
        </p:spPr>
      </p:pic>
    </p:spTree>
    <p:extLst>
      <p:ext uri="{BB962C8B-B14F-4D97-AF65-F5344CB8AC3E}">
        <p14:creationId xmlns:p14="http://schemas.microsoft.com/office/powerpoint/2010/main" val="378222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i="1" dirty="0" err="1">
                <a:solidFill>
                  <a:schemeClr val="tx1"/>
                </a:solidFill>
                <a:latin typeface="Times New Roman" panose="02020603050405020304" pitchFamily="18" charset="0"/>
                <a:cs typeface="Times New Roman" panose="02020603050405020304" pitchFamily="18" charset="0"/>
              </a:rPr>
              <a:t>foreach</a:t>
            </a:r>
            <a:r>
              <a:rPr lang="tr-TR" sz="3000" b="1" dirty="0">
                <a:solidFill>
                  <a:schemeClr val="tx1"/>
                </a:solidFill>
                <a:latin typeface="Times New Roman" panose="02020603050405020304" pitchFamily="18" charset="0"/>
                <a:cs typeface="Times New Roman" panose="02020603050405020304" pitchFamily="18" charset="0"/>
              </a:rPr>
              <a:t> Döngüsü</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Listeler ya da diziler üzerinde işlem yapmak için kullanılan döngü yapısıdır. </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Özellikle eleman sayısının bilinmediği durumlarda büyük kolaylık sağlamaktadır.</a:t>
            </a:r>
          </a:p>
          <a:p>
            <a:pPr algn="just">
              <a:lnSpc>
                <a:spcPct val="100000"/>
              </a:lnSpc>
            </a:pPr>
            <a:r>
              <a:rPr lang="tr-TR" sz="2400" dirty="0">
                <a:solidFill>
                  <a:schemeClr val="tx1"/>
                </a:solidFill>
                <a:latin typeface="Times New Roman" panose="02020603050405020304" pitchFamily="18" charset="0"/>
                <a:cs typeface="Times New Roman" panose="02020603050405020304" pitchFamily="18" charset="0"/>
              </a:rPr>
              <a:t>Aşağıdaki örnekte </a:t>
            </a:r>
            <a:r>
              <a:rPr lang="tr-TR" sz="2400" b="1" i="1" dirty="0" err="1">
                <a:solidFill>
                  <a:schemeClr val="tx1"/>
                </a:solidFill>
                <a:latin typeface="Times New Roman" panose="02020603050405020304" pitchFamily="18" charset="0"/>
                <a:cs typeface="Times New Roman" panose="02020603050405020304" pitchFamily="18" charset="0"/>
              </a:rPr>
              <a:t>foreach</a:t>
            </a:r>
            <a:r>
              <a:rPr lang="tr-TR" sz="2400" dirty="0">
                <a:solidFill>
                  <a:schemeClr val="tx1"/>
                </a:solidFill>
                <a:latin typeface="Times New Roman" panose="02020603050405020304" pitchFamily="18" charset="0"/>
                <a:cs typeface="Times New Roman" panose="02020603050405020304" pitchFamily="18" charset="0"/>
              </a:rPr>
              <a:t> döngüsü kullanılarak </a:t>
            </a:r>
            <a:r>
              <a:rPr lang="tr-TR" sz="2400" dirty="0" err="1">
                <a:solidFill>
                  <a:schemeClr val="tx1"/>
                </a:solidFill>
                <a:latin typeface="Times New Roman" panose="02020603050405020304" pitchFamily="18" charset="0"/>
                <a:cs typeface="Times New Roman" panose="02020603050405020304" pitchFamily="18" charset="0"/>
              </a:rPr>
              <a:t>string</a:t>
            </a:r>
            <a:r>
              <a:rPr lang="tr-TR" sz="2400" dirty="0">
                <a:solidFill>
                  <a:schemeClr val="tx1"/>
                </a:solidFill>
                <a:latin typeface="Times New Roman" panose="02020603050405020304" pitchFamily="18" charset="0"/>
                <a:cs typeface="Times New Roman" panose="02020603050405020304" pitchFamily="18" charset="0"/>
              </a:rPr>
              <a:t> bir dizi oluşturulup bu dizinin elemanlarının yazdırılması işlemi yapılmıştır.</a:t>
            </a:r>
            <a:endParaRPr lang="tr-TR" sz="2200" dirty="0">
              <a:solidFill>
                <a:schemeClr val="tx1"/>
              </a:solidFill>
              <a:latin typeface="Times New Roman" panose="02020603050405020304" pitchFamily="18" charset="0"/>
              <a:cs typeface="Times New Roman" panose="02020603050405020304" pitchFamily="18" charset="0"/>
            </a:endParaRPr>
          </a:p>
        </p:txBody>
      </p:sp>
      <p:pic>
        <p:nvPicPr>
          <p:cNvPr id="4" name="Resim 3">
            <a:extLst>
              <a:ext uri="{FF2B5EF4-FFF2-40B4-BE49-F238E27FC236}">
                <a16:creationId xmlns:a16="http://schemas.microsoft.com/office/drawing/2014/main" id="{33C70E5D-C5B6-4EF9-BFBC-AE0D7915CC68}"/>
              </a:ext>
            </a:extLst>
          </p:cNvPr>
          <p:cNvPicPr>
            <a:picLocks noChangeAspect="1"/>
          </p:cNvPicPr>
          <p:nvPr/>
        </p:nvPicPr>
        <p:blipFill>
          <a:blip r:embed="rId2"/>
          <a:stretch>
            <a:fillRect/>
          </a:stretch>
        </p:blipFill>
        <p:spPr>
          <a:xfrm>
            <a:off x="1477135" y="2604957"/>
            <a:ext cx="4925112" cy="3858163"/>
          </a:xfrm>
          <a:prstGeom prst="rect">
            <a:avLst/>
          </a:prstGeom>
        </p:spPr>
      </p:pic>
      <p:sp>
        <p:nvSpPr>
          <p:cNvPr id="9" name="Metin kutusu 8">
            <a:extLst>
              <a:ext uri="{FF2B5EF4-FFF2-40B4-BE49-F238E27FC236}">
                <a16:creationId xmlns:a16="http://schemas.microsoft.com/office/drawing/2014/main" id="{5CB5E023-0911-45E8-99EC-776CFABD5AFE}"/>
              </a:ext>
            </a:extLst>
          </p:cNvPr>
          <p:cNvSpPr txBox="1"/>
          <p:nvPr/>
        </p:nvSpPr>
        <p:spPr>
          <a:xfrm>
            <a:off x="5590573" y="4976352"/>
            <a:ext cx="702197" cy="1384995"/>
          </a:xfrm>
          <a:prstGeom prst="rect">
            <a:avLst/>
          </a:prstGeom>
          <a:solidFill>
            <a:schemeClr val="tx2">
              <a:lumMod val="95000"/>
            </a:schemeClr>
          </a:solidFill>
        </p:spPr>
        <p:txBody>
          <a:bodyPr wrap="square">
            <a:spAutoFit/>
          </a:bodyPr>
          <a:lstStyle/>
          <a:p>
            <a:r>
              <a:rPr lang="tr-TR" sz="1400" dirty="0"/>
              <a:t>Ahmet</a:t>
            </a:r>
          </a:p>
          <a:p>
            <a:r>
              <a:rPr lang="tr-TR" sz="1400" dirty="0"/>
              <a:t>Furkan</a:t>
            </a:r>
          </a:p>
          <a:p>
            <a:r>
              <a:rPr lang="tr-TR" sz="1400" dirty="0"/>
              <a:t>Elif</a:t>
            </a:r>
          </a:p>
          <a:p>
            <a:r>
              <a:rPr lang="tr-TR" sz="1400" dirty="0"/>
              <a:t>Hakan</a:t>
            </a:r>
          </a:p>
          <a:p>
            <a:r>
              <a:rPr lang="tr-TR" sz="1400" dirty="0"/>
              <a:t>Sema</a:t>
            </a:r>
          </a:p>
          <a:p>
            <a:r>
              <a:rPr lang="tr-TR" sz="1400" dirty="0"/>
              <a:t>Nalan</a:t>
            </a:r>
          </a:p>
        </p:txBody>
      </p:sp>
    </p:spTree>
    <p:extLst>
      <p:ext uri="{BB962C8B-B14F-4D97-AF65-F5344CB8AC3E}">
        <p14:creationId xmlns:p14="http://schemas.microsoft.com/office/powerpoint/2010/main" val="2248784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i="1" dirty="0">
                <a:solidFill>
                  <a:schemeClr val="tx1"/>
                </a:solidFill>
                <a:latin typeface="Times New Roman" panose="02020603050405020304" pitchFamily="18" charset="0"/>
                <a:cs typeface="Times New Roman" panose="02020603050405020304" pitchFamily="18" charset="0"/>
              </a:rPr>
              <a:t>Örnek: </a:t>
            </a:r>
            <a:r>
              <a:rPr lang="tr-TR" sz="3000" dirty="0">
                <a:solidFill>
                  <a:schemeClr val="tx1"/>
                </a:solidFill>
                <a:latin typeface="Times New Roman" panose="02020603050405020304" pitchFamily="18" charset="0"/>
                <a:cs typeface="Times New Roman" panose="02020603050405020304" pitchFamily="18" charset="0"/>
              </a:rPr>
              <a:t>Girilen N sayının ortalamasını bulan program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759" y="519602"/>
            <a:ext cx="5618785" cy="569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ikdörtgen 1"/>
          <p:cNvSpPr/>
          <p:nvPr/>
        </p:nvSpPr>
        <p:spPr>
          <a:xfrm>
            <a:off x="7724171" y="1288129"/>
            <a:ext cx="2287929" cy="2031325"/>
          </a:xfrm>
          <a:prstGeom prst="rect">
            <a:avLst/>
          </a:prstGeom>
          <a:solidFill>
            <a:schemeClr val="bg2">
              <a:lumMod val="85000"/>
            </a:schemeClr>
          </a:solidFill>
        </p:spPr>
        <p:txBody>
          <a:bodyPr wrap="square">
            <a:spAutoFit/>
          </a:bodyPr>
          <a:lstStyle/>
          <a:p>
            <a:r>
              <a:rPr lang="tr-TR" dirty="0"/>
              <a:t>Kaç sayı girilecek?:5</a:t>
            </a:r>
          </a:p>
          <a:p>
            <a:r>
              <a:rPr lang="tr-TR" dirty="0"/>
              <a:t>1. sayı:2</a:t>
            </a:r>
          </a:p>
          <a:p>
            <a:r>
              <a:rPr lang="tr-TR" dirty="0"/>
              <a:t>2. sayı:1</a:t>
            </a:r>
          </a:p>
          <a:p>
            <a:r>
              <a:rPr lang="tr-TR" dirty="0"/>
              <a:t>3. sayı:4</a:t>
            </a:r>
          </a:p>
          <a:p>
            <a:r>
              <a:rPr lang="tr-TR" dirty="0"/>
              <a:t>4. sayı:5</a:t>
            </a:r>
          </a:p>
          <a:p>
            <a:r>
              <a:rPr lang="tr-TR" dirty="0"/>
              <a:t>5. sayı:0</a:t>
            </a:r>
          </a:p>
          <a:p>
            <a:r>
              <a:rPr lang="tr-TR" dirty="0"/>
              <a:t>Ortalama = 2,4</a:t>
            </a:r>
          </a:p>
        </p:txBody>
      </p:sp>
    </p:spTree>
    <p:extLst>
      <p:ext uri="{BB962C8B-B14F-4D97-AF65-F5344CB8AC3E}">
        <p14:creationId xmlns:p14="http://schemas.microsoft.com/office/powerpoint/2010/main" val="3111851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i="1" dirty="0">
                <a:solidFill>
                  <a:schemeClr val="tx1"/>
                </a:solidFill>
                <a:latin typeface="Times New Roman" panose="02020603050405020304" pitchFamily="18" charset="0"/>
                <a:cs typeface="Times New Roman" panose="02020603050405020304" pitchFamily="18" charset="0"/>
              </a:rPr>
              <a:t>Örnek: </a:t>
            </a:r>
            <a:r>
              <a:rPr lang="tr-TR" sz="3000" dirty="0">
                <a:solidFill>
                  <a:schemeClr val="tx1"/>
                </a:solidFill>
                <a:latin typeface="Times New Roman" panose="02020603050405020304" pitchFamily="18" charset="0"/>
                <a:cs typeface="Times New Roman" panose="02020603050405020304" pitchFamily="18" charset="0"/>
              </a:rPr>
              <a:t>Girilen bir sayının basamak değerleri toplamını bulan program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737" y="800338"/>
            <a:ext cx="6496050" cy="554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ikdörtgen 3"/>
          <p:cNvSpPr/>
          <p:nvPr/>
        </p:nvSpPr>
        <p:spPr>
          <a:xfrm>
            <a:off x="8287473" y="999639"/>
            <a:ext cx="1608881" cy="923330"/>
          </a:xfrm>
          <a:prstGeom prst="rect">
            <a:avLst/>
          </a:prstGeom>
          <a:solidFill>
            <a:schemeClr val="bg2">
              <a:lumMod val="85000"/>
            </a:schemeClr>
          </a:solidFill>
        </p:spPr>
        <p:txBody>
          <a:bodyPr wrap="square">
            <a:spAutoFit/>
          </a:bodyPr>
          <a:lstStyle/>
          <a:p>
            <a:r>
              <a:rPr lang="en-US" dirty="0" err="1"/>
              <a:t>Bir</a:t>
            </a:r>
            <a:r>
              <a:rPr lang="en-US" dirty="0"/>
              <a:t> </a:t>
            </a:r>
            <a:r>
              <a:rPr lang="en-US" dirty="0" err="1"/>
              <a:t>sayı</a:t>
            </a:r>
            <a:r>
              <a:rPr lang="en-US" dirty="0"/>
              <a:t> </a:t>
            </a:r>
            <a:r>
              <a:rPr lang="en-US" dirty="0" err="1"/>
              <a:t>girin</a:t>
            </a:r>
            <a:r>
              <a:rPr lang="en-US" dirty="0"/>
              <a:t>:</a:t>
            </a:r>
          </a:p>
          <a:p>
            <a:r>
              <a:rPr lang="en-US" dirty="0"/>
              <a:t>1357</a:t>
            </a:r>
          </a:p>
          <a:p>
            <a:r>
              <a:rPr lang="en-US" dirty="0" err="1"/>
              <a:t>Sonuç</a:t>
            </a:r>
            <a:r>
              <a:rPr lang="en-US" dirty="0"/>
              <a:t>: 16</a:t>
            </a:r>
            <a:endParaRPr lang="tr-TR" dirty="0"/>
          </a:p>
        </p:txBody>
      </p:sp>
    </p:spTree>
    <p:extLst>
      <p:ext uri="{BB962C8B-B14F-4D97-AF65-F5344CB8AC3E}">
        <p14:creationId xmlns:p14="http://schemas.microsoft.com/office/powerpoint/2010/main" val="2769947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fontScale="92500"/>
          </a:bodyPr>
          <a:lstStyle/>
          <a:p>
            <a:r>
              <a:rPr lang="tr-TR" sz="3000" b="1" i="1" dirty="0">
                <a:solidFill>
                  <a:schemeClr val="tx1"/>
                </a:solidFill>
                <a:latin typeface="Times New Roman" panose="02020603050405020304" pitchFamily="18" charset="0"/>
                <a:cs typeface="Times New Roman" panose="02020603050405020304" pitchFamily="18" charset="0"/>
              </a:rPr>
              <a:t>Örnek: </a:t>
            </a:r>
            <a:r>
              <a:rPr lang="tr-TR" sz="3000" dirty="0">
                <a:solidFill>
                  <a:schemeClr val="tx1"/>
                </a:solidFill>
                <a:latin typeface="Times New Roman" panose="02020603050405020304" pitchFamily="18" charset="0"/>
                <a:cs typeface="Times New Roman" panose="02020603050405020304" pitchFamily="18" charset="0"/>
              </a:rPr>
              <a:t>Girilen bir sayı dizisinin elemanlarına </a:t>
            </a:r>
            <a:r>
              <a:rPr lang="tr-TR" sz="3000" i="1" dirty="0" err="1">
                <a:solidFill>
                  <a:schemeClr val="tx1"/>
                </a:solidFill>
                <a:latin typeface="Times New Roman" panose="02020603050405020304" pitchFamily="18" charset="0"/>
                <a:cs typeface="Times New Roman" panose="02020603050405020304" pitchFamily="18" charset="0"/>
              </a:rPr>
              <a:t>foreach</a:t>
            </a:r>
            <a:r>
              <a:rPr lang="tr-TR" sz="3000" dirty="0">
                <a:solidFill>
                  <a:schemeClr val="tx1"/>
                </a:solidFill>
                <a:latin typeface="Times New Roman" panose="02020603050405020304" pitchFamily="18" charset="0"/>
                <a:cs typeface="Times New Roman" panose="02020603050405020304" pitchFamily="18" charset="0"/>
              </a:rPr>
              <a:t> döngüsü ile erişilen örnek</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0520" y="552691"/>
            <a:ext cx="6357533" cy="615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ikdörtgen 1"/>
          <p:cNvSpPr/>
          <p:nvPr/>
        </p:nvSpPr>
        <p:spPr>
          <a:xfrm>
            <a:off x="8684871" y="1068690"/>
            <a:ext cx="1755494" cy="646331"/>
          </a:xfrm>
          <a:prstGeom prst="rect">
            <a:avLst/>
          </a:prstGeom>
          <a:solidFill>
            <a:schemeClr val="bg2">
              <a:lumMod val="85000"/>
            </a:schemeClr>
          </a:solidFill>
        </p:spPr>
        <p:txBody>
          <a:bodyPr wrap="square">
            <a:spAutoFit/>
          </a:bodyPr>
          <a:lstStyle/>
          <a:p>
            <a:r>
              <a:rPr lang="tr-TR" dirty="0"/>
              <a:t>En </a:t>
            </a:r>
            <a:r>
              <a:rPr lang="tr-TR" dirty="0" err="1"/>
              <a:t>kucuk</a:t>
            </a:r>
            <a:r>
              <a:rPr lang="tr-TR" dirty="0"/>
              <a:t> = -20</a:t>
            </a:r>
          </a:p>
          <a:p>
            <a:r>
              <a:rPr lang="tr-TR" dirty="0"/>
              <a:t>En </a:t>
            </a:r>
            <a:r>
              <a:rPr lang="tr-TR" dirty="0" err="1"/>
              <a:t>buyuk</a:t>
            </a:r>
            <a:r>
              <a:rPr lang="tr-TR" dirty="0"/>
              <a:t> = 100</a:t>
            </a:r>
          </a:p>
        </p:txBody>
      </p:sp>
    </p:spTree>
    <p:extLst>
      <p:ext uri="{BB962C8B-B14F-4D97-AF65-F5344CB8AC3E}">
        <p14:creationId xmlns:p14="http://schemas.microsoft.com/office/powerpoint/2010/main" val="3266718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0" y="0"/>
            <a:ext cx="12192000" cy="625475"/>
          </a:xfrm>
        </p:spPr>
        <p:txBody>
          <a:bodyPr anchor="ctr">
            <a:normAutofit/>
          </a:bodyPr>
          <a:lstStyle/>
          <a:p>
            <a:r>
              <a:rPr lang="tr-TR" sz="3000" b="1" dirty="0" err="1">
                <a:solidFill>
                  <a:schemeClr val="tx1"/>
                </a:solidFill>
                <a:latin typeface="Times New Roman" panose="02020603050405020304" pitchFamily="18" charset="0"/>
                <a:cs typeface="Times New Roman" panose="02020603050405020304" pitchFamily="18" charset="0"/>
              </a:rPr>
              <a:t>Kapsülleme</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Encapsulation</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1207770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dirty="0" err="1">
                <a:solidFill>
                  <a:schemeClr val="tx1"/>
                </a:solidFill>
                <a:latin typeface="Times New Roman" panose="02020603050405020304" pitchFamily="18" charset="0"/>
                <a:cs typeface="Times New Roman" panose="02020603050405020304" pitchFamily="18" charset="0"/>
              </a:rPr>
              <a:t>Kapsülleme</a:t>
            </a:r>
            <a:r>
              <a:rPr lang="tr-TR" dirty="0">
                <a:solidFill>
                  <a:schemeClr val="tx1"/>
                </a:solidFill>
                <a:latin typeface="Times New Roman" panose="02020603050405020304" pitchFamily="18" charset="0"/>
                <a:cs typeface="Times New Roman" panose="02020603050405020304" pitchFamily="18" charset="0"/>
              </a:rPr>
              <a:t>, "bir veya daha fazla öğenin fiziksel veya mantıksal bir paket içine alınması süreci" olarak tanımlanır. </a:t>
            </a:r>
          </a:p>
          <a:p>
            <a:pPr algn="just">
              <a:lnSpc>
                <a:spcPct val="100000"/>
              </a:lnSpc>
            </a:pPr>
            <a:r>
              <a:rPr lang="tr-TR" dirty="0" err="1">
                <a:solidFill>
                  <a:schemeClr val="tx1"/>
                </a:solidFill>
                <a:latin typeface="Times New Roman" panose="02020603050405020304" pitchFamily="18" charset="0"/>
                <a:cs typeface="Times New Roman" panose="02020603050405020304" pitchFamily="18" charset="0"/>
              </a:rPr>
              <a:t>Kapsülleme</a:t>
            </a:r>
            <a:r>
              <a:rPr lang="tr-TR" dirty="0">
                <a:solidFill>
                  <a:schemeClr val="tx1"/>
                </a:solidFill>
                <a:latin typeface="Times New Roman" panose="02020603050405020304" pitchFamily="18" charset="0"/>
                <a:cs typeface="Times New Roman" panose="02020603050405020304" pitchFamily="18" charset="0"/>
              </a:rPr>
              <a:t>, nesne yönelimli programlama (NYP) metodolojisinde, uygulama detaylarına erişimi engeller.</a:t>
            </a:r>
          </a:p>
          <a:p>
            <a:pPr algn="just">
              <a:lnSpc>
                <a:spcPct val="100000"/>
              </a:lnSpc>
            </a:pPr>
            <a:r>
              <a:rPr lang="tr-TR" dirty="0">
                <a:solidFill>
                  <a:schemeClr val="tx1"/>
                </a:solidFill>
                <a:latin typeface="Times New Roman" panose="02020603050405020304" pitchFamily="18" charset="0"/>
                <a:cs typeface="Times New Roman" panose="02020603050405020304" pitchFamily="18" charset="0"/>
              </a:rPr>
              <a:t>Soyutlama ve </a:t>
            </a:r>
            <a:r>
              <a:rPr lang="tr-TR" dirty="0" err="1">
                <a:solidFill>
                  <a:schemeClr val="tx1"/>
                </a:solidFill>
                <a:latin typeface="Times New Roman" panose="02020603050405020304" pitchFamily="18" charset="0"/>
                <a:cs typeface="Times New Roman" panose="02020603050405020304" pitchFamily="18" charset="0"/>
              </a:rPr>
              <a:t>kapsülleme</a:t>
            </a:r>
            <a:r>
              <a:rPr lang="tr-TR" dirty="0">
                <a:solidFill>
                  <a:schemeClr val="tx1"/>
                </a:solidFill>
                <a:latin typeface="Times New Roman" panose="02020603050405020304" pitchFamily="18" charset="0"/>
                <a:cs typeface="Times New Roman" panose="02020603050405020304" pitchFamily="18" charset="0"/>
              </a:rPr>
              <a:t>, nesne yönelimli programlamada ilişkili özelliklerdir. </a:t>
            </a:r>
          </a:p>
          <a:p>
            <a:pPr algn="just">
              <a:lnSpc>
                <a:spcPct val="100000"/>
              </a:lnSpc>
            </a:pPr>
            <a:r>
              <a:rPr lang="tr-TR" dirty="0">
                <a:solidFill>
                  <a:schemeClr val="tx1"/>
                </a:solidFill>
                <a:latin typeface="Times New Roman" panose="02020603050405020304" pitchFamily="18" charset="0"/>
                <a:cs typeface="Times New Roman" panose="02020603050405020304" pitchFamily="18" charset="0"/>
              </a:rPr>
              <a:t>Soyutlama, ilgili bilgilerin görünür hale getirilmesine izin verir. </a:t>
            </a:r>
            <a:r>
              <a:rPr lang="tr-TR" dirty="0" err="1">
                <a:solidFill>
                  <a:schemeClr val="tx1"/>
                </a:solidFill>
                <a:latin typeface="Times New Roman" panose="02020603050405020304" pitchFamily="18" charset="0"/>
                <a:cs typeface="Times New Roman" panose="02020603050405020304" pitchFamily="18" charset="0"/>
              </a:rPr>
              <a:t>Kapsülleme</a:t>
            </a:r>
            <a:r>
              <a:rPr lang="tr-TR" dirty="0">
                <a:solidFill>
                  <a:schemeClr val="tx1"/>
                </a:solidFill>
                <a:latin typeface="Times New Roman" panose="02020603050405020304" pitchFamily="18" charset="0"/>
                <a:cs typeface="Times New Roman" panose="02020603050405020304" pitchFamily="18" charset="0"/>
              </a:rPr>
              <a:t> ise, bir programcının istenen soyutlama seviyesini uygulamasını sağlar.</a:t>
            </a:r>
          </a:p>
          <a:p>
            <a:pPr algn="just">
              <a:lnSpc>
                <a:spcPct val="100000"/>
              </a:lnSpc>
            </a:pPr>
            <a:r>
              <a:rPr lang="tr-TR" dirty="0" err="1">
                <a:solidFill>
                  <a:schemeClr val="tx1"/>
                </a:solidFill>
                <a:latin typeface="Times New Roman" panose="02020603050405020304" pitchFamily="18" charset="0"/>
                <a:cs typeface="Times New Roman" panose="02020603050405020304" pitchFamily="18" charset="0"/>
              </a:rPr>
              <a:t>Kapsülleme</a:t>
            </a:r>
            <a:r>
              <a:rPr lang="tr-TR" dirty="0">
                <a:solidFill>
                  <a:schemeClr val="tx1"/>
                </a:solidFill>
                <a:latin typeface="Times New Roman" panose="02020603050405020304" pitchFamily="18" charset="0"/>
                <a:cs typeface="Times New Roman" panose="02020603050405020304" pitchFamily="18" charset="0"/>
              </a:rPr>
              <a:t>, erişim belirteçleri (</a:t>
            </a:r>
            <a:r>
              <a:rPr lang="tr-TR" dirty="0" err="1">
                <a:solidFill>
                  <a:schemeClr val="tx1"/>
                </a:solidFill>
                <a:latin typeface="Times New Roman" panose="02020603050405020304" pitchFamily="18" charset="0"/>
                <a:cs typeface="Times New Roman" panose="02020603050405020304" pitchFamily="18" charset="0"/>
              </a:rPr>
              <a:t>access</a:t>
            </a:r>
            <a:r>
              <a:rPr lang="tr-TR" dirty="0">
                <a:solidFill>
                  <a:schemeClr val="tx1"/>
                </a:solidFill>
                <a:latin typeface="Times New Roman" panose="02020603050405020304" pitchFamily="18" charset="0"/>
                <a:cs typeface="Times New Roman" panose="02020603050405020304" pitchFamily="18" charset="0"/>
              </a:rPr>
              <a:t> </a:t>
            </a:r>
            <a:r>
              <a:rPr lang="tr-TR" dirty="0" err="1">
                <a:solidFill>
                  <a:schemeClr val="tx1"/>
                </a:solidFill>
                <a:latin typeface="Times New Roman" panose="02020603050405020304" pitchFamily="18" charset="0"/>
                <a:cs typeface="Times New Roman" panose="02020603050405020304" pitchFamily="18" charset="0"/>
              </a:rPr>
              <a:t>specifiers</a:t>
            </a:r>
            <a:r>
              <a:rPr lang="tr-TR" dirty="0">
                <a:solidFill>
                  <a:schemeClr val="tx1"/>
                </a:solidFill>
                <a:latin typeface="Times New Roman" panose="02020603050405020304" pitchFamily="18" charset="0"/>
                <a:cs typeface="Times New Roman" panose="02020603050405020304" pitchFamily="18" charset="0"/>
              </a:rPr>
              <a:t>) kullanılarak gerçekleştirilir. Bir erişim belirteci, bir sınıf üyesinin kapsamını ve görünürlüğünü tanımlar. C# aşağıdaki erişim belirteçlerini destekler: </a:t>
            </a:r>
          </a:p>
          <a:p>
            <a:pPr lvl="2" algn="just">
              <a:lnSpc>
                <a:spcPct val="100000"/>
              </a:lnSpc>
            </a:pPr>
            <a:r>
              <a:rPr lang="tr-TR" sz="1800" dirty="0" err="1">
                <a:solidFill>
                  <a:schemeClr val="tx1"/>
                </a:solidFill>
                <a:latin typeface="Times New Roman" panose="02020603050405020304" pitchFamily="18" charset="0"/>
                <a:cs typeface="Times New Roman" panose="02020603050405020304" pitchFamily="18" charset="0"/>
              </a:rPr>
              <a:t>Public</a:t>
            </a:r>
            <a:endParaRPr lang="tr-TR" sz="1800" dirty="0">
              <a:solidFill>
                <a:schemeClr val="tx1"/>
              </a:solidFill>
              <a:latin typeface="Times New Roman" panose="02020603050405020304" pitchFamily="18" charset="0"/>
              <a:cs typeface="Times New Roman" panose="02020603050405020304" pitchFamily="18" charset="0"/>
            </a:endParaRPr>
          </a:p>
          <a:p>
            <a:pPr lvl="2" algn="just">
              <a:lnSpc>
                <a:spcPct val="100000"/>
              </a:lnSpc>
            </a:pPr>
            <a:r>
              <a:rPr lang="tr-TR" sz="1800" dirty="0" err="1">
                <a:solidFill>
                  <a:schemeClr val="tx1"/>
                </a:solidFill>
                <a:latin typeface="Times New Roman" panose="02020603050405020304" pitchFamily="18" charset="0"/>
                <a:cs typeface="Times New Roman" panose="02020603050405020304" pitchFamily="18" charset="0"/>
              </a:rPr>
              <a:t>Private</a:t>
            </a:r>
            <a:endParaRPr lang="tr-TR" sz="1800" dirty="0">
              <a:solidFill>
                <a:schemeClr val="tx1"/>
              </a:solidFill>
              <a:latin typeface="Times New Roman" panose="02020603050405020304" pitchFamily="18" charset="0"/>
              <a:cs typeface="Times New Roman" panose="02020603050405020304" pitchFamily="18" charset="0"/>
            </a:endParaRPr>
          </a:p>
          <a:p>
            <a:pPr lvl="2" algn="just">
              <a:lnSpc>
                <a:spcPct val="100000"/>
              </a:lnSpc>
            </a:pPr>
            <a:r>
              <a:rPr lang="tr-TR" sz="1800" dirty="0" err="1">
                <a:solidFill>
                  <a:schemeClr val="tx1"/>
                </a:solidFill>
                <a:latin typeface="Times New Roman" panose="02020603050405020304" pitchFamily="18" charset="0"/>
                <a:cs typeface="Times New Roman" panose="02020603050405020304" pitchFamily="18" charset="0"/>
              </a:rPr>
              <a:t>Protected</a:t>
            </a:r>
            <a:endParaRPr lang="tr-TR" sz="1800" dirty="0">
              <a:solidFill>
                <a:schemeClr val="tx1"/>
              </a:solidFill>
              <a:latin typeface="Times New Roman" panose="02020603050405020304" pitchFamily="18" charset="0"/>
              <a:cs typeface="Times New Roman" panose="02020603050405020304" pitchFamily="18" charset="0"/>
            </a:endParaRPr>
          </a:p>
          <a:p>
            <a:pPr lvl="2" algn="just">
              <a:lnSpc>
                <a:spcPct val="100000"/>
              </a:lnSpc>
            </a:pPr>
            <a:r>
              <a:rPr lang="tr-TR" sz="1800" dirty="0" err="1">
                <a:solidFill>
                  <a:schemeClr val="tx1"/>
                </a:solidFill>
                <a:latin typeface="Times New Roman" panose="02020603050405020304" pitchFamily="18" charset="0"/>
                <a:cs typeface="Times New Roman" panose="02020603050405020304" pitchFamily="18" charset="0"/>
              </a:rPr>
              <a:t>Internal</a:t>
            </a:r>
            <a:endParaRPr lang="tr-TR" sz="1800" dirty="0">
              <a:solidFill>
                <a:schemeClr val="tx1"/>
              </a:solidFill>
              <a:latin typeface="Times New Roman" panose="02020603050405020304" pitchFamily="18" charset="0"/>
              <a:cs typeface="Times New Roman" panose="02020603050405020304" pitchFamily="18" charset="0"/>
            </a:endParaRPr>
          </a:p>
          <a:p>
            <a:pPr lvl="2" algn="just">
              <a:lnSpc>
                <a:spcPct val="100000"/>
              </a:lnSpc>
            </a:pPr>
            <a:r>
              <a:rPr lang="tr-TR" sz="1800" dirty="0" err="1">
                <a:solidFill>
                  <a:schemeClr val="tx1"/>
                </a:solidFill>
                <a:latin typeface="Times New Roman" panose="02020603050405020304" pitchFamily="18" charset="0"/>
                <a:cs typeface="Times New Roman" panose="02020603050405020304" pitchFamily="18" charset="0"/>
              </a:rPr>
              <a:t>Protected</a:t>
            </a:r>
            <a:r>
              <a:rPr lang="tr-TR" sz="1800" dirty="0">
                <a:solidFill>
                  <a:schemeClr val="tx1"/>
                </a:solidFill>
                <a:latin typeface="Times New Roman" panose="02020603050405020304" pitchFamily="18" charset="0"/>
                <a:cs typeface="Times New Roman" panose="02020603050405020304" pitchFamily="18" charset="0"/>
              </a:rPr>
              <a:t> </a:t>
            </a:r>
            <a:r>
              <a:rPr lang="tr-TR" sz="1800" dirty="0" err="1">
                <a:solidFill>
                  <a:schemeClr val="tx1"/>
                </a:solidFill>
                <a:latin typeface="Times New Roman" panose="02020603050405020304" pitchFamily="18" charset="0"/>
                <a:cs typeface="Times New Roman" panose="02020603050405020304" pitchFamily="18" charset="0"/>
              </a:rPr>
              <a:t>Internal</a:t>
            </a:r>
            <a:endParaRPr lang="tr-TR" sz="18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239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92598" y="0"/>
            <a:ext cx="12099402" cy="625475"/>
          </a:xfrm>
        </p:spPr>
        <p:txBody>
          <a:bodyPr anchor="ctr">
            <a:normAutofit/>
          </a:bodyPr>
          <a:lstStyle/>
          <a:p>
            <a:pPr marL="0" indent="0">
              <a:buNone/>
            </a:pPr>
            <a:r>
              <a:rPr lang="tr-TR" sz="3000" b="1" i="1" dirty="0" err="1">
                <a:solidFill>
                  <a:schemeClr val="tx1"/>
                </a:solidFill>
                <a:latin typeface="Times New Roman" panose="02020603050405020304" pitchFamily="18" charset="0"/>
                <a:cs typeface="Times New Roman" panose="02020603050405020304" pitchFamily="18" charset="0"/>
              </a:rPr>
              <a:t>Public</a:t>
            </a:r>
            <a:r>
              <a:rPr lang="tr-TR" sz="3000" b="1" dirty="0">
                <a:solidFill>
                  <a:schemeClr val="tx1"/>
                </a:solidFill>
                <a:latin typeface="Times New Roman" panose="02020603050405020304" pitchFamily="18" charset="0"/>
                <a:cs typeface="Times New Roman" panose="02020603050405020304" pitchFamily="18" charset="0"/>
              </a:rPr>
              <a:t> Erişim Belirteci</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733835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b="1" i="1" dirty="0" err="1">
                <a:solidFill>
                  <a:schemeClr val="tx1"/>
                </a:solidFill>
                <a:latin typeface="Times New Roman" panose="02020603050405020304" pitchFamily="18" charset="0"/>
                <a:cs typeface="Times New Roman" panose="02020603050405020304" pitchFamily="18" charset="0"/>
              </a:rPr>
              <a:t>public</a:t>
            </a:r>
            <a:r>
              <a:rPr lang="tr-TR" sz="2200" dirty="0">
                <a:solidFill>
                  <a:schemeClr val="tx1"/>
                </a:solidFill>
                <a:latin typeface="Times New Roman" panose="02020603050405020304" pitchFamily="18" charset="0"/>
                <a:cs typeface="Times New Roman" panose="02020603050405020304" pitchFamily="18" charset="0"/>
              </a:rPr>
              <a:t> erişim belirteci, bir sınıfın üye değişkenlerini ve üye fonksiyonlarını diğer fonksiyonlara ve nesnelere göstermesine izin verir.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Herhangi bir </a:t>
            </a:r>
            <a:r>
              <a:rPr lang="tr-TR" sz="2200" b="1" i="1" dirty="0" err="1">
                <a:solidFill>
                  <a:schemeClr val="tx1"/>
                </a:solidFill>
                <a:latin typeface="Times New Roman" panose="02020603050405020304" pitchFamily="18" charset="0"/>
                <a:cs typeface="Times New Roman" panose="02020603050405020304" pitchFamily="18" charset="0"/>
              </a:rPr>
              <a:t>public</a:t>
            </a:r>
            <a:r>
              <a:rPr lang="tr-TR" sz="2200" dirty="0">
                <a:solidFill>
                  <a:schemeClr val="tx1"/>
                </a:solidFill>
                <a:latin typeface="Times New Roman" panose="02020603050405020304" pitchFamily="18" charset="0"/>
                <a:cs typeface="Times New Roman" panose="02020603050405020304" pitchFamily="18" charset="0"/>
              </a:rPr>
              <a:t> üyeye sınıf dışından erişilebilir.</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Yandaki örnekte, </a:t>
            </a:r>
            <a:r>
              <a:rPr lang="tr-TR" sz="2200" b="1" i="1" dirty="0" err="1">
                <a:solidFill>
                  <a:srgbClr val="7030A0"/>
                </a:solidFill>
                <a:latin typeface="Times New Roman" panose="02020603050405020304" pitchFamily="18" charset="0"/>
                <a:cs typeface="Times New Roman" panose="02020603050405020304" pitchFamily="18" charset="0"/>
              </a:rPr>
              <a:t>width</a:t>
            </a:r>
            <a:r>
              <a:rPr lang="tr-TR" sz="2200" dirty="0">
                <a:solidFill>
                  <a:schemeClr val="tx1"/>
                </a:solidFill>
                <a:latin typeface="Times New Roman" panose="02020603050405020304" pitchFamily="18" charset="0"/>
                <a:cs typeface="Times New Roman" panose="02020603050405020304" pitchFamily="18" charset="0"/>
              </a:rPr>
              <a:t> ve </a:t>
            </a:r>
            <a:r>
              <a:rPr lang="tr-TR" sz="2200" b="1" i="1" dirty="0" err="1">
                <a:solidFill>
                  <a:srgbClr val="7030A0"/>
                </a:solidFill>
                <a:latin typeface="Times New Roman" panose="02020603050405020304" pitchFamily="18" charset="0"/>
                <a:cs typeface="Times New Roman" panose="02020603050405020304" pitchFamily="18" charset="0"/>
              </a:rPr>
              <a:t>length</a:t>
            </a:r>
            <a:r>
              <a:rPr lang="tr-TR" sz="2200" dirty="0">
                <a:solidFill>
                  <a:schemeClr val="tx1"/>
                </a:solidFill>
                <a:latin typeface="Times New Roman" panose="02020603050405020304" pitchFamily="18" charset="0"/>
                <a:cs typeface="Times New Roman" panose="02020603050405020304" pitchFamily="18" charset="0"/>
              </a:rPr>
              <a:t> üye değişkenleri </a:t>
            </a:r>
            <a:r>
              <a:rPr lang="tr-TR" sz="2200" b="1" i="1" dirty="0" err="1">
                <a:solidFill>
                  <a:schemeClr val="tx1"/>
                </a:solidFill>
                <a:latin typeface="Times New Roman" panose="02020603050405020304" pitchFamily="18" charset="0"/>
                <a:cs typeface="Times New Roman" panose="02020603050405020304" pitchFamily="18" charset="0"/>
              </a:rPr>
              <a:t>pub</a:t>
            </a:r>
            <a:r>
              <a:rPr lang="tr-TR" sz="2200" b="1" i="1" dirty="0" err="1">
                <a:solidFill>
                  <a:schemeClr val="bg1"/>
                </a:solidFill>
                <a:latin typeface="Times New Roman" panose="02020603050405020304" pitchFamily="18" charset="0"/>
                <a:cs typeface="Times New Roman" panose="02020603050405020304" pitchFamily="18" charset="0"/>
              </a:rPr>
              <a:t>l</a:t>
            </a:r>
            <a:r>
              <a:rPr lang="tr-TR" sz="2200" b="1" i="1" dirty="0" err="1">
                <a:solidFill>
                  <a:schemeClr val="tx1"/>
                </a:solidFill>
                <a:latin typeface="Times New Roman" panose="02020603050405020304" pitchFamily="18" charset="0"/>
                <a:cs typeface="Times New Roman" panose="02020603050405020304" pitchFamily="18" charset="0"/>
              </a:rPr>
              <a:t>ic</a:t>
            </a:r>
            <a:r>
              <a:rPr lang="tr-TR" sz="2200" dirty="0">
                <a:solidFill>
                  <a:schemeClr val="tx1"/>
                </a:solidFill>
                <a:latin typeface="Times New Roman" panose="02020603050405020304" pitchFamily="18" charset="0"/>
                <a:cs typeface="Times New Roman" panose="02020603050405020304" pitchFamily="18" charset="0"/>
              </a:rPr>
              <a:t> olarak bildirilir. Böylece, </a:t>
            </a:r>
            <a:r>
              <a:rPr lang="tr-TR" sz="2200" b="1" i="1" dirty="0">
                <a:solidFill>
                  <a:srgbClr val="00B0F0"/>
                </a:solidFill>
                <a:latin typeface="Times New Roman" panose="02020603050405020304" pitchFamily="18" charset="0"/>
                <a:cs typeface="Times New Roman" panose="02020603050405020304" pitchFamily="18" charset="0"/>
              </a:rPr>
              <a:t>r</a:t>
            </a:r>
            <a:r>
              <a:rPr lang="tr-TR" sz="2200" dirty="0">
                <a:solidFill>
                  <a:schemeClr val="tx1"/>
                </a:solidFill>
                <a:latin typeface="Times New Roman" panose="02020603050405020304" pitchFamily="18" charset="0"/>
                <a:cs typeface="Times New Roman" panose="02020603050405020304" pitchFamily="18" charset="0"/>
              </a:rPr>
              <a:t> adlı </a:t>
            </a:r>
            <a:r>
              <a:rPr lang="tr-TR" sz="2200" b="1" i="1" dirty="0" err="1">
                <a:solidFill>
                  <a:schemeClr val="accent5">
                    <a:lumMod val="50000"/>
                  </a:schemeClr>
                </a:solidFill>
                <a:latin typeface="Times New Roman" panose="02020603050405020304" pitchFamily="18" charset="0"/>
                <a:cs typeface="Times New Roman" panose="02020603050405020304" pitchFamily="18" charset="0"/>
              </a:rPr>
              <a:t>Rectangle</a:t>
            </a:r>
            <a:r>
              <a:rPr lang="tr-TR" sz="2200" dirty="0">
                <a:solidFill>
                  <a:schemeClr val="tx1"/>
                </a:solidFill>
                <a:latin typeface="Times New Roman" panose="02020603050405020304" pitchFamily="18" charset="0"/>
                <a:cs typeface="Times New Roman" panose="02020603050405020304" pitchFamily="18" charset="0"/>
              </a:rPr>
              <a:t> sınıfının bir nesnesi kullanılarak </a:t>
            </a:r>
            <a:r>
              <a:rPr lang="tr-TR" sz="2200" b="1" dirty="0">
                <a:solidFill>
                  <a:schemeClr val="tx1"/>
                </a:solidFill>
                <a:latin typeface="Times New Roman" panose="02020603050405020304" pitchFamily="18" charset="0"/>
                <a:cs typeface="Times New Roman" panose="02020603050405020304" pitchFamily="18" charset="0"/>
              </a:rPr>
              <a:t>Main() </a:t>
            </a:r>
            <a:r>
              <a:rPr lang="tr-TR" sz="2200" dirty="0">
                <a:solidFill>
                  <a:schemeClr val="tx1"/>
                </a:solidFill>
                <a:latin typeface="Times New Roman" panose="02020603050405020304" pitchFamily="18" charset="0"/>
                <a:cs typeface="Times New Roman" panose="02020603050405020304" pitchFamily="18" charset="0"/>
              </a:rPr>
              <a:t>fonksiyonu üzerinden bu değişkenlere erişilebilir.</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Üye fonksiyonları </a:t>
            </a:r>
            <a:r>
              <a:rPr lang="tr-TR" sz="2200" b="1" i="1" dirty="0" err="1">
                <a:solidFill>
                  <a:srgbClr val="FF6600"/>
                </a:solidFill>
                <a:latin typeface="Times New Roman" panose="02020603050405020304" pitchFamily="18" charset="0"/>
                <a:cs typeface="Times New Roman" panose="02020603050405020304" pitchFamily="18" charset="0"/>
              </a:rPr>
              <a:t>Display</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ve </a:t>
            </a:r>
            <a:r>
              <a:rPr lang="tr-TR" sz="2200" b="1" i="1" dirty="0" err="1">
                <a:solidFill>
                  <a:srgbClr val="FF6600"/>
                </a:solidFill>
                <a:latin typeface="Times New Roman" panose="02020603050405020304" pitchFamily="18" charset="0"/>
                <a:cs typeface="Times New Roman" panose="02020603050405020304" pitchFamily="18" charset="0"/>
              </a:rPr>
              <a:t>GetArea</a:t>
            </a:r>
            <a:r>
              <a:rPr lang="tr-TR" sz="2200" b="1" i="1" dirty="0">
                <a:solidFill>
                  <a:srgbClr val="FF6600"/>
                </a:solidFill>
                <a:latin typeface="Times New Roman" panose="02020603050405020304" pitchFamily="18" charset="0"/>
                <a:cs typeface="Times New Roman" panose="02020603050405020304" pitchFamily="18" charset="0"/>
              </a:rPr>
              <a:t>()</a:t>
            </a:r>
            <a:r>
              <a:rPr lang="tr-TR" sz="2200" dirty="0">
                <a:solidFill>
                  <a:schemeClr val="tx1"/>
                </a:solidFill>
                <a:latin typeface="Times New Roman" panose="02020603050405020304" pitchFamily="18" charset="0"/>
                <a:cs typeface="Times New Roman" panose="02020603050405020304" pitchFamily="18" charset="0"/>
              </a:rPr>
              <a:t>, sınıfın herhangi bir nesnesini (</a:t>
            </a:r>
            <a:r>
              <a:rPr lang="tr-TR" sz="2200" dirty="0" err="1">
                <a:solidFill>
                  <a:schemeClr val="tx1"/>
                </a:solidFill>
                <a:latin typeface="Times New Roman" panose="02020603050405020304" pitchFamily="18" charset="0"/>
                <a:cs typeface="Times New Roman" panose="02020603050405020304" pitchFamily="18" charset="0"/>
              </a:rPr>
              <a:t>instance</a:t>
            </a:r>
            <a:r>
              <a:rPr lang="tr-TR" sz="2200" dirty="0">
                <a:solidFill>
                  <a:schemeClr val="tx1"/>
                </a:solidFill>
                <a:latin typeface="Times New Roman" panose="02020603050405020304" pitchFamily="18" charset="0"/>
                <a:cs typeface="Times New Roman" panose="02020603050405020304" pitchFamily="18" charset="0"/>
              </a:rPr>
              <a:t>) kullanmadan bu değişkenlere doğrudan erişebilir.</a:t>
            </a:r>
          </a:p>
          <a:p>
            <a:pPr algn="just">
              <a:lnSpc>
                <a:spcPct val="100000"/>
              </a:lnSpc>
            </a:pPr>
            <a:r>
              <a:rPr lang="tr-TR" sz="2200" b="1" i="1" dirty="0" err="1">
                <a:solidFill>
                  <a:srgbClr val="FF6600"/>
                </a:solidFill>
                <a:latin typeface="Times New Roman" panose="02020603050405020304" pitchFamily="18" charset="0"/>
                <a:cs typeface="Times New Roman" panose="02020603050405020304" pitchFamily="18" charset="0"/>
              </a:rPr>
              <a:t>Display</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üye fonksiyonları da genel olarak bildirilir. Bu nedenle </a:t>
            </a:r>
            <a:r>
              <a:rPr lang="tr-TR" sz="2200" b="1" i="1" dirty="0">
                <a:solidFill>
                  <a:srgbClr val="00B0F0"/>
                </a:solidFill>
                <a:latin typeface="Times New Roman" panose="02020603050405020304" pitchFamily="18" charset="0"/>
                <a:cs typeface="Times New Roman" panose="02020603050405020304" pitchFamily="18" charset="0"/>
              </a:rPr>
              <a:t>r </a:t>
            </a:r>
            <a:r>
              <a:rPr lang="tr-TR" sz="2200" dirty="0">
                <a:solidFill>
                  <a:schemeClr val="tx1"/>
                </a:solidFill>
                <a:latin typeface="Times New Roman" panose="02020603050405020304" pitchFamily="18" charset="0"/>
                <a:cs typeface="Times New Roman" panose="02020603050405020304" pitchFamily="18" charset="0"/>
              </a:rPr>
              <a:t>adlı </a:t>
            </a:r>
            <a:r>
              <a:rPr lang="tr-TR" sz="2200" b="1" i="1" dirty="0" err="1">
                <a:solidFill>
                  <a:schemeClr val="accent5">
                    <a:lumMod val="50000"/>
                  </a:schemeClr>
                </a:solidFill>
                <a:latin typeface="Times New Roman" panose="02020603050405020304" pitchFamily="18" charset="0"/>
                <a:cs typeface="Times New Roman" panose="02020603050405020304" pitchFamily="18" charset="0"/>
              </a:rPr>
              <a:t>Rectangle</a:t>
            </a:r>
            <a:r>
              <a:rPr lang="tr-TR" sz="2200" dirty="0">
                <a:solidFill>
                  <a:schemeClr val="tx1"/>
                </a:solidFill>
                <a:latin typeface="Times New Roman" panose="02020603050405020304" pitchFamily="18" charset="0"/>
                <a:cs typeface="Times New Roman" panose="02020603050405020304" pitchFamily="18" charset="0"/>
              </a:rPr>
              <a:t> sınıfının bir nesnesi kullanılarak </a:t>
            </a:r>
            <a:r>
              <a:rPr lang="tr-TR" sz="2200" b="1" dirty="0">
                <a:solidFill>
                  <a:schemeClr val="tx1"/>
                </a:solidFill>
                <a:latin typeface="Times New Roman" panose="02020603050405020304" pitchFamily="18" charset="0"/>
                <a:cs typeface="Times New Roman" panose="02020603050405020304" pitchFamily="18" charset="0"/>
              </a:rPr>
              <a:t>Main() </a:t>
            </a:r>
            <a:r>
              <a:rPr lang="tr-TR" sz="2200" dirty="0">
                <a:solidFill>
                  <a:schemeClr val="tx1"/>
                </a:solidFill>
                <a:latin typeface="Times New Roman" panose="02020603050405020304" pitchFamily="18" charset="0"/>
                <a:cs typeface="Times New Roman" panose="02020603050405020304" pitchFamily="18" charset="0"/>
              </a:rPr>
              <a:t>öğesinden de erişilebilir.</a:t>
            </a: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p:txBody>
      </p:sp>
      <p:pic>
        <p:nvPicPr>
          <p:cNvPr id="2" name="Resim 1">
            <a:extLst>
              <a:ext uri="{FF2B5EF4-FFF2-40B4-BE49-F238E27FC236}">
                <a16:creationId xmlns:a16="http://schemas.microsoft.com/office/drawing/2014/main" id="{18BC7DFA-7427-47A2-9726-2AC2E7DD1267}"/>
              </a:ext>
            </a:extLst>
          </p:cNvPr>
          <p:cNvPicPr>
            <a:picLocks noChangeAspect="1"/>
          </p:cNvPicPr>
          <p:nvPr/>
        </p:nvPicPr>
        <p:blipFill>
          <a:blip r:embed="rId2"/>
          <a:stretch>
            <a:fillRect/>
          </a:stretch>
        </p:blipFill>
        <p:spPr>
          <a:xfrm>
            <a:off x="7590783" y="0"/>
            <a:ext cx="4601217" cy="6839905"/>
          </a:xfrm>
          <a:prstGeom prst="rect">
            <a:avLst/>
          </a:prstGeom>
        </p:spPr>
      </p:pic>
      <p:sp>
        <p:nvSpPr>
          <p:cNvPr id="8" name="Metin kutusu 7">
            <a:extLst>
              <a:ext uri="{FF2B5EF4-FFF2-40B4-BE49-F238E27FC236}">
                <a16:creationId xmlns:a16="http://schemas.microsoft.com/office/drawing/2014/main" id="{97C3BEEE-C8B0-4E51-97B1-91E32802B11B}"/>
              </a:ext>
            </a:extLst>
          </p:cNvPr>
          <p:cNvSpPr txBox="1"/>
          <p:nvPr/>
        </p:nvSpPr>
        <p:spPr>
          <a:xfrm>
            <a:off x="10744200" y="5696066"/>
            <a:ext cx="1316620" cy="923330"/>
          </a:xfrm>
          <a:prstGeom prst="rect">
            <a:avLst/>
          </a:prstGeom>
          <a:solidFill>
            <a:schemeClr val="tx2">
              <a:lumMod val="85000"/>
            </a:schemeClr>
          </a:solidFill>
        </p:spPr>
        <p:txBody>
          <a:bodyPr wrap="square">
            <a:spAutoFit/>
          </a:bodyPr>
          <a:lstStyle/>
          <a:p>
            <a:r>
              <a:rPr lang="en-US" dirty="0"/>
              <a:t>Length: 4.5</a:t>
            </a:r>
          </a:p>
          <a:p>
            <a:r>
              <a:rPr lang="en-US" dirty="0"/>
              <a:t>Width: 3.5</a:t>
            </a:r>
          </a:p>
          <a:p>
            <a:r>
              <a:rPr lang="en-US" dirty="0"/>
              <a:t>Area: 15.75</a:t>
            </a:r>
            <a:endParaRPr lang="tr-TR" dirty="0"/>
          </a:p>
        </p:txBody>
      </p:sp>
    </p:spTree>
    <p:extLst>
      <p:ext uri="{BB962C8B-B14F-4D97-AF65-F5344CB8AC3E}">
        <p14:creationId xmlns:p14="http://schemas.microsoft.com/office/powerpoint/2010/main" val="3580656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38582" y="0"/>
            <a:ext cx="12153417" cy="625475"/>
          </a:xfrm>
        </p:spPr>
        <p:txBody>
          <a:bodyPr anchor="ctr">
            <a:normAutofit/>
          </a:bodyPr>
          <a:lstStyle/>
          <a:p>
            <a:pPr marL="0" indent="0">
              <a:buNone/>
            </a:pPr>
            <a:r>
              <a:rPr lang="tr-TR" sz="3000" b="1" i="1" dirty="0" err="1">
                <a:solidFill>
                  <a:schemeClr val="tx1"/>
                </a:solidFill>
                <a:latin typeface="Times New Roman" panose="02020603050405020304" pitchFamily="18" charset="0"/>
                <a:cs typeface="Times New Roman" panose="02020603050405020304" pitchFamily="18" charset="0"/>
              </a:rPr>
              <a:t>Private</a:t>
            </a:r>
            <a:r>
              <a:rPr lang="tr-TR" sz="3000" b="1" dirty="0">
                <a:solidFill>
                  <a:schemeClr val="tx1"/>
                </a:solidFill>
                <a:latin typeface="Times New Roman" panose="02020603050405020304" pitchFamily="18" charset="0"/>
                <a:cs typeface="Times New Roman" panose="02020603050405020304" pitchFamily="18" charset="0"/>
              </a:rPr>
              <a:t> Erişim Belirteci</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 y="625475"/>
            <a:ext cx="7731889"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b="1" i="1" dirty="0" err="1">
                <a:solidFill>
                  <a:schemeClr val="tx1"/>
                </a:solidFill>
                <a:latin typeface="Times New Roman" panose="02020603050405020304" pitchFamily="18" charset="0"/>
                <a:cs typeface="Times New Roman" panose="02020603050405020304" pitchFamily="18" charset="0"/>
              </a:rPr>
              <a:t>private</a:t>
            </a:r>
            <a:r>
              <a:rPr lang="tr-TR" sz="2200" dirty="0">
                <a:solidFill>
                  <a:schemeClr val="tx1"/>
                </a:solidFill>
                <a:latin typeface="Times New Roman" panose="02020603050405020304" pitchFamily="18" charset="0"/>
                <a:cs typeface="Times New Roman" panose="02020603050405020304" pitchFamily="18" charset="0"/>
              </a:rPr>
              <a:t> erişim belirteci, bir sınıfın üye değişkenlerini ve üye fonksiyonlarının diğer fonksiyonlardan ve nesnelerden gizlemesine izin verir.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Yalnızca aynı sınıfın fonksiyonları, </a:t>
            </a:r>
            <a:r>
              <a:rPr lang="tr-TR" sz="2200" b="1" i="1" dirty="0" err="1">
                <a:solidFill>
                  <a:schemeClr val="tx1"/>
                </a:solidFill>
                <a:latin typeface="Times New Roman" panose="02020603050405020304" pitchFamily="18" charset="0"/>
                <a:cs typeface="Times New Roman" panose="02020603050405020304" pitchFamily="18" charset="0"/>
              </a:rPr>
              <a:t>private</a:t>
            </a:r>
            <a:r>
              <a:rPr lang="tr-TR" sz="2200" dirty="0">
                <a:solidFill>
                  <a:schemeClr val="tx1"/>
                </a:solidFill>
                <a:latin typeface="Times New Roman" panose="02020603050405020304" pitchFamily="18" charset="0"/>
                <a:cs typeface="Times New Roman" panose="02020603050405020304" pitchFamily="18" charset="0"/>
              </a:rPr>
              <a:t> </a:t>
            </a:r>
            <a:r>
              <a:rPr lang="tr-TR" sz="2200" dirty="0" err="1">
                <a:solidFill>
                  <a:schemeClr val="tx1"/>
                </a:solidFill>
                <a:latin typeface="Times New Roman" panose="02020603050405020304" pitchFamily="18" charset="0"/>
                <a:cs typeface="Times New Roman" panose="02020603050405020304" pitchFamily="18" charset="0"/>
              </a:rPr>
              <a:t>üyelerie</a:t>
            </a:r>
            <a:r>
              <a:rPr lang="tr-TR" sz="2200" dirty="0">
                <a:solidFill>
                  <a:schemeClr val="tx1"/>
                </a:solidFill>
                <a:latin typeface="Times New Roman" panose="02020603050405020304" pitchFamily="18" charset="0"/>
                <a:cs typeface="Times New Roman" panose="02020603050405020304" pitchFamily="18" charset="0"/>
              </a:rPr>
              <a:t> erişebilir. Bir sınıfın nesnesi bile özel üyelere doğrudan erişemez.</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Yandaki örnekte, </a:t>
            </a:r>
            <a:r>
              <a:rPr lang="tr-TR" sz="2200" b="1" i="1" dirty="0" err="1">
                <a:solidFill>
                  <a:srgbClr val="7030A0"/>
                </a:solidFill>
                <a:latin typeface="Times New Roman" panose="02020603050405020304" pitchFamily="18" charset="0"/>
                <a:cs typeface="Times New Roman" panose="02020603050405020304" pitchFamily="18" charset="0"/>
              </a:rPr>
              <a:t>width</a:t>
            </a:r>
            <a:r>
              <a:rPr lang="tr-TR" sz="2200" dirty="0">
                <a:solidFill>
                  <a:schemeClr val="tx1"/>
                </a:solidFill>
                <a:latin typeface="Times New Roman" panose="02020603050405020304" pitchFamily="18" charset="0"/>
                <a:cs typeface="Times New Roman" panose="02020603050405020304" pitchFamily="18" charset="0"/>
              </a:rPr>
              <a:t> ve </a:t>
            </a:r>
            <a:r>
              <a:rPr lang="tr-TR" sz="2200" b="1" i="1" dirty="0" err="1">
                <a:solidFill>
                  <a:srgbClr val="7030A0"/>
                </a:solidFill>
                <a:latin typeface="Times New Roman" panose="02020603050405020304" pitchFamily="18" charset="0"/>
                <a:cs typeface="Times New Roman" panose="02020603050405020304" pitchFamily="18" charset="0"/>
              </a:rPr>
              <a:t>length</a:t>
            </a:r>
            <a:r>
              <a:rPr lang="tr-TR" sz="2200" dirty="0">
                <a:solidFill>
                  <a:schemeClr val="tx1"/>
                </a:solidFill>
                <a:latin typeface="Times New Roman" panose="02020603050405020304" pitchFamily="18" charset="0"/>
                <a:cs typeface="Times New Roman" panose="02020603050405020304" pitchFamily="18" charset="0"/>
              </a:rPr>
              <a:t> üye değişkenleri </a:t>
            </a:r>
            <a:r>
              <a:rPr lang="tr-TR" sz="2200" b="1" i="1" dirty="0" err="1">
                <a:solidFill>
                  <a:schemeClr val="tx1"/>
                </a:solidFill>
                <a:latin typeface="Times New Roman" panose="02020603050405020304" pitchFamily="18" charset="0"/>
                <a:cs typeface="Times New Roman" panose="02020603050405020304" pitchFamily="18" charset="0"/>
              </a:rPr>
              <a:t>private</a:t>
            </a:r>
            <a:r>
              <a:rPr lang="tr-TR" sz="2200" dirty="0">
                <a:solidFill>
                  <a:schemeClr val="tx1"/>
                </a:solidFill>
                <a:latin typeface="Times New Roman" panose="02020603050405020304" pitchFamily="18" charset="0"/>
                <a:cs typeface="Times New Roman" panose="02020603050405020304" pitchFamily="18" charset="0"/>
              </a:rPr>
              <a:t> olarak bildirildiğinden, bunlara </a:t>
            </a:r>
            <a:r>
              <a:rPr lang="tr-TR" sz="2200" b="1" dirty="0">
                <a:solidFill>
                  <a:schemeClr val="tx1"/>
                </a:solidFill>
                <a:latin typeface="Times New Roman" panose="02020603050405020304" pitchFamily="18" charset="0"/>
                <a:cs typeface="Times New Roman" panose="02020603050405020304" pitchFamily="18" charset="0"/>
              </a:rPr>
              <a:t>Main() </a:t>
            </a:r>
            <a:r>
              <a:rPr lang="tr-TR" sz="2200" dirty="0">
                <a:solidFill>
                  <a:schemeClr val="tx1"/>
                </a:solidFill>
                <a:latin typeface="Times New Roman" panose="02020603050405020304" pitchFamily="18" charset="0"/>
                <a:cs typeface="Times New Roman" panose="02020603050405020304" pitchFamily="18" charset="0"/>
              </a:rPr>
              <a:t>fonksiyonundan erişilemez. </a:t>
            </a:r>
          </a:p>
          <a:p>
            <a:pPr algn="just">
              <a:lnSpc>
                <a:spcPct val="100000"/>
              </a:lnSpc>
            </a:pPr>
            <a:r>
              <a:rPr lang="tr-TR" sz="2200" b="1" i="1" dirty="0" err="1">
                <a:solidFill>
                  <a:srgbClr val="FF6600"/>
                </a:solidFill>
                <a:latin typeface="Times New Roman" panose="02020603050405020304" pitchFamily="18" charset="0"/>
                <a:cs typeface="Times New Roman" panose="02020603050405020304" pitchFamily="18" charset="0"/>
              </a:rPr>
              <a:t>AcceptDetails</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ve </a:t>
            </a:r>
            <a:r>
              <a:rPr lang="tr-TR" sz="2200" b="1" i="1" dirty="0" err="1">
                <a:solidFill>
                  <a:srgbClr val="FF6600"/>
                </a:solidFill>
                <a:latin typeface="Times New Roman" panose="02020603050405020304" pitchFamily="18" charset="0"/>
                <a:cs typeface="Times New Roman" panose="02020603050405020304" pitchFamily="18" charset="0"/>
              </a:rPr>
              <a:t>Display</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üye fonksiyonları bu değişkenlere erişebilir. </a:t>
            </a:r>
          </a:p>
          <a:p>
            <a:pPr algn="just">
              <a:lnSpc>
                <a:spcPct val="100000"/>
              </a:lnSpc>
            </a:pPr>
            <a:r>
              <a:rPr lang="tr-TR" sz="2200" b="1" i="1" dirty="0" err="1">
                <a:solidFill>
                  <a:srgbClr val="FF6600"/>
                </a:solidFill>
                <a:latin typeface="Times New Roman" panose="02020603050405020304" pitchFamily="18" charset="0"/>
                <a:cs typeface="Times New Roman" panose="02020603050405020304" pitchFamily="18" charset="0"/>
              </a:rPr>
              <a:t>AcceptDetails</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ve </a:t>
            </a:r>
            <a:r>
              <a:rPr lang="tr-TR" sz="2200" b="1" i="1" dirty="0" err="1">
                <a:solidFill>
                  <a:srgbClr val="FF6600"/>
                </a:solidFill>
                <a:latin typeface="Times New Roman" panose="02020603050405020304" pitchFamily="18" charset="0"/>
                <a:cs typeface="Times New Roman" panose="02020603050405020304" pitchFamily="18" charset="0"/>
              </a:rPr>
              <a:t>Display</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üye fonksiyonları </a:t>
            </a:r>
            <a:r>
              <a:rPr lang="tr-TR" sz="2200" i="1" dirty="0" err="1">
                <a:solidFill>
                  <a:schemeClr val="tx1"/>
                </a:solidFill>
                <a:latin typeface="Times New Roman" panose="02020603050405020304" pitchFamily="18" charset="0"/>
                <a:cs typeface="Times New Roman" panose="02020603050405020304" pitchFamily="18" charset="0"/>
              </a:rPr>
              <a:t>public</a:t>
            </a:r>
            <a:r>
              <a:rPr lang="tr-TR" sz="2200" dirty="0">
                <a:solidFill>
                  <a:schemeClr val="tx1"/>
                </a:solidFill>
                <a:latin typeface="Times New Roman" panose="02020603050405020304" pitchFamily="18" charset="0"/>
                <a:cs typeface="Times New Roman" panose="02020603050405020304" pitchFamily="18" charset="0"/>
              </a:rPr>
              <a:t> olarak bildirildiğinden, </a:t>
            </a:r>
            <a:r>
              <a:rPr lang="tr-TR" sz="2200" b="1" i="1" dirty="0" err="1">
                <a:solidFill>
                  <a:schemeClr val="accent5">
                    <a:lumMod val="50000"/>
                  </a:schemeClr>
                </a:solidFill>
                <a:latin typeface="Times New Roman" panose="02020603050405020304" pitchFamily="18" charset="0"/>
                <a:cs typeface="Times New Roman" panose="02020603050405020304" pitchFamily="18" charset="0"/>
              </a:rPr>
              <a:t>Rectangle</a:t>
            </a:r>
            <a:r>
              <a:rPr lang="tr-TR" sz="2200" dirty="0">
                <a:solidFill>
                  <a:schemeClr val="tx1"/>
                </a:solidFill>
                <a:latin typeface="Times New Roman" panose="02020603050405020304" pitchFamily="18" charset="0"/>
                <a:cs typeface="Times New Roman" panose="02020603050405020304" pitchFamily="18" charset="0"/>
              </a:rPr>
              <a:t> sınıfının </a:t>
            </a:r>
            <a:r>
              <a:rPr lang="tr-TR" sz="2200" b="1" i="1" dirty="0">
                <a:solidFill>
                  <a:srgbClr val="00B0F0"/>
                </a:solidFill>
                <a:latin typeface="Times New Roman" panose="02020603050405020304" pitchFamily="18" charset="0"/>
                <a:cs typeface="Times New Roman" panose="02020603050405020304" pitchFamily="18" charset="0"/>
              </a:rPr>
              <a:t>r </a:t>
            </a:r>
            <a:r>
              <a:rPr lang="tr-TR" sz="2200" dirty="0">
                <a:solidFill>
                  <a:schemeClr val="tx1"/>
                </a:solidFill>
                <a:latin typeface="Times New Roman" panose="02020603050405020304" pitchFamily="18" charset="0"/>
                <a:cs typeface="Times New Roman" panose="02020603050405020304" pitchFamily="18" charset="0"/>
              </a:rPr>
              <a:t>adlı nesnesi kullanılarak </a:t>
            </a:r>
            <a:r>
              <a:rPr lang="tr-TR" sz="2200" b="1" dirty="0">
                <a:solidFill>
                  <a:schemeClr val="tx1"/>
                </a:solidFill>
                <a:latin typeface="Times New Roman" panose="02020603050405020304" pitchFamily="18" charset="0"/>
                <a:cs typeface="Times New Roman" panose="02020603050405020304" pitchFamily="18" charset="0"/>
              </a:rPr>
              <a:t>Main()</a:t>
            </a:r>
            <a:r>
              <a:rPr lang="tr-TR" sz="2200" dirty="0">
                <a:solidFill>
                  <a:schemeClr val="tx1"/>
                </a:solidFill>
                <a:latin typeface="Times New Roman" panose="02020603050405020304" pitchFamily="18" charset="0"/>
                <a:cs typeface="Times New Roman" panose="02020603050405020304" pitchFamily="18" charset="0"/>
              </a:rPr>
              <a:t>'den doğrudan bu fonksiyonlara erişilebilir.</a:t>
            </a: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p:txBody>
      </p:sp>
      <p:sp>
        <p:nvSpPr>
          <p:cNvPr id="8" name="Metin kutusu 7">
            <a:extLst>
              <a:ext uri="{FF2B5EF4-FFF2-40B4-BE49-F238E27FC236}">
                <a16:creationId xmlns:a16="http://schemas.microsoft.com/office/drawing/2014/main" id="{97C3BEEE-C8B0-4E51-97B1-91E32802B11B}"/>
              </a:ext>
            </a:extLst>
          </p:cNvPr>
          <p:cNvSpPr txBox="1"/>
          <p:nvPr/>
        </p:nvSpPr>
        <p:spPr>
          <a:xfrm>
            <a:off x="10744200" y="5696066"/>
            <a:ext cx="1316620" cy="923330"/>
          </a:xfrm>
          <a:prstGeom prst="rect">
            <a:avLst/>
          </a:prstGeom>
          <a:solidFill>
            <a:schemeClr val="tx2">
              <a:lumMod val="85000"/>
            </a:schemeClr>
          </a:solidFill>
        </p:spPr>
        <p:txBody>
          <a:bodyPr wrap="square">
            <a:spAutoFit/>
          </a:bodyPr>
          <a:lstStyle/>
          <a:p>
            <a:r>
              <a:rPr lang="en-US" dirty="0"/>
              <a:t>Length: 4.5</a:t>
            </a:r>
          </a:p>
          <a:p>
            <a:r>
              <a:rPr lang="en-US" dirty="0"/>
              <a:t>Width: 3.5</a:t>
            </a:r>
          </a:p>
          <a:p>
            <a:r>
              <a:rPr lang="en-US" dirty="0"/>
              <a:t>Area: 15.75</a:t>
            </a:r>
            <a:endParaRPr lang="tr-TR" dirty="0"/>
          </a:p>
        </p:txBody>
      </p:sp>
      <p:pic>
        <p:nvPicPr>
          <p:cNvPr id="4" name="Resim 3">
            <a:extLst>
              <a:ext uri="{FF2B5EF4-FFF2-40B4-BE49-F238E27FC236}">
                <a16:creationId xmlns:a16="http://schemas.microsoft.com/office/drawing/2014/main" id="{3FF99B7F-0192-4ED3-9ABF-6AD02025BD91}"/>
              </a:ext>
            </a:extLst>
          </p:cNvPr>
          <p:cNvPicPr>
            <a:picLocks noChangeAspect="1"/>
          </p:cNvPicPr>
          <p:nvPr/>
        </p:nvPicPr>
        <p:blipFill>
          <a:blip r:embed="rId3"/>
          <a:stretch>
            <a:fillRect/>
          </a:stretch>
        </p:blipFill>
        <p:spPr>
          <a:xfrm>
            <a:off x="8021257" y="0"/>
            <a:ext cx="4170744" cy="6830498"/>
          </a:xfrm>
          <a:prstGeom prst="rect">
            <a:avLst/>
          </a:prstGeom>
        </p:spPr>
      </p:pic>
      <p:sp>
        <p:nvSpPr>
          <p:cNvPr id="9" name="Metin kutusu 8">
            <a:extLst>
              <a:ext uri="{FF2B5EF4-FFF2-40B4-BE49-F238E27FC236}">
                <a16:creationId xmlns:a16="http://schemas.microsoft.com/office/drawing/2014/main" id="{8C08A94C-09BB-4AC0-B620-784D258534F3}"/>
              </a:ext>
            </a:extLst>
          </p:cNvPr>
          <p:cNvSpPr txBox="1"/>
          <p:nvPr/>
        </p:nvSpPr>
        <p:spPr>
          <a:xfrm>
            <a:off x="10984375" y="27502"/>
            <a:ext cx="1169042" cy="1600438"/>
          </a:xfrm>
          <a:prstGeom prst="rect">
            <a:avLst/>
          </a:prstGeom>
          <a:solidFill>
            <a:schemeClr val="tx2">
              <a:lumMod val="85000"/>
            </a:schemeClr>
          </a:solidFill>
        </p:spPr>
        <p:txBody>
          <a:bodyPr wrap="square">
            <a:spAutoFit/>
          </a:bodyPr>
          <a:lstStyle/>
          <a:p>
            <a:r>
              <a:rPr lang="en-US" sz="1400" dirty="0"/>
              <a:t>Enter Length:</a:t>
            </a:r>
          </a:p>
          <a:p>
            <a:r>
              <a:rPr lang="en-US" sz="1400" dirty="0"/>
              <a:t>4.4</a:t>
            </a:r>
          </a:p>
          <a:p>
            <a:r>
              <a:rPr lang="en-US" sz="1400" dirty="0"/>
              <a:t>Enter Width:</a:t>
            </a:r>
          </a:p>
          <a:p>
            <a:r>
              <a:rPr lang="en-US" sz="1400" dirty="0"/>
              <a:t>3.3</a:t>
            </a:r>
          </a:p>
          <a:p>
            <a:r>
              <a:rPr lang="en-US" sz="1400" dirty="0"/>
              <a:t>Length: 4.4</a:t>
            </a:r>
          </a:p>
          <a:p>
            <a:r>
              <a:rPr lang="en-US" sz="1400" dirty="0"/>
              <a:t>Width: 3.3</a:t>
            </a:r>
          </a:p>
          <a:p>
            <a:r>
              <a:rPr lang="en-US" sz="1400" dirty="0"/>
              <a:t>Area: 14.52</a:t>
            </a:r>
            <a:endParaRPr lang="tr-TR" sz="1400" dirty="0"/>
          </a:p>
        </p:txBody>
      </p:sp>
    </p:spTree>
    <p:extLst>
      <p:ext uri="{BB962C8B-B14F-4D97-AF65-F5344CB8AC3E}">
        <p14:creationId xmlns:p14="http://schemas.microsoft.com/office/powerpoint/2010/main" val="2167191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i="1" dirty="0" err="1">
                <a:solidFill>
                  <a:schemeClr val="tx1"/>
                </a:solidFill>
                <a:latin typeface="Times New Roman" panose="02020603050405020304" pitchFamily="18" charset="0"/>
                <a:cs typeface="Times New Roman" panose="02020603050405020304" pitchFamily="18" charset="0"/>
              </a:rPr>
              <a:t>Protected</a:t>
            </a:r>
            <a:r>
              <a:rPr lang="tr-TR" sz="3000" b="1" dirty="0">
                <a:solidFill>
                  <a:schemeClr val="tx1"/>
                </a:solidFill>
                <a:latin typeface="Times New Roman" panose="02020603050405020304" pitchFamily="18" charset="0"/>
                <a:cs typeface="Times New Roman" panose="02020603050405020304" pitchFamily="18" charset="0"/>
              </a:rPr>
              <a:t> Erişim Belirteci</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 y="625475"/>
            <a:ext cx="12083971"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b="1" i="1" dirty="0" err="1">
                <a:solidFill>
                  <a:schemeClr val="tx1"/>
                </a:solidFill>
                <a:latin typeface="Times New Roman" panose="02020603050405020304" pitchFamily="18" charset="0"/>
                <a:cs typeface="Times New Roman" panose="02020603050405020304" pitchFamily="18" charset="0"/>
              </a:rPr>
              <a:t>protected</a:t>
            </a:r>
            <a:r>
              <a:rPr lang="tr-TR" sz="2200" b="1" i="1" dirty="0">
                <a:solidFill>
                  <a:schemeClr val="tx1"/>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erişim belirteci, bir alt sınıfın, temel sınıfının üye değişkenlerine ve üye fonksiyonlarına erişmesine izin verir.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Bu şekilde mirasın (</a:t>
            </a:r>
            <a:r>
              <a:rPr lang="tr-TR" sz="2200" dirty="0" err="1">
                <a:solidFill>
                  <a:schemeClr val="tx1"/>
                </a:solidFill>
                <a:latin typeface="Times New Roman" panose="02020603050405020304" pitchFamily="18" charset="0"/>
                <a:cs typeface="Times New Roman" panose="02020603050405020304" pitchFamily="18" charset="0"/>
              </a:rPr>
              <a:t>inheritance</a:t>
            </a:r>
            <a:r>
              <a:rPr lang="tr-TR" sz="2200" dirty="0">
                <a:solidFill>
                  <a:schemeClr val="tx1"/>
                </a:solidFill>
                <a:latin typeface="Times New Roman" panose="02020603050405020304" pitchFamily="18" charset="0"/>
                <a:cs typeface="Times New Roman" panose="02020603050405020304" pitchFamily="18" charset="0"/>
              </a:rPr>
              <a:t>) uygulanmasına yardımcı olur. (İlerde miras konusunda detaylandırılacak.)</a:t>
            </a: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p:txBody>
      </p:sp>
      <p:sp>
        <p:nvSpPr>
          <p:cNvPr id="10" name="Alt Başlık 2">
            <a:extLst>
              <a:ext uri="{FF2B5EF4-FFF2-40B4-BE49-F238E27FC236}">
                <a16:creationId xmlns:a16="http://schemas.microsoft.com/office/drawing/2014/main" id="{DC72945E-4271-4DF2-B02F-457CCC03B61E}"/>
              </a:ext>
            </a:extLst>
          </p:cNvPr>
          <p:cNvSpPr txBox="1">
            <a:spLocks/>
          </p:cNvSpPr>
          <p:nvPr/>
        </p:nvSpPr>
        <p:spPr>
          <a:xfrm>
            <a:off x="108027" y="1934901"/>
            <a:ext cx="12083973" cy="625475"/>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i="1" dirty="0" err="1">
                <a:solidFill>
                  <a:schemeClr val="tx1"/>
                </a:solidFill>
                <a:latin typeface="Times New Roman" panose="02020603050405020304" pitchFamily="18" charset="0"/>
                <a:cs typeface="Times New Roman" panose="02020603050405020304" pitchFamily="18" charset="0"/>
              </a:rPr>
              <a:t>Internal</a:t>
            </a:r>
            <a:r>
              <a:rPr lang="tr-TR" sz="3000" b="1" dirty="0">
                <a:solidFill>
                  <a:schemeClr val="tx1"/>
                </a:solidFill>
                <a:latin typeface="Times New Roman" panose="02020603050405020304" pitchFamily="18" charset="0"/>
                <a:cs typeface="Times New Roman" panose="02020603050405020304" pitchFamily="18" charset="0"/>
              </a:rPr>
              <a:t> Erişim Belirteci</a:t>
            </a:r>
          </a:p>
        </p:txBody>
      </p:sp>
      <p:sp>
        <p:nvSpPr>
          <p:cNvPr id="11" name="Alt Başlık 2">
            <a:extLst>
              <a:ext uri="{FF2B5EF4-FFF2-40B4-BE49-F238E27FC236}">
                <a16:creationId xmlns:a16="http://schemas.microsoft.com/office/drawing/2014/main" id="{BE192DDF-C6D7-4432-827E-93926AA1B73D}"/>
              </a:ext>
            </a:extLst>
          </p:cNvPr>
          <p:cNvSpPr txBox="1">
            <a:spLocks/>
          </p:cNvSpPr>
          <p:nvPr/>
        </p:nvSpPr>
        <p:spPr>
          <a:xfrm>
            <a:off x="-2" y="2560375"/>
            <a:ext cx="12083971" cy="3672149"/>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b="1" i="1" dirty="0" err="1">
                <a:solidFill>
                  <a:schemeClr val="tx1"/>
                </a:solidFill>
                <a:latin typeface="Times New Roman" panose="02020603050405020304" pitchFamily="18" charset="0"/>
                <a:cs typeface="Times New Roman" panose="02020603050405020304" pitchFamily="18" charset="0"/>
              </a:rPr>
              <a:t>Internal</a:t>
            </a:r>
            <a:r>
              <a:rPr lang="tr-TR" sz="2200" dirty="0">
                <a:solidFill>
                  <a:schemeClr val="tx1"/>
                </a:solidFill>
                <a:latin typeface="Times New Roman" panose="02020603050405020304" pitchFamily="18" charset="0"/>
                <a:cs typeface="Times New Roman" panose="02020603050405020304" pitchFamily="18" charset="0"/>
              </a:rPr>
              <a:t> (dahili) erişim belirteci, bir sınıfın üye değişkenlerini ve üye fonksiyonlarını geçerli derlemedeki (</a:t>
            </a:r>
            <a:r>
              <a:rPr lang="tr-TR" sz="2200" dirty="0" err="1">
                <a:solidFill>
                  <a:schemeClr val="tx1"/>
                </a:solidFill>
                <a:latin typeface="Times New Roman" panose="02020603050405020304" pitchFamily="18" charset="0"/>
                <a:cs typeface="Times New Roman" panose="02020603050405020304" pitchFamily="18" charset="0"/>
              </a:rPr>
              <a:t>assembly</a:t>
            </a:r>
            <a:r>
              <a:rPr lang="tr-TR" sz="2200" dirty="0">
                <a:solidFill>
                  <a:schemeClr val="tx1"/>
                </a:solidFill>
                <a:latin typeface="Times New Roman" panose="02020603050405020304" pitchFamily="18" charset="0"/>
                <a:cs typeface="Times New Roman" panose="02020603050405020304" pitchFamily="18" charset="0"/>
              </a:rPr>
              <a:t>) diğer fonksiyonlara ve nesnelere göstermesine izin verir.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Başka bir deyişle, dahili erişim belirtecine sahip herhangi bir üyeye, üyenin tanımlandığı uygulama içinde tanımlanan herhangi bir sınıf veya metottan erişilebilir.</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Bir örnek ile detaylandıracak olursak;</a:t>
            </a:r>
          </a:p>
        </p:txBody>
      </p:sp>
    </p:spTree>
    <p:extLst>
      <p:ext uri="{BB962C8B-B14F-4D97-AF65-F5344CB8AC3E}">
        <p14:creationId xmlns:p14="http://schemas.microsoft.com/office/powerpoint/2010/main" val="3177875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77162" y="0"/>
            <a:ext cx="12114837" cy="625475"/>
          </a:xfrm>
        </p:spPr>
        <p:txBody>
          <a:bodyPr anchor="ctr">
            <a:normAutofit/>
          </a:bodyPr>
          <a:lstStyle/>
          <a:p>
            <a:pPr marL="0" indent="0">
              <a:buFont typeface="Calibri" panose="020F0502020204030204" pitchFamily="34" charset="0"/>
              <a:buNone/>
            </a:pPr>
            <a:r>
              <a:rPr lang="tr-TR" sz="3000" b="1" i="1" dirty="0" err="1">
                <a:solidFill>
                  <a:schemeClr val="tx1"/>
                </a:solidFill>
                <a:latin typeface="Times New Roman" panose="02020603050405020304" pitchFamily="18" charset="0"/>
                <a:cs typeface="Times New Roman" panose="02020603050405020304" pitchFamily="18" charset="0"/>
              </a:rPr>
              <a:t>Internal</a:t>
            </a:r>
            <a:r>
              <a:rPr lang="tr-TR" sz="3000" b="1" dirty="0">
                <a:solidFill>
                  <a:schemeClr val="tx1"/>
                </a:solidFill>
                <a:latin typeface="Times New Roman" panose="02020603050405020304" pitchFamily="18" charset="0"/>
                <a:cs typeface="Times New Roman" panose="02020603050405020304" pitchFamily="18" charset="0"/>
              </a:rPr>
              <a:t> Erişim Belirteci</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77164" y="625475"/>
            <a:ext cx="7741298"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b="1" i="1" dirty="0" err="1">
                <a:solidFill>
                  <a:srgbClr val="FF6600"/>
                </a:solidFill>
                <a:latin typeface="Times New Roman" panose="02020603050405020304" pitchFamily="18" charset="0"/>
                <a:cs typeface="Times New Roman" panose="02020603050405020304" pitchFamily="18" charset="0"/>
              </a:rPr>
              <a:t>GetArea</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üye fonksiyonunun herhangi bir erişim belirteci ile bildirilmediğine dikkat edelim.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O halde, herhangi bir erişim belirtecinden bahsedilmediği durumda bir sınıf üyesinin varsayılan erişim belirteci </a:t>
            </a:r>
            <a:r>
              <a:rPr lang="tr-TR" sz="2200" b="1" i="1" dirty="0" err="1">
                <a:solidFill>
                  <a:schemeClr val="bg1"/>
                </a:solidFill>
                <a:latin typeface="Times New Roman" panose="02020603050405020304" pitchFamily="18" charset="0"/>
                <a:cs typeface="Times New Roman" panose="02020603050405020304" pitchFamily="18" charset="0"/>
              </a:rPr>
              <a:t>private</a:t>
            </a:r>
            <a:r>
              <a:rPr lang="tr-TR" sz="2200" dirty="0">
                <a:solidFill>
                  <a:schemeClr val="tx1"/>
                </a:solidFill>
                <a:latin typeface="Times New Roman" panose="02020603050405020304" pitchFamily="18" charset="0"/>
                <a:cs typeface="Times New Roman" panose="02020603050405020304" pitchFamily="18" charset="0"/>
              </a:rPr>
              <a:t> olur. </a:t>
            </a:r>
          </a:p>
        </p:txBody>
      </p:sp>
      <p:pic>
        <p:nvPicPr>
          <p:cNvPr id="2" name="Resim 1">
            <a:extLst>
              <a:ext uri="{FF2B5EF4-FFF2-40B4-BE49-F238E27FC236}">
                <a16:creationId xmlns:a16="http://schemas.microsoft.com/office/drawing/2014/main" id="{56972564-2894-41DE-9339-8CD016D2ABE7}"/>
              </a:ext>
            </a:extLst>
          </p:cNvPr>
          <p:cNvPicPr>
            <a:picLocks noChangeAspect="1"/>
          </p:cNvPicPr>
          <p:nvPr/>
        </p:nvPicPr>
        <p:blipFill>
          <a:blip r:embed="rId3"/>
          <a:stretch>
            <a:fillRect/>
          </a:stretch>
        </p:blipFill>
        <p:spPr>
          <a:xfrm>
            <a:off x="7895625" y="0"/>
            <a:ext cx="4296375" cy="6563641"/>
          </a:xfrm>
          <a:prstGeom prst="rect">
            <a:avLst/>
          </a:prstGeom>
        </p:spPr>
      </p:pic>
      <p:sp>
        <p:nvSpPr>
          <p:cNvPr id="4" name="Rectangle 1">
            <a:extLst>
              <a:ext uri="{FF2B5EF4-FFF2-40B4-BE49-F238E27FC236}">
                <a16:creationId xmlns:a16="http://schemas.microsoft.com/office/drawing/2014/main" id="{883486DB-4737-4A11-8918-00BCC0C9309D}"/>
              </a:ext>
            </a:extLst>
          </p:cNvPr>
          <p:cNvSpPr>
            <a:spLocks noChangeArrowheads="1"/>
          </p:cNvSpPr>
          <p:nvPr/>
        </p:nvSpPr>
        <p:spPr bwMode="auto">
          <a:xfrm>
            <a:off x="10880204" y="5762159"/>
            <a:ext cx="1157468" cy="60016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100" b="0" i="0" u="none" strike="noStrike" cap="none" normalizeH="0" baseline="0" dirty="0" err="1">
                <a:ln>
                  <a:noFill/>
                </a:ln>
                <a:solidFill>
                  <a:schemeClr val="tx1"/>
                </a:solidFill>
                <a:effectLst/>
                <a:latin typeface="Courier New" panose="02070309020205020404" pitchFamily="49" charset="0"/>
              </a:rPr>
              <a:t>Length</a:t>
            </a:r>
            <a:r>
              <a:rPr kumimoji="0" lang="tr-TR" altLang="tr-TR" sz="1100" b="0" i="0" u="none" strike="noStrike" cap="none" normalizeH="0" baseline="0" dirty="0">
                <a:ln>
                  <a:noFill/>
                </a:ln>
                <a:solidFill>
                  <a:schemeClr val="tx1"/>
                </a:solidFill>
                <a:effectLst/>
                <a:latin typeface="Courier New" panose="02070309020205020404" pitchFamily="49" charset="0"/>
              </a:rPr>
              <a:t>: 4.5 </a:t>
            </a:r>
            <a:r>
              <a:rPr kumimoji="0" lang="tr-TR" altLang="tr-TR" sz="1100" b="0" i="0" u="none" strike="noStrike" cap="none" normalizeH="0" baseline="0" dirty="0" err="1">
                <a:ln>
                  <a:noFill/>
                </a:ln>
                <a:solidFill>
                  <a:schemeClr val="tx1"/>
                </a:solidFill>
                <a:effectLst/>
                <a:latin typeface="Courier New" panose="02070309020205020404" pitchFamily="49" charset="0"/>
              </a:rPr>
              <a:t>Width</a:t>
            </a:r>
            <a:r>
              <a:rPr kumimoji="0" lang="tr-TR" altLang="tr-TR" sz="1100" b="0" i="0" u="none" strike="noStrike" cap="none" normalizeH="0" baseline="0" dirty="0">
                <a:ln>
                  <a:noFill/>
                </a:ln>
                <a:solidFill>
                  <a:schemeClr val="tx1"/>
                </a:solidFill>
                <a:effectLst/>
                <a:latin typeface="Courier New" panose="02070309020205020404" pitchFamily="49" charset="0"/>
              </a:rPr>
              <a:t>: 3.5 </a:t>
            </a:r>
            <a:r>
              <a:rPr kumimoji="0" lang="tr-TR" altLang="tr-TR" sz="1100" b="0" i="0" u="none" strike="noStrike" cap="none" normalizeH="0" baseline="0" dirty="0" err="1">
                <a:ln>
                  <a:noFill/>
                </a:ln>
                <a:solidFill>
                  <a:schemeClr val="tx1"/>
                </a:solidFill>
                <a:effectLst/>
                <a:latin typeface="Courier New" panose="02070309020205020404" pitchFamily="49" charset="0"/>
              </a:rPr>
              <a:t>Area</a:t>
            </a:r>
            <a:r>
              <a:rPr kumimoji="0" lang="tr-TR" altLang="tr-TR" sz="1100" b="0" i="0" u="none" strike="noStrike" cap="none" normalizeH="0" baseline="0" dirty="0">
                <a:ln>
                  <a:noFill/>
                </a:ln>
                <a:solidFill>
                  <a:schemeClr val="tx1"/>
                </a:solidFill>
                <a:effectLst/>
                <a:latin typeface="Courier New" panose="02070309020205020404" pitchFamily="49" charset="0"/>
              </a:rPr>
              <a:t>: 15.75</a:t>
            </a:r>
            <a:r>
              <a:rPr kumimoji="0" lang="tr-TR" altLang="tr-TR" sz="11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8" name="Alt Başlık 2">
            <a:extLst>
              <a:ext uri="{FF2B5EF4-FFF2-40B4-BE49-F238E27FC236}">
                <a16:creationId xmlns:a16="http://schemas.microsoft.com/office/drawing/2014/main" id="{260FBCC5-C641-4F75-BF27-93676F392AFA}"/>
              </a:ext>
            </a:extLst>
          </p:cNvPr>
          <p:cNvSpPr txBox="1">
            <a:spLocks/>
          </p:cNvSpPr>
          <p:nvPr/>
        </p:nvSpPr>
        <p:spPr>
          <a:xfrm>
            <a:off x="77163" y="2282142"/>
            <a:ext cx="7664134" cy="625475"/>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i="1" dirty="0" err="1">
                <a:solidFill>
                  <a:schemeClr val="tx1"/>
                </a:solidFill>
                <a:latin typeface="Times New Roman" panose="02020603050405020304" pitchFamily="18" charset="0"/>
                <a:cs typeface="Times New Roman" panose="02020603050405020304" pitchFamily="18" charset="0"/>
              </a:rPr>
              <a:t>Protected</a:t>
            </a:r>
            <a:r>
              <a:rPr lang="tr-TR" sz="3000" b="1" i="1" dirty="0">
                <a:solidFill>
                  <a:schemeClr val="tx1"/>
                </a:solidFill>
                <a:latin typeface="Times New Roman" panose="02020603050405020304" pitchFamily="18" charset="0"/>
                <a:cs typeface="Times New Roman" panose="02020603050405020304" pitchFamily="18" charset="0"/>
              </a:rPr>
              <a:t> </a:t>
            </a:r>
            <a:r>
              <a:rPr lang="tr-TR" sz="3000" b="1" i="1" dirty="0" err="1">
                <a:solidFill>
                  <a:schemeClr val="tx1"/>
                </a:solidFill>
                <a:latin typeface="Times New Roman" panose="02020603050405020304" pitchFamily="18" charset="0"/>
                <a:cs typeface="Times New Roman" panose="02020603050405020304" pitchFamily="18" charset="0"/>
              </a:rPr>
              <a:t>Internal</a:t>
            </a:r>
            <a:r>
              <a:rPr lang="tr-TR" sz="3000" b="1" dirty="0">
                <a:solidFill>
                  <a:schemeClr val="tx1"/>
                </a:solidFill>
                <a:latin typeface="Times New Roman" panose="02020603050405020304" pitchFamily="18" charset="0"/>
                <a:cs typeface="Times New Roman" panose="02020603050405020304" pitchFamily="18" charset="0"/>
              </a:rPr>
              <a:t> Erişim Belirteci</a:t>
            </a:r>
          </a:p>
        </p:txBody>
      </p:sp>
      <p:sp>
        <p:nvSpPr>
          <p:cNvPr id="9" name="Alt Başlık 2">
            <a:extLst>
              <a:ext uri="{FF2B5EF4-FFF2-40B4-BE49-F238E27FC236}">
                <a16:creationId xmlns:a16="http://schemas.microsoft.com/office/drawing/2014/main" id="{CFB384DF-8566-4E5D-99E6-A71D937B9B4B}"/>
              </a:ext>
            </a:extLst>
          </p:cNvPr>
          <p:cNvSpPr txBox="1">
            <a:spLocks/>
          </p:cNvSpPr>
          <p:nvPr/>
        </p:nvSpPr>
        <p:spPr>
          <a:xfrm>
            <a:off x="77165" y="2907617"/>
            <a:ext cx="7741296" cy="2645404"/>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b="1" i="1" dirty="0" err="1">
                <a:solidFill>
                  <a:schemeClr val="tx1"/>
                </a:solidFill>
                <a:latin typeface="Times New Roman" panose="02020603050405020304" pitchFamily="18" charset="0"/>
                <a:cs typeface="Times New Roman" panose="02020603050405020304" pitchFamily="18" charset="0"/>
              </a:rPr>
              <a:t>protected</a:t>
            </a:r>
            <a:r>
              <a:rPr lang="tr-TR" sz="2200" b="1" i="1" dirty="0">
                <a:solidFill>
                  <a:schemeClr val="tx1"/>
                </a:solidFill>
                <a:latin typeface="Times New Roman" panose="02020603050405020304" pitchFamily="18" charset="0"/>
                <a:cs typeface="Times New Roman" panose="02020603050405020304" pitchFamily="18" charset="0"/>
              </a:rPr>
              <a:t> </a:t>
            </a:r>
            <a:r>
              <a:rPr lang="tr-TR" sz="2200" b="1" i="1" dirty="0" err="1">
                <a:solidFill>
                  <a:schemeClr val="tx1"/>
                </a:solidFill>
                <a:latin typeface="Times New Roman" panose="02020603050405020304" pitchFamily="18" charset="0"/>
                <a:cs typeface="Times New Roman" panose="02020603050405020304" pitchFamily="18" charset="0"/>
              </a:rPr>
              <a:t>internal</a:t>
            </a:r>
            <a:r>
              <a:rPr lang="tr-TR" sz="2200" b="1" i="1" dirty="0">
                <a:solidFill>
                  <a:schemeClr val="tx1"/>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erişim belirteci, bir sınıfın üye değişkenlerini ve üye işlevlerini, aynı uygulama içindeki bir alt sınıf dışında diğer sınıf nesnelerinden ve işlevlerinden gizlemesine izin verir.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Bu aynı zamanda kalıtım uygulanırken de kullanılır.</a:t>
            </a:r>
          </a:p>
        </p:txBody>
      </p:sp>
    </p:spTree>
    <p:extLst>
      <p:ext uri="{BB962C8B-B14F-4D97-AF65-F5344CB8AC3E}">
        <p14:creationId xmlns:p14="http://schemas.microsoft.com/office/powerpoint/2010/main" val="3795308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dirty="0">
                <a:solidFill>
                  <a:schemeClr val="tx1"/>
                </a:solidFill>
                <a:latin typeface="Times New Roman" panose="02020603050405020304" pitchFamily="18" charset="0"/>
                <a:cs typeface="Times New Roman" panose="02020603050405020304" pitchFamily="18" charset="0"/>
              </a:rPr>
              <a:t>Metotlar (Yöntemler - </a:t>
            </a:r>
            <a:r>
              <a:rPr lang="tr-TR" sz="3000" b="1" dirty="0" err="1">
                <a:solidFill>
                  <a:schemeClr val="tx1"/>
                </a:solidFill>
                <a:latin typeface="Times New Roman" panose="02020603050405020304" pitchFamily="18" charset="0"/>
                <a:cs typeface="Times New Roman" panose="02020603050405020304" pitchFamily="18" charset="0"/>
              </a:rPr>
              <a:t>Methods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 y="625475"/>
            <a:ext cx="12083971"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Metot, birlikte bir görevi yerine getiren bir grup ifadedir.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Her C# programında Main() adında bir metoda sahip en az bir sınıf bulunur.</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Bir metodu kullanmak için yapılması gereken iki şey vardır:</a:t>
            </a:r>
          </a:p>
          <a:p>
            <a:pPr marL="749808" lvl="1" indent="-457200" algn="just">
              <a:lnSpc>
                <a:spcPct val="100000"/>
              </a:lnSpc>
              <a:buFont typeface="+mj-lt"/>
              <a:buAutoNum type="arabicPeriod"/>
            </a:pPr>
            <a:r>
              <a:rPr lang="tr-TR" sz="2000" dirty="0">
                <a:solidFill>
                  <a:schemeClr val="tx1"/>
                </a:solidFill>
                <a:latin typeface="Times New Roman" panose="02020603050405020304" pitchFamily="18" charset="0"/>
                <a:cs typeface="Times New Roman" panose="02020603050405020304" pitchFamily="18" charset="0"/>
              </a:rPr>
              <a:t>Metodu tanımlamak</a:t>
            </a:r>
          </a:p>
          <a:p>
            <a:pPr marL="749808" lvl="1" indent="-457200" algn="just">
              <a:lnSpc>
                <a:spcPct val="100000"/>
              </a:lnSpc>
              <a:buFont typeface="+mj-lt"/>
              <a:buAutoNum type="arabicPeriod"/>
            </a:pPr>
            <a:r>
              <a:rPr lang="tr-TR" sz="2000" dirty="0">
                <a:solidFill>
                  <a:schemeClr val="tx1"/>
                </a:solidFill>
                <a:latin typeface="Times New Roman" panose="02020603050405020304" pitchFamily="18" charset="0"/>
                <a:cs typeface="Times New Roman" panose="02020603050405020304" pitchFamily="18" charset="0"/>
              </a:rPr>
              <a:t>Metodu çağırmak</a:t>
            </a:r>
          </a:p>
        </p:txBody>
      </p:sp>
    </p:spTree>
    <p:extLst>
      <p:ext uri="{BB962C8B-B14F-4D97-AF65-F5344CB8AC3E}">
        <p14:creationId xmlns:p14="http://schemas.microsoft.com/office/powerpoint/2010/main" val="2950676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dirty="0" err="1">
                <a:solidFill>
                  <a:schemeClr val="tx1"/>
                </a:solidFill>
                <a:latin typeface="Times New Roman" panose="02020603050405020304" pitchFamily="18" charset="0"/>
                <a:cs typeface="Times New Roman" panose="02020603050405020304" pitchFamily="18" charset="0"/>
              </a:rPr>
              <a:t>C#’ta</a:t>
            </a:r>
            <a:r>
              <a:rPr lang="tr-TR" sz="3000" b="1" dirty="0">
                <a:solidFill>
                  <a:schemeClr val="tx1"/>
                </a:solidFill>
                <a:latin typeface="Times New Roman" panose="02020603050405020304" pitchFamily="18" charset="0"/>
                <a:cs typeface="Times New Roman" panose="02020603050405020304" pitchFamily="18" charset="0"/>
              </a:rPr>
              <a:t> Metotların Tanımlanması</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 y="2308712"/>
            <a:ext cx="12083971" cy="4154408"/>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Erişim Belirteci: Bu, bir değişkenin veya başka bir sınıftan bir metodun görünürlüğünü belirler.</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Dönüş türü: Bir metot bir değer döndürebilir. Dönüş türü, metodun döndürdüğü değerin veri türüdür. Metot herhangi bir değer döndürmüyorsa, dönüş türü </a:t>
            </a:r>
            <a:r>
              <a:rPr lang="tr-TR" sz="2200" dirty="0" err="1">
                <a:solidFill>
                  <a:schemeClr val="tx1"/>
                </a:solidFill>
                <a:latin typeface="Times New Roman" panose="02020603050405020304" pitchFamily="18" charset="0"/>
                <a:cs typeface="Times New Roman" panose="02020603050405020304" pitchFamily="18" charset="0"/>
              </a:rPr>
              <a:t>void’dir</a:t>
            </a:r>
            <a:r>
              <a:rPr lang="tr-TR" sz="2200" dirty="0">
                <a:solidFill>
                  <a:schemeClr val="tx1"/>
                </a:solidFill>
                <a:latin typeface="Times New Roman" panose="02020603050405020304" pitchFamily="18" charset="0"/>
                <a:cs typeface="Times New Roman" panose="02020603050405020304" pitchFamily="18" charset="0"/>
              </a:rPr>
              <a:t>.</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Metot adı: Metot adı benzersiz (</a:t>
            </a:r>
            <a:r>
              <a:rPr lang="tr-TR" sz="2200" dirty="0" err="1">
                <a:solidFill>
                  <a:schemeClr val="tx1"/>
                </a:solidFill>
                <a:latin typeface="Times New Roman" panose="02020603050405020304" pitchFamily="18" charset="0"/>
                <a:cs typeface="Times New Roman" panose="02020603050405020304" pitchFamily="18" charset="0"/>
              </a:rPr>
              <a:t>unique</a:t>
            </a:r>
            <a:r>
              <a:rPr lang="tr-TR" sz="2200" dirty="0">
                <a:solidFill>
                  <a:schemeClr val="tx1"/>
                </a:solidFill>
                <a:latin typeface="Times New Roman" panose="02020603050405020304" pitchFamily="18" charset="0"/>
                <a:cs typeface="Times New Roman" panose="02020603050405020304" pitchFamily="18" charset="0"/>
              </a:rPr>
              <a:t>) bir tanımlayıcıdır ve büyük/küçük harfe duyarlıdır. Sınıfta bildirilen diğer tanımlayıcılarla aynı olamaz.</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Parametre listesi: Parantezler arasında yer alan parametreler, bir metoda veri geçirmek ve metottan veri almak için kullanılır. Parametre listesi, bir metodun parametrelerinin türünü, sırasını ve sayısını ifade eder. Parametreler isteğe bağlıdır; yani, bir metot hiçbir parametre içermeyebilir.</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Metot gövdesi: Bu, gerekli aktiviteyi tamamlamak için gereken emirler kümesini içerir. </a:t>
            </a:r>
            <a:endParaRPr lang="tr-TR" sz="2000" dirty="0">
              <a:solidFill>
                <a:schemeClr val="tx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7AA3093-E95E-4413-A0DE-13A99C343F92}"/>
              </a:ext>
            </a:extLst>
          </p:cNvPr>
          <p:cNvSpPr>
            <a:spLocks noChangeArrowheads="1"/>
          </p:cNvSpPr>
          <p:nvPr/>
        </p:nvSpPr>
        <p:spPr bwMode="auto">
          <a:xfrm>
            <a:off x="1365813" y="866929"/>
            <a:ext cx="8681012"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chemeClr val="tx1"/>
                </a:solidFill>
                <a:effectLst/>
                <a:latin typeface="Courier New" panose="02070309020205020404" pitchFamily="49" charset="0"/>
              </a:rPr>
              <a:t>&lt;erişim belirteci&gt; &lt;dönüş türü&gt; &lt;metot adı&gt;(parametre Listesi) { </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chemeClr val="tx1"/>
                </a:solidFill>
                <a:effectLst/>
                <a:latin typeface="Courier New" panose="02070309020205020404" pitchFamily="49" charset="0"/>
              </a:rPr>
              <a:t>     metot gövdesi</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chemeClr val="tx1"/>
                </a:solidFill>
                <a:effectLst/>
                <a:latin typeface="Courier New" panose="02070309020205020404" pitchFamily="49" charset="0"/>
              </a:rPr>
              <a:t>}</a:t>
            </a:r>
            <a:r>
              <a:rPr kumimoji="0" lang="tr-TR" altLang="tr-TR" b="0" i="0" u="none" strike="noStrike" cap="none" normalizeH="0" baseline="0" dirty="0">
                <a:ln>
                  <a:noFill/>
                </a:ln>
                <a:solidFill>
                  <a:schemeClr val="tx1"/>
                </a:solidFill>
                <a:effectLst/>
              </a:rPr>
              <a:t> </a:t>
            </a:r>
            <a:endParaRPr kumimoji="0" lang="tr-TR" altLang="tr-T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4155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Resim 9">
            <a:extLst>
              <a:ext uri="{FF2B5EF4-FFF2-40B4-BE49-F238E27FC236}">
                <a16:creationId xmlns:a16="http://schemas.microsoft.com/office/drawing/2014/main" id="{724E76F3-A09B-4C8D-A689-6082007D4E05}"/>
              </a:ext>
            </a:extLst>
          </p:cNvPr>
          <p:cNvPicPr>
            <a:picLocks noChangeAspect="1"/>
          </p:cNvPicPr>
          <p:nvPr/>
        </p:nvPicPr>
        <p:blipFill>
          <a:blip r:embed="rId3"/>
          <a:stretch>
            <a:fillRect/>
          </a:stretch>
        </p:blipFill>
        <p:spPr>
          <a:xfrm>
            <a:off x="7411654" y="83729"/>
            <a:ext cx="4721851" cy="6401836"/>
          </a:xfrm>
          <a:prstGeom prst="rect">
            <a:avLst/>
          </a:prstGeom>
        </p:spPr>
      </p:pic>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2800" b="1" dirty="0" err="1">
                <a:solidFill>
                  <a:schemeClr val="tx1"/>
                </a:solidFill>
                <a:latin typeface="Times New Roman" panose="02020603050405020304" pitchFamily="18" charset="0"/>
                <a:cs typeface="Times New Roman" panose="02020603050405020304" pitchFamily="18" charset="0"/>
              </a:rPr>
              <a:t>C#’ta</a:t>
            </a:r>
            <a:r>
              <a:rPr lang="tr-TR" sz="2800" b="1" dirty="0">
                <a:solidFill>
                  <a:schemeClr val="tx1"/>
                </a:solidFill>
                <a:latin typeface="Times New Roman" panose="02020603050405020304" pitchFamily="18" charset="0"/>
                <a:cs typeface="Times New Roman" panose="02020603050405020304" pitchFamily="18" charset="0"/>
              </a:rPr>
              <a:t> Metotların Tanımlanması ve Çağrılması</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7303626"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Yandaki kod parçacığı, iki tamsayı değeri alan ve ikisinden büyük olanı döndüren </a:t>
            </a:r>
            <a:r>
              <a:rPr lang="tr-TR" sz="2200" b="1" i="1" dirty="0" err="1">
                <a:solidFill>
                  <a:srgbClr val="FF6600"/>
                </a:solidFill>
                <a:latin typeface="Times New Roman" panose="02020603050405020304" pitchFamily="18" charset="0"/>
                <a:cs typeface="Times New Roman" panose="02020603050405020304" pitchFamily="18" charset="0"/>
              </a:rPr>
              <a:t>FindMax</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fonksiyonunu gösterir.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Genel erişim belirtecine sahiptir, bu nedenle sınıfın bir nesnesi kullanılarak sınıfın dışından erişilebilir.</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D5B85207-2CD8-4A4C-BA57-A40D2FAA2FD2}"/>
              </a:ext>
            </a:extLst>
          </p:cNvPr>
          <p:cNvSpPr>
            <a:spLocks noChangeArrowheads="1"/>
          </p:cNvSpPr>
          <p:nvPr/>
        </p:nvSpPr>
        <p:spPr bwMode="auto">
          <a:xfrm>
            <a:off x="9826907" y="6045469"/>
            <a:ext cx="2177960" cy="30777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err="1">
                <a:ln>
                  <a:noFill/>
                </a:ln>
                <a:solidFill>
                  <a:schemeClr val="tx1"/>
                </a:solidFill>
                <a:effectLst/>
                <a:latin typeface="Courier New" panose="02070309020205020404" pitchFamily="49" charset="0"/>
              </a:rPr>
              <a:t>Max</a:t>
            </a:r>
            <a:r>
              <a:rPr kumimoji="0" lang="tr-TR" altLang="tr-TR" sz="1400" b="0" i="0" u="none" strike="noStrike" cap="none" normalizeH="0" baseline="0" dirty="0">
                <a:ln>
                  <a:noFill/>
                </a:ln>
                <a:solidFill>
                  <a:schemeClr val="tx1"/>
                </a:solidFill>
                <a:effectLst/>
                <a:latin typeface="Courier New" panose="02070309020205020404" pitchFamily="49" charset="0"/>
              </a:rPr>
              <a:t> </a:t>
            </a:r>
            <a:r>
              <a:rPr kumimoji="0" lang="tr-TR" altLang="tr-TR" sz="1400" b="0" i="0" u="none" strike="noStrike" cap="none" normalizeH="0" baseline="0" dirty="0" err="1">
                <a:ln>
                  <a:noFill/>
                </a:ln>
                <a:solidFill>
                  <a:schemeClr val="tx1"/>
                </a:solidFill>
                <a:effectLst/>
                <a:latin typeface="Courier New" panose="02070309020205020404" pitchFamily="49" charset="0"/>
              </a:rPr>
              <a:t>value</a:t>
            </a:r>
            <a:r>
              <a:rPr kumimoji="0" lang="tr-TR" altLang="tr-TR" sz="1400" b="0" i="0" u="none" strike="noStrike" cap="none" normalizeH="0" baseline="0" dirty="0">
                <a:ln>
                  <a:noFill/>
                </a:ln>
                <a:solidFill>
                  <a:schemeClr val="tx1"/>
                </a:solidFill>
                <a:effectLst/>
                <a:latin typeface="Courier New" panose="02070309020205020404" pitchFamily="49" charset="0"/>
              </a:rPr>
              <a:t> is : 200</a:t>
            </a:r>
            <a:r>
              <a:rPr kumimoji="0" lang="tr-TR" altLang="tr-TR" sz="1400" b="0" i="0" u="none" strike="noStrike" cap="none" normalizeH="0" baseline="0" dirty="0">
                <a:ln>
                  <a:noFill/>
                </a:ln>
                <a:solidFill>
                  <a:schemeClr val="tx1"/>
                </a:solidFill>
                <a:effectLst/>
              </a:rPr>
              <a:t> </a:t>
            </a: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7496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2800" b="1" dirty="0" err="1">
                <a:solidFill>
                  <a:schemeClr val="tx1"/>
                </a:solidFill>
                <a:latin typeface="Times New Roman" panose="02020603050405020304" pitchFamily="18" charset="0"/>
                <a:cs typeface="Times New Roman" panose="02020603050405020304" pitchFamily="18" charset="0"/>
              </a:rPr>
              <a:t>C#’ta</a:t>
            </a:r>
            <a:r>
              <a:rPr lang="tr-TR" sz="2800" b="1" dirty="0">
                <a:solidFill>
                  <a:schemeClr val="tx1"/>
                </a:solidFill>
                <a:latin typeface="Times New Roman" panose="02020603050405020304" pitchFamily="18" charset="0"/>
                <a:cs typeface="Times New Roman" panose="02020603050405020304" pitchFamily="18" charset="0"/>
              </a:rPr>
              <a:t> Metotların Tanımlanması ve Çağrılması</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7303626"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Ayrıca sınıfın nesnesini kullanarak diğer sınıflardan </a:t>
            </a:r>
            <a:r>
              <a:rPr lang="tr-TR" sz="2200" dirty="0" err="1">
                <a:solidFill>
                  <a:schemeClr val="tx1"/>
                </a:solidFill>
                <a:latin typeface="Times New Roman" panose="02020603050405020304" pitchFamily="18" charset="0"/>
                <a:cs typeface="Times New Roman" panose="02020603050405020304" pitchFamily="18" charset="0"/>
              </a:rPr>
              <a:t>public</a:t>
            </a:r>
            <a:r>
              <a:rPr lang="tr-TR" sz="2200" dirty="0">
                <a:solidFill>
                  <a:schemeClr val="tx1"/>
                </a:solidFill>
                <a:latin typeface="Times New Roman" panose="02020603050405020304" pitchFamily="18" charset="0"/>
                <a:cs typeface="Times New Roman" panose="02020603050405020304" pitchFamily="18" charset="0"/>
              </a:rPr>
              <a:t> metodu çağırabiliriz.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Yandaki örnekte </a:t>
            </a:r>
            <a:r>
              <a:rPr lang="tr-TR" sz="2200" b="1" i="1" dirty="0" err="1">
                <a:solidFill>
                  <a:srgbClr val="FF6600"/>
                </a:solidFill>
                <a:latin typeface="Times New Roman" panose="02020603050405020304" pitchFamily="18" charset="0"/>
                <a:cs typeface="Times New Roman" panose="02020603050405020304" pitchFamily="18" charset="0"/>
              </a:rPr>
              <a:t>FindMax</a:t>
            </a:r>
            <a:r>
              <a:rPr lang="tr-TR" sz="2200" b="1" i="1" dirty="0">
                <a:solidFill>
                  <a:srgbClr val="FF6600"/>
                </a:solidFill>
                <a:latin typeface="Times New Roman" panose="02020603050405020304" pitchFamily="18" charset="0"/>
                <a:cs typeface="Times New Roman" panose="02020603050405020304" pitchFamily="18" charset="0"/>
              </a:rPr>
              <a:t>() </a:t>
            </a:r>
            <a:r>
              <a:rPr lang="tr-TR" sz="2200" dirty="0">
                <a:solidFill>
                  <a:schemeClr val="tx1"/>
                </a:solidFill>
                <a:latin typeface="Times New Roman" panose="02020603050405020304" pitchFamily="18" charset="0"/>
                <a:cs typeface="Times New Roman" panose="02020603050405020304" pitchFamily="18" charset="0"/>
              </a:rPr>
              <a:t>metodu </a:t>
            </a:r>
            <a:r>
              <a:rPr lang="tr-TR" sz="2200" dirty="0" err="1">
                <a:solidFill>
                  <a:srgbClr val="33CC33"/>
                </a:solidFill>
                <a:latin typeface="Times New Roman" panose="02020603050405020304" pitchFamily="18" charset="0"/>
                <a:cs typeface="Times New Roman" panose="02020603050405020304" pitchFamily="18" charset="0"/>
              </a:rPr>
              <a:t>NumberManipulator</a:t>
            </a:r>
            <a:r>
              <a:rPr lang="tr-TR" sz="2200" dirty="0">
                <a:solidFill>
                  <a:schemeClr val="tx1"/>
                </a:solidFill>
                <a:latin typeface="Times New Roman" panose="02020603050405020304" pitchFamily="18" charset="0"/>
                <a:cs typeface="Times New Roman" panose="02020603050405020304" pitchFamily="18" charset="0"/>
              </a:rPr>
              <a:t> sınıfına aittir ve Test isimli başka bir sınıftan çağrılabilir.</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p:txBody>
      </p:sp>
      <p:pic>
        <p:nvPicPr>
          <p:cNvPr id="2" name="Resim 1">
            <a:extLst>
              <a:ext uri="{FF2B5EF4-FFF2-40B4-BE49-F238E27FC236}">
                <a16:creationId xmlns:a16="http://schemas.microsoft.com/office/drawing/2014/main" id="{CC8BDCF5-447A-4DF2-845D-4A3FAFF6F787}"/>
              </a:ext>
            </a:extLst>
          </p:cNvPr>
          <p:cNvPicPr>
            <a:picLocks noChangeAspect="1"/>
          </p:cNvPicPr>
          <p:nvPr/>
        </p:nvPicPr>
        <p:blipFill>
          <a:blip r:embed="rId3"/>
          <a:stretch>
            <a:fillRect/>
          </a:stretch>
        </p:blipFill>
        <p:spPr>
          <a:xfrm>
            <a:off x="7409032" y="53408"/>
            <a:ext cx="4595835" cy="6409712"/>
          </a:xfrm>
          <a:prstGeom prst="rect">
            <a:avLst/>
          </a:prstGeom>
        </p:spPr>
      </p:pic>
      <p:sp>
        <p:nvSpPr>
          <p:cNvPr id="9" name="Rectangle 1">
            <a:extLst>
              <a:ext uri="{FF2B5EF4-FFF2-40B4-BE49-F238E27FC236}">
                <a16:creationId xmlns:a16="http://schemas.microsoft.com/office/drawing/2014/main" id="{3229C3E2-2445-4D5A-B2B1-F6ECD572A1F5}"/>
              </a:ext>
            </a:extLst>
          </p:cNvPr>
          <p:cNvSpPr>
            <a:spLocks noChangeArrowheads="1"/>
          </p:cNvSpPr>
          <p:nvPr/>
        </p:nvSpPr>
        <p:spPr bwMode="auto">
          <a:xfrm>
            <a:off x="9706949" y="6045469"/>
            <a:ext cx="2177960" cy="30777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400" b="0" i="0" u="none" strike="noStrike" cap="none" normalizeH="0" baseline="0" dirty="0" err="1">
                <a:ln>
                  <a:noFill/>
                </a:ln>
                <a:solidFill>
                  <a:schemeClr val="tx1"/>
                </a:solidFill>
                <a:effectLst/>
                <a:latin typeface="Courier New" panose="02070309020205020404" pitchFamily="49" charset="0"/>
              </a:rPr>
              <a:t>Max</a:t>
            </a:r>
            <a:r>
              <a:rPr kumimoji="0" lang="tr-TR" altLang="tr-TR" sz="1400" b="0" i="0" u="none" strike="noStrike" cap="none" normalizeH="0" baseline="0" dirty="0">
                <a:ln>
                  <a:noFill/>
                </a:ln>
                <a:solidFill>
                  <a:schemeClr val="tx1"/>
                </a:solidFill>
                <a:effectLst/>
                <a:latin typeface="Courier New" panose="02070309020205020404" pitchFamily="49" charset="0"/>
              </a:rPr>
              <a:t> </a:t>
            </a:r>
            <a:r>
              <a:rPr kumimoji="0" lang="tr-TR" altLang="tr-TR" sz="1400" b="0" i="0" u="none" strike="noStrike" cap="none" normalizeH="0" baseline="0" dirty="0" err="1">
                <a:ln>
                  <a:noFill/>
                </a:ln>
                <a:solidFill>
                  <a:schemeClr val="tx1"/>
                </a:solidFill>
                <a:effectLst/>
                <a:latin typeface="Courier New" panose="02070309020205020404" pitchFamily="49" charset="0"/>
              </a:rPr>
              <a:t>value</a:t>
            </a:r>
            <a:r>
              <a:rPr kumimoji="0" lang="tr-TR" altLang="tr-TR" sz="1400" b="0" i="0" u="none" strike="noStrike" cap="none" normalizeH="0" baseline="0" dirty="0">
                <a:ln>
                  <a:noFill/>
                </a:ln>
                <a:solidFill>
                  <a:schemeClr val="tx1"/>
                </a:solidFill>
                <a:effectLst/>
                <a:latin typeface="Courier New" panose="02070309020205020404" pitchFamily="49" charset="0"/>
              </a:rPr>
              <a:t> is : 200</a:t>
            </a:r>
            <a:r>
              <a:rPr kumimoji="0" lang="tr-TR" altLang="tr-TR" sz="1400" b="0" i="0" u="none" strike="noStrike" cap="none" normalizeH="0" baseline="0" dirty="0">
                <a:ln>
                  <a:noFill/>
                </a:ln>
                <a:solidFill>
                  <a:schemeClr val="tx1"/>
                </a:solidFill>
                <a:effectLst/>
              </a:rPr>
              <a:t> </a:t>
            </a:r>
            <a:endParaRPr kumimoji="0" lang="tr-TR" altLang="tr-T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8320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7245E78C-82D0-44D5-88BB-86BD33A0C9D1}"/>
              </a:ext>
            </a:extLst>
          </p:cNvPr>
          <p:cNvPicPr>
            <a:picLocks noChangeAspect="1"/>
          </p:cNvPicPr>
          <p:nvPr/>
        </p:nvPicPr>
        <p:blipFill>
          <a:blip r:embed="rId3"/>
          <a:stretch>
            <a:fillRect/>
          </a:stretch>
        </p:blipFill>
        <p:spPr>
          <a:xfrm>
            <a:off x="6982088" y="185186"/>
            <a:ext cx="5087060" cy="6163535"/>
          </a:xfrm>
          <a:prstGeom prst="rect">
            <a:avLst/>
          </a:prstGeom>
        </p:spPr>
      </p:pic>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dirty="0" err="1">
                <a:solidFill>
                  <a:schemeClr val="tx1"/>
                </a:solidFill>
                <a:latin typeface="Times New Roman" panose="02020603050405020304" pitchFamily="18" charset="0"/>
                <a:cs typeface="Times New Roman" panose="02020603050405020304" pitchFamily="18" charset="0"/>
              </a:rPr>
              <a:t>Rekürsif</a:t>
            </a:r>
            <a:r>
              <a:rPr lang="tr-TR" sz="3000" b="1" dirty="0">
                <a:solidFill>
                  <a:schemeClr val="tx1"/>
                </a:solidFill>
                <a:latin typeface="Times New Roman" panose="02020603050405020304" pitchFamily="18" charset="0"/>
                <a:cs typeface="Times New Roman" panose="02020603050405020304" pitchFamily="18" charset="0"/>
              </a:rPr>
              <a:t> (</a:t>
            </a:r>
            <a:r>
              <a:rPr lang="tr-TR" sz="3000" b="1" dirty="0" err="1">
                <a:solidFill>
                  <a:schemeClr val="tx1"/>
                </a:solidFill>
                <a:latin typeface="Times New Roman" panose="02020603050405020304" pitchFamily="18" charset="0"/>
                <a:cs typeface="Times New Roman" panose="02020603050405020304" pitchFamily="18" charset="0"/>
              </a:rPr>
              <a:t>Recursive</a:t>
            </a:r>
            <a:r>
              <a:rPr lang="tr-TR" sz="3000" b="1" dirty="0">
                <a:solidFill>
                  <a:schemeClr val="tx1"/>
                </a:solidFill>
                <a:latin typeface="Times New Roman" panose="02020603050405020304" pitchFamily="18" charset="0"/>
                <a:cs typeface="Times New Roman" panose="02020603050405020304" pitchFamily="18" charset="0"/>
              </a:rPr>
              <a:t>) Metot Çağrısı</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0" y="625475"/>
            <a:ext cx="6874060"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Bir metodun kendini çağırması </a:t>
            </a:r>
            <a:r>
              <a:rPr lang="tr-TR" sz="2200" b="1" dirty="0">
                <a:solidFill>
                  <a:srgbClr val="00B0F0"/>
                </a:solidFill>
                <a:latin typeface="Times New Roman" panose="02020603050405020304" pitchFamily="18" charset="0"/>
                <a:cs typeface="Times New Roman" panose="02020603050405020304" pitchFamily="18" charset="0"/>
              </a:rPr>
              <a:t>özyineleme</a:t>
            </a:r>
            <a:r>
              <a:rPr lang="tr-TR" sz="2200" dirty="0">
                <a:solidFill>
                  <a:schemeClr val="tx1"/>
                </a:solidFill>
                <a:latin typeface="Times New Roman" panose="02020603050405020304" pitchFamily="18" charset="0"/>
                <a:cs typeface="Times New Roman" panose="02020603050405020304" pitchFamily="18" charset="0"/>
              </a:rPr>
              <a:t> olarak bilinir.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Yanda, özyinelemeli bir işlev kullanarak belirli bir sayı için faktöriyel hesaplayan bir örnek verilmiştir.</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p:txBody>
      </p:sp>
      <p:sp>
        <p:nvSpPr>
          <p:cNvPr id="8" name="Metin kutusu 7">
            <a:extLst>
              <a:ext uri="{FF2B5EF4-FFF2-40B4-BE49-F238E27FC236}">
                <a16:creationId xmlns:a16="http://schemas.microsoft.com/office/drawing/2014/main" id="{390D07D9-C1F1-4E5D-A50D-276233185827}"/>
              </a:ext>
            </a:extLst>
          </p:cNvPr>
          <p:cNvSpPr txBox="1"/>
          <p:nvPr/>
        </p:nvSpPr>
        <p:spPr>
          <a:xfrm>
            <a:off x="10623270" y="5614582"/>
            <a:ext cx="1280148" cy="584775"/>
          </a:xfrm>
          <a:prstGeom prst="rect">
            <a:avLst/>
          </a:prstGeom>
          <a:solidFill>
            <a:schemeClr val="tx2">
              <a:lumMod val="85000"/>
            </a:schemeClr>
          </a:solidFill>
        </p:spPr>
        <p:txBody>
          <a:bodyPr wrap="square">
            <a:spAutoFit/>
          </a:bodyPr>
          <a:lstStyle/>
          <a:p>
            <a:r>
              <a:rPr lang="tr-TR" sz="1600" dirty="0">
                <a:latin typeface="Courier New" panose="02070309020205020404" pitchFamily="49" charset="0"/>
                <a:cs typeface="Courier New" panose="02070309020205020404" pitchFamily="49" charset="0"/>
              </a:rPr>
              <a:t>5! = 120</a:t>
            </a:r>
          </a:p>
          <a:p>
            <a:r>
              <a:rPr lang="tr-TR" sz="1600" dirty="0">
                <a:latin typeface="Courier New" panose="02070309020205020404" pitchFamily="49" charset="0"/>
                <a:cs typeface="Courier New" panose="02070309020205020404" pitchFamily="49" charset="0"/>
              </a:rPr>
              <a:t>6! = 720</a:t>
            </a:r>
          </a:p>
        </p:txBody>
      </p:sp>
    </p:spTree>
    <p:extLst>
      <p:ext uri="{BB962C8B-B14F-4D97-AF65-F5344CB8AC3E}">
        <p14:creationId xmlns:p14="http://schemas.microsoft.com/office/powerpoint/2010/main" val="2959449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dirty="0">
                <a:solidFill>
                  <a:schemeClr val="tx1"/>
                </a:solidFill>
                <a:latin typeface="Times New Roman" panose="02020603050405020304" pitchFamily="18" charset="0"/>
                <a:cs typeface="Times New Roman" panose="02020603050405020304" pitchFamily="18" charset="0"/>
              </a:rPr>
              <a:t>Metoda Parametre Geçirme</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 y="625475"/>
            <a:ext cx="12083971" cy="5837645"/>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Parametreli bir metot çağrıldığında, parametreleri yönteme geçirmek gerekir.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Parametrelerin bir yönteme iletilmesinin üç yolu vardır:</a:t>
            </a:r>
          </a:p>
          <a:p>
            <a:pPr algn="just">
              <a:lnSpc>
                <a:spcPct val="100000"/>
              </a:lnSpc>
            </a:pPr>
            <a:r>
              <a:rPr lang="tr-TR" sz="2200" i="1" dirty="0">
                <a:solidFill>
                  <a:schemeClr val="tx1"/>
                </a:solidFill>
                <a:latin typeface="Times New Roman" panose="02020603050405020304" pitchFamily="18" charset="0"/>
                <a:cs typeface="Times New Roman" panose="02020603050405020304" pitchFamily="18" charset="0"/>
              </a:rPr>
              <a:t>Değer parametreleri: </a:t>
            </a:r>
            <a:r>
              <a:rPr lang="tr-TR" sz="2200" dirty="0">
                <a:solidFill>
                  <a:schemeClr val="tx1"/>
                </a:solidFill>
                <a:latin typeface="Times New Roman" panose="02020603050405020304" pitchFamily="18" charset="0"/>
                <a:cs typeface="Times New Roman" panose="02020603050405020304" pitchFamily="18" charset="0"/>
              </a:rPr>
              <a:t>Değer tipleri parametre olarak verildiğinde fonksiyon içerisinde yeni bir nesne oluşturulur ve değeri buraya kopyalanır. Yani fonksiyon içerisinde değer tipindeki bir veri değiştiğinde çağıran programdaki ana değer değişmez.</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Referans parametreleri: Metot çağrıldığında parametre olarak geçirilen bir değişkenin değerinin kendisi kullanılır. Başka bir deyişle metoda, ilgili parametrenin bellekteki referansı aktarılmaktadır. Böylece  metot içerisinde değişken üzerinde yapılan değişiklikler orijinal değere yansır. </a:t>
            </a:r>
            <a:r>
              <a:rPr lang="tr-TR" sz="2200" b="1" dirty="0" err="1">
                <a:solidFill>
                  <a:srgbClr val="00B0F0"/>
                </a:solidFill>
                <a:latin typeface="Times New Roman" panose="02020603050405020304" pitchFamily="18" charset="0"/>
                <a:cs typeface="Times New Roman" panose="02020603050405020304" pitchFamily="18" charset="0"/>
              </a:rPr>
              <a:t>ref</a:t>
            </a:r>
            <a:r>
              <a:rPr lang="tr-TR" sz="2200" dirty="0">
                <a:solidFill>
                  <a:schemeClr val="tx1"/>
                </a:solidFill>
                <a:latin typeface="Times New Roman" panose="02020603050405020304" pitchFamily="18" charset="0"/>
                <a:cs typeface="Times New Roman" panose="02020603050405020304" pitchFamily="18" charset="0"/>
              </a:rPr>
              <a:t> anahtar kelimesi ile gerçekleştirilir.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Çıktı parametreleri: Birden fazla değer döndürmeye yarayan yöntemdir. Metoda parametreyi </a:t>
            </a:r>
            <a:r>
              <a:rPr lang="tr-TR" sz="2200" dirty="0" err="1">
                <a:solidFill>
                  <a:schemeClr val="tx1"/>
                </a:solidFill>
                <a:latin typeface="Times New Roman" panose="02020603050405020304" pitchFamily="18" charset="0"/>
                <a:cs typeface="Times New Roman" panose="02020603050405020304" pitchFamily="18" charset="0"/>
              </a:rPr>
              <a:t>output</a:t>
            </a:r>
            <a:r>
              <a:rPr lang="tr-TR" sz="2200" dirty="0">
                <a:solidFill>
                  <a:schemeClr val="tx1"/>
                </a:solidFill>
                <a:latin typeface="Times New Roman" panose="02020603050405020304" pitchFamily="18" charset="0"/>
                <a:cs typeface="Times New Roman" panose="02020603050405020304" pitchFamily="18" charset="0"/>
              </a:rPr>
              <a:t> yoluyla geçirmek, kavramsal olarak referans yolu ile parametre geçirmeye benzer. Bu işlem </a:t>
            </a:r>
            <a:r>
              <a:rPr lang="tr-TR" sz="2200" b="1" dirty="0" err="1">
                <a:solidFill>
                  <a:srgbClr val="00B0F0"/>
                </a:solidFill>
                <a:latin typeface="Times New Roman" panose="02020603050405020304" pitchFamily="18" charset="0"/>
                <a:cs typeface="Times New Roman" panose="02020603050405020304" pitchFamily="18" charset="0"/>
              </a:rPr>
              <a:t>out</a:t>
            </a:r>
            <a:r>
              <a:rPr lang="tr-TR" sz="2200" dirty="0">
                <a:solidFill>
                  <a:schemeClr val="tx1"/>
                </a:solidFill>
                <a:latin typeface="Times New Roman" panose="02020603050405020304" pitchFamily="18" charset="0"/>
                <a:cs typeface="Times New Roman" panose="02020603050405020304" pitchFamily="18" charset="0"/>
              </a:rPr>
              <a:t> anahtar kelimesi ile gerçekleşir. </a:t>
            </a:r>
          </a:p>
          <a:p>
            <a:pPr algn="just">
              <a:lnSpc>
                <a:spcPct val="100000"/>
              </a:lnSpc>
            </a:pPr>
            <a:endParaRPr lang="tr-TR"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4139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dirty="0">
                <a:solidFill>
                  <a:schemeClr val="tx1"/>
                </a:solidFill>
                <a:latin typeface="Times New Roman" panose="02020603050405020304" pitchFamily="18" charset="0"/>
                <a:cs typeface="Times New Roman" panose="02020603050405020304" pitchFamily="18" charset="0"/>
              </a:rPr>
              <a:t>Diziler (</a:t>
            </a:r>
            <a:r>
              <a:rPr lang="tr-TR" sz="3000" b="1" dirty="0" err="1">
                <a:solidFill>
                  <a:schemeClr val="tx1"/>
                </a:solidFill>
                <a:latin typeface="Times New Roman" panose="02020603050405020304" pitchFamily="18" charset="0"/>
                <a:cs typeface="Times New Roman" panose="02020603050405020304" pitchFamily="18" charset="0"/>
              </a:rPr>
              <a:t>Arrays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 y="625475"/>
            <a:ext cx="12083971" cy="5798474"/>
          </a:xfrm>
          <a:prstGeom prst="rect">
            <a:avLst/>
          </a:prstGeom>
        </p:spPr>
        <p:txBody>
          <a:bodyPr vert="horz" lIns="0" tIns="45720" rIns="0" bIns="45720" rtlCol="0" anchor="t">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Bir dizi, aynı türdeki öğelerin sabit boyutlu sıralı bir koleksiyonudur.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number0, number1, ... ve number99 gibi tek tek değişkenleri bildirmek yerine, </a:t>
            </a:r>
            <a:r>
              <a:rPr lang="tr-TR" sz="2200" dirty="0" err="1">
                <a:solidFill>
                  <a:schemeClr val="tx1"/>
                </a:solidFill>
                <a:latin typeface="Times New Roman" panose="02020603050405020304" pitchFamily="18" charset="0"/>
                <a:cs typeface="Times New Roman" panose="02020603050405020304" pitchFamily="18" charset="0"/>
              </a:rPr>
              <a:t>numbers</a:t>
            </a:r>
            <a:r>
              <a:rPr lang="tr-TR" sz="2200" dirty="0">
                <a:solidFill>
                  <a:schemeClr val="tx1"/>
                </a:solidFill>
                <a:latin typeface="Times New Roman" panose="02020603050405020304" pitchFamily="18" charset="0"/>
                <a:cs typeface="Times New Roman" panose="02020603050405020304" pitchFamily="18" charset="0"/>
              </a:rPr>
              <a:t> gibi bir dizi değişkeni bildirirsiniz ve bunları temsil etmek için </a:t>
            </a:r>
            <a:r>
              <a:rPr lang="tr-TR" sz="2200" dirty="0" err="1">
                <a:solidFill>
                  <a:schemeClr val="tx1"/>
                </a:solidFill>
                <a:latin typeface="Times New Roman" panose="02020603050405020304" pitchFamily="18" charset="0"/>
                <a:cs typeface="Times New Roman" panose="02020603050405020304" pitchFamily="18" charset="0"/>
              </a:rPr>
              <a:t>numbers</a:t>
            </a:r>
            <a:r>
              <a:rPr lang="tr-TR" sz="2200" dirty="0">
                <a:solidFill>
                  <a:schemeClr val="tx1"/>
                </a:solidFill>
                <a:latin typeface="Times New Roman" panose="02020603050405020304" pitchFamily="18" charset="0"/>
                <a:cs typeface="Times New Roman" panose="02020603050405020304" pitchFamily="18" charset="0"/>
              </a:rPr>
              <a:t>[0], </a:t>
            </a:r>
            <a:r>
              <a:rPr lang="tr-TR" sz="2200" dirty="0" err="1">
                <a:solidFill>
                  <a:schemeClr val="tx1"/>
                </a:solidFill>
                <a:latin typeface="Times New Roman" panose="02020603050405020304" pitchFamily="18" charset="0"/>
                <a:cs typeface="Times New Roman" panose="02020603050405020304" pitchFamily="18" charset="0"/>
              </a:rPr>
              <a:t>numbers</a:t>
            </a:r>
            <a:r>
              <a:rPr lang="tr-TR" sz="2200" dirty="0">
                <a:solidFill>
                  <a:schemeClr val="tx1"/>
                </a:solidFill>
                <a:latin typeface="Times New Roman" panose="02020603050405020304" pitchFamily="18" charset="0"/>
                <a:cs typeface="Times New Roman" panose="02020603050405020304" pitchFamily="18" charset="0"/>
              </a:rPr>
              <a:t>[1] ve ..., </a:t>
            </a:r>
            <a:r>
              <a:rPr lang="tr-TR" sz="2200" dirty="0" err="1">
                <a:solidFill>
                  <a:schemeClr val="tx1"/>
                </a:solidFill>
                <a:latin typeface="Times New Roman" panose="02020603050405020304" pitchFamily="18" charset="0"/>
                <a:cs typeface="Times New Roman" panose="02020603050405020304" pitchFamily="18" charset="0"/>
              </a:rPr>
              <a:t>numbers</a:t>
            </a:r>
            <a:r>
              <a:rPr lang="tr-TR" sz="2200" dirty="0">
                <a:solidFill>
                  <a:schemeClr val="tx1"/>
                </a:solidFill>
                <a:latin typeface="Times New Roman" panose="02020603050405020304" pitchFamily="18" charset="0"/>
                <a:cs typeface="Times New Roman" panose="02020603050405020304" pitchFamily="18" charset="0"/>
              </a:rPr>
              <a:t>[99] kullanırız. </a:t>
            </a:r>
          </a:p>
          <a:p>
            <a:pPr algn="just">
              <a:lnSpc>
                <a:spcPct val="100000"/>
              </a:lnSpc>
            </a:pPr>
            <a:r>
              <a:rPr lang="tr-TR" sz="2200" dirty="0">
                <a:solidFill>
                  <a:schemeClr val="tx1"/>
                </a:solidFill>
                <a:latin typeface="Times New Roman" panose="02020603050405020304" pitchFamily="18" charset="0"/>
                <a:cs typeface="Times New Roman" panose="02020603050405020304" pitchFamily="18" charset="0"/>
              </a:rPr>
              <a:t>Tüm diziler bitişik bellek konumlarından oluşur. En düşük adres ilk öğeye, en yüksek adres ise son öğeye karşılık gelir.</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Bir dizi aşağıdaki gibi bildirilir: </a:t>
            </a:r>
          </a:p>
          <a:p>
            <a:pPr marL="475488" lvl="2" indent="0" algn="just">
              <a:lnSpc>
                <a:spcPct val="100000"/>
              </a:lnSpc>
              <a:buNone/>
            </a:pPr>
            <a:r>
              <a:rPr lang="tr-TR" sz="1600" b="1" dirty="0" err="1">
                <a:solidFill>
                  <a:schemeClr val="tx1"/>
                </a:solidFill>
                <a:latin typeface="Courier New" panose="02070309020205020404" pitchFamily="49" charset="0"/>
                <a:cs typeface="Courier New" panose="02070309020205020404" pitchFamily="49" charset="0"/>
              </a:rPr>
              <a:t>veri_tipi</a:t>
            </a:r>
            <a:r>
              <a:rPr lang="tr-TR" sz="1600" b="1" dirty="0">
                <a:solidFill>
                  <a:schemeClr val="tx1"/>
                </a:solidFill>
                <a:latin typeface="Courier New" panose="02070309020205020404" pitchFamily="49" charset="0"/>
                <a:cs typeface="Courier New" panose="02070309020205020404" pitchFamily="49" charset="0"/>
              </a:rPr>
              <a:t> [] </a:t>
            </a:r>
            <a:r>
              <a:rPr lang="tr-TR" sz="1600" b="1" dirty="0" err="1">
                <a:solidFill>
                  <a:schemeClr val="tx1"/>
                </a:solidFill>
                <a:latin typeface="Courier New" panose="02070309020205020404" pitchFamily="49" charset="0"/>
                <a:cs typeface="Courier New" panose="02070309020205020404" pitchFamily="49" charset="0"/>
              </a:rPr>
              <a:t>dizi_adı</a:t>
            </a:r>
            <a:r>
              <a:rPr lang="tr-TR" sz="1600" b="1" dirty="0">
                <a:solidFill>
                  <a:schemeClr val="tx1"/>
                </a:solidFill>
                <a:latin typeface="Courier New" panose="02070309020205020404" pitchFamily="49" charset="0"/>
                <a:cs typeface="Courier New" panose="02070309020205020404" pitchFamily="49" charset="0"/>
              </a:rPr>
              <a:t>;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Burada, </a:t>
            </a:r>
            <a:r>
              <a:rPr lang="tr-TR" sz="2200" dirty="0" err="1">
                <a:solidFill>
                  <a:schemeClr val="tx1"/>
                </a:solidFill>
                <a:latin typeface="Times New Roman" panose="02020603050405020304" pitchFamily="18" charset="0"/>
                <a:cs typeface="Times New Roman" panose="02020603050405020304" pitchFamily="18" charset="0"/>
              </a:rPr>
              <a:t>veri_tipi</a:t>
            </a:r>
            <a:r>
              <a:rPr lang="tr-TR" sz="2200" dirty="0">
                <a:solidFill>
                  <a:schemeClr val="tx1"/>
                </a:solidFill>
                <a:latin typeface="Times New Roman" panose="02020603050405020304" pitchFamily="18" charset="0"/>
                <a:cs typeface="Times New Roman" panose="02020603050405020304" pitchFamily="18" charset="0"/>
              </a:rPr>
              <a:t> dizideki öğelerin türünü; [] dizinin boyutunu ve </a:t>
            </a:r>
            <a:r>
              <a:rPr lang="tr-TR" sz="2200" dirty="0" err="1">
                <a:solidFill>
                  <a:schemeClr val="tx1"/>
                </a:solidFill>
                <a:latin typeface="Times New Roman" panose="02020603050405020304" pitchFamily="18" charset="0"/>
                <a:cs typeface="Times New Roman" panose="02020603050405020304" pitchFamily="18" charset="0"/>
              </a:rPr>
              <a:t>dizi_adı</a:t>
            </a:r>
            <a:r>
              <a:rPr lang="tr-TR" sz="2200" dirty="0">
                <a:solidFill>
                  <a:schemeClr val="tx1"/>
                </a:solidFill>
                <a:latin typeface="Times New Roman" panose="02020603050405020304" pitchFamily="18" charset="0"/>
                <a:cs typeface="Times New Roman" panose="02020603050405020304" pitchFamily="18" charset="0"/>
              </a:rPr>
              <a:t> ise diziye verilecek ismi belirtir.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Örneğin; </a:t>
            </a:r>
          </a:p>
          <a:p>
            <a:pPr marL="292608" lvl="1" indent="0" algn="just">
              <a:lnSpc>
                <a:spcPct val="100000"/>
              </a:lnSpc>
              <a:buNone/>
            </a:pP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 [] kütle; </a:t>
            </a:r>
          </a:p>
          <a:p>
            <a:pPr marL="292608" lvl="1" indent="0" algn="just">
              <a:lnSpc>
                <a:spcPct val="100000"/>
              </a:lnSpc>
              <a:buNone/>
            </a:pPr>
            <a:r>
              <a:rPr lang="tr-TR" sz="1600" b="1" dirty="0" err="1">
                <a:solidFill>
                  <a:schemeClr val="tx1"/>
                </a:solidFill>
                <a:latin typeface="Courier New" panose="02070309020205020404" pitchFamily="49" charset="0"/>
                <a:cs typeface="Courier New" panose="02070309020205020404" pitchFamily="49" charset="0"/>
              </a:rPr>
              <a:t>int</a:t>
            </a:r>
            <a:r>
              <a:rPr lang="tr-TR" sz="1600" b="1" dirty="0">
                <a:solidFill>
                  <a:schemeClr val="tx1"/>
                </a:solidFill>
                <a:latin typeface="Courier New" panose="02070309020205020404" pitchFamily="49" charset="0"/>
                <a:cs typeface="Courier New" panose="02070309020205020404" pitchFamily="49" charset="0"/>
              </a:rPr>
              <a:t> [] sayılar;</a:t>
            </a:r>
          </a:p>
          <a:p>
            <a:pPr marL="292608" lvl="1" indent="0" algn="just">
              <a:lnSpc>
                <a:spcPct val="100000"/>
              </a:lnSpc>
              <a:buNone/>
            </a:pPr>
            <a:r>
              <a:rPr lang="tr-TR" sz="1600" b="1" dirty="0" err="1">
                <a:solidFill>
                  <a:schemeClr val="tx1"/>
                </a:solidFill>
                <a:latin typeface="Courier New" panose="02070309020205020404" pitchFamily="49" charset="0"/>
                <a:cs typeface="Courier New" panose="02070309020205020404" pitchFamily="49" charset="0"/>
              </a:rPr>
              <a:t>char</a:t>
            </a:r>
            <a:r>
              <a:rPr lang="tr-TR" sz="1600" b="1" dirty="0">
                <a:solidFill>
                  <a:schemeClr val="tx1"/>
                </a:solidFill>
                <a:latin typeface="Courier New" panose="02070309020205020404" pitchFamily="49" charset="0"/>
                <a:cs typeface="Courier New" panose="02070309020205020404" pitchFamily="49" charset="0"/>
              </a:rPr>
              <a:t> [] isim; vb. </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000" dirty="0">
              <a:solidFill>
                <a:schemeClr val="tx1"/>
              </a:solidFill>
              <a:latin typeface="Times New Roman" panose="02020603050405020304" pitchFamily="18" charset="0"/>
              <a:cs typeface="Times New Roman" panose="02020603050405020304" pitchFamily="18" charset="0"/>
            </a:endParaRPr>
          </a:p>
        </p:txBody>
      </p:sp>
      <p:pic>
        <p:nvPicPr>
          <p:cNvPr id="6146" name="Picture 2" descr="Arrays in C#">
            <a:extLst>
              <a:ext uri="{FF2B5EF4-FFF2-40B4-BE49-F238E27FC236}">
                <a16:creationId xmlns:a16="http://schemas.microsoft.com/office/drawing/2014/main" id="{F5A6E406-61E8-4099-BC45-2003B7BCAA49}"/>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2648915" y="2338610"/>
            <a:ext cx="5988119"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043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t Başlık 2">
            <a:extLst>
              <a:ext uri="{FF2B5EF4-FFF2-40B4-BE49-F238E27FC236}">
                <a16:creationId xmlns:a16="http://schemas.microsoft.com/office/drawing/2014/main" id="{CB41DA49-5670-4ECE-A68E-25663738BFB8}"/>
              </a:ext>
            </a:extLst>
          </p:cNvPr>
          <p:cNvSpPr>
            <a:spLocks noGrp="1"/>
          </p:cNvSpPr>
          <p:nvPr>
            <p:ph type="subTitle" idx="4294967295"/>
          </p:nvPr>
        </p:nvSpPr>
        <p:spPr>
          <a:xfrm>
            <a:off x="108028" y="0"/>
            <a:ext cx="12083972" cy="625475"/>
          </a:xfrm>
        </p:spPr>
        <p:txBody>
          <a:bodyPr anchor="ctr">
            <a:normAutofit/>
          </a:bodyPr>
          <a:lstStyle/>
          <a:p>
            <a:pPr marL="0" indent="0">
              <a:buNone/>
            </a:pPr>
            <a:r>
              <a:rPr lang="tr-TR" sz="3000" b="1" dirty="0">
                <a:solidFill>
                  <a:schemeClr val="tx1"/>
                </a:solidFill>
                <a:latin typeface="Times New Roman" panose="02020603050405020304" pitchFamily="18" charset="0"/>
                <a:cs typeface="Times New Roman" panose="02020603050405020304" pitchFamily="18" charset="0"/>
              </a:rPr>
              <a:t>Dizilerin Başlatılması (</a:t>
            </a:r>
            <a:r>
              <a:rPr lang="tr-TR" sz="3000" b="1" dirty="0" err="1">
                <a:solidFill>
                  <a:schemeClr val="tx1"/>
                </a:solidFill>
                <a:latin typeface="Times New Roman" panose="02020603050405020304" pitchFamily="18" charset="0"/>
                <a:cs typeface="Times New Roman" panose="02020603050405020304" pitchFamily="18" charset="0"/>
              </a:rPr>
              <a:t>Initialize</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7" name="Alt Başlık 2">
            <a:extLst>
              <a:ext uri="{FF2B5EF4-FFF2-40B4-BE49-F238E27FC236}">
                <a16:creationId xmlns:a16="http://schemas.microsoft.com/office/drawing/2014/main" id="{BDA892BC-5A0A-4F2B-ADBF-5B051342995A}"/>
              </a:ext>
            </a:extLst>
          </p:cNvPr>
          <p:cNvSpPr txBox="1">
            <a:spLocks/>
          </p:cNvSpPr>
          <p:nvPr/>
        </p:nvSpPr>
        <p:spPr>
          <a:xfrm>
            <a:off x="108028" y="625475"/>
            <a:ext cx="11975942" cy="5798474"/>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Bir dizi bildirmek, diziyi bellekte başlatmaz. Dizi değişkeni başlatıldığında, diziye değerler atayabilirsiniz.</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Dizi bir referans türüdür, bu nedenle dizinin bir örneğini oluşturmak için </a:t>
            </a:r>
            <a:r>
              <a:rPr lang="tr-TR" sz="2200" b="1" dirty="0" err="1">
                <a:solidFill>
                  <a:srgbClr val="00B0F0"/>
                </a:solidFill>
                <a:latin typeface="Times New Roman" panose="02020603050405020304" pitchFamily="18" charset="0"/>
                <a:cs typeface="Times New Roman" panose="02020603050405020304" pitchFamily="18" charset="0"/>
              </a:rPr>
              <a:t>new</a:t>
            </a:r>
            <a:r>
              <a:rPr lang="tr-TR" sz="2200" dirty="0">
                <a:solidFill>
                  <a:schemeClr val="tx1"/>
                </a:solidFill>
                <a:latin typeface="Times New Roman" panose="02020603050405020304" pitchFamily="18" charset="0"/>
                <a:cs typeface="Times New Roman" panose="02020603050405020304" pitchFamily="18" charset="0"/>
              </a:rPr>
              <a:t> anahtar sözcüğünü kullanmanız gerekir. Örneğin,</a:t>
            </a:r>
          </a:p>
          <a:p>
            <a:pPr marL="292608" lvl="1" indent="0" algn="just">
              <a:lnSpc>
                <a:spcPct val="100000"/>
              </a:lnSpc>
              <a:buNone/>
            </a:pPr>
            <a:r>
              <a:rPr lang="tr-TR" sz="1600" b="1" dirty="0">
                <a:solidFill>
                  <a:schemeClr val="tx1"/>
                </a:solidFill>
                <a:latin typeface="Courier New" panose="02070309020205020404" pitchFamily="49" charset="0"/>
                <a:cs typeface="Courier New" panose="02070309020205020404" pitchFamily="49" charset="0"/>
              </a:rPr>
              <a:t>	</a:t>
            </a:r>
          </a:p>
          <a:p>
            <a:pPr marL="292608" lvl="1" indent="0" algn="just">
              <a:lnSpc>
                <a:spcPct val="100000"/>
              </a:lnSpc>
              <a:buNone/>
            </a:pPr>
            <a:r>
              <a:rPr lang="tr-TR" sz="1600" b="1" dirty="0">
                <a:solidFill>
                  <a:schemeClr val="tx1"/>
                </a:solidFill>
                <a:latin typeface="Courier New" panose="02070309020205020404" pitchFamily="49" charset="0"/>
                <a:cs typeface="Courier New" panose="02070309020205020404" pitchFamily="49" charset="0"/>
              </a:rPr>
              <a:t>	</a:t>
            </a: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 [] </a:t>
            </a:r>
            <a:r>
              <a:rPr lang="tr-TR" sz="1600" b="1" dirty="0" err="1">
                <a:solidFill>
                  <a:schemeClr val="tx1"/>
                </a:solidFill>
                <a:latin typeface="Courier New" panose="02070309020205020404" pitchFamily="49" charset="0"/>
                <a:cs typeface="Courier New" panose="02070309020205020404" pitchFamily="49" charset="0"/>
              </a:rPr>
              <a:t>kutle</a:t>
            </a:r>
            <a:r>
              <a:rPr lang="tr-TR" sz="1600" b="1" dirty="0">
                <a:solidFill>
                  <a:schemeClr val="tx1"/>
                </a:solidFill>
                <a:latin typeface="Courier New" panose="02070309020205020404" pitchFamily="49" charset="0"/>
                <a:cs typeface="Courier New" panose="02070309020205020404" pitchFamily="49" charset="0"/>
              </a:rPr>
              <a:t> = </a:t>
            </a:r>
            <a:r>
              <a:rPr lang="tr-TR" sz="1600" b="1" dirty="0" err="1">
                <a:solidFill>
                  <a:schemeClr val="tx1"/>
                </a:solidFill>
                <a:latin typeface="Courier New" panose="02070309020205020404" pitchFamily="49" charset="0"/>
                <a:cs typeface="Courier New" panose="02070309020205020404" pitchFamily="49" charset="0"/>
              </a:rPr>
              <a:t>new</a:t>
            </a:r>
            <a:r>
              <a:rPr lang="tr-TR" sz="1600" b="1" dirty="0">
                <a:solidFill>
                  <a:schemeClr val="tx1"/>
                </a:solidFill>
                <a:latin typeface="Courier New" panose="02070309020205020404" pitchFamily="49" charset="0"/>
                <a:cs typeface="Courier New" panose="02070309020205020404" pitchFamily="49" charset="0"/>
              </a:rPr>
              <a:t> </a:t>
            </a: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 [10];</a:t>
            </a: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0588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a:extLst>
              <a:ext uri="{FF2B5EF4-FFF2-40B4-BE49-F238E27FC236}">
                <a16:creationId xmlns:a16="http://schemas.microsoft.com/office/drawing/2014/main" id="{4DE85122-41A6-43DF-A9E4-E5B2F9B7FA4D}"/>
              </a:ext>
            </a:extLst>
          </p:cNvPr>
          <p:cNvSpPr txBox="1">
            <a:spLocks/>
          </p:cNvSpPr>
          <p:nvPr/>
        </p:nvSpPr>
        <p:spPr>
          <a:xfrm>
            <a:off x="108028" y="1933"/>
            <a:ext cx="12083972" cy="612032"/>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dirty="0">
                <a:solidFill>
                  <a:schemeClr val="tx1"/>
                </a:solidFill>
                <a:latin typeface="Times New Roman" panose="02020603050405020304" pitchFamily="18" charset="0"/>
                <a:cs typeface="Times New Roman" panose="02020603050405020304" pitchFamily="18" charset="0"/>
              </a:rPr>
              <a:t>Dizilere Değer Atama (</a:t>
            </a:r>
            <a:r>
              <a:rPr lang="tr-TR" sz="3000" b="1" dirty="0" err="1">
                <a:solidFill>
                  <a:schemeClr val="tx1"/>
                </a:solidFill>
                <a:latin typeface="Times New Roman" panose="02020603050405020304" pitchFamily="18" charset="0"/>
                <a:cs typeface="Times New Roman" panose="02020603050405020304" pitchFamily="18" charset="0"/>
              </a:rPr>
              <a:t>Assigning</a:t>
            </a:r>
            <a:r>
              <a:rPr lang="tr-TR" sz="3000" b="1" dirty="0">
                <a:solidFill>
                  <a:schemeClr val="tx1"/>
                </a:solidFill>
                <a:latin typeface="Times New Roman" panose="02020603050405020304" pitchFamily="18" charset="0"/>
                <a:cs typeface="Times New Roman" panose="02020603050405020304" pitchFamily="18" charset="0"/>
              </a:rPr>
              <a:t>) ve Dizi Elemanlarına Erişim</a:t>
            </a:r>
          </a:p>
        </p:txBody>
      </p:sp>
      <p:sp>
        <p:nvSpPr>
          <p:cNvPr id="6" name="Alt Başlık 2">
            <a:extLst>
              <a:ext uri="{FF2B5EF4-FFF2-40B4-BE49-F238E27FC236}">
                <a16:creationId xmlns:a16="http://schemas.microsoft.com/office/drawing/2014/main" id="{615FDF6B-391F-4184-B633-E113FEF09731}"/>
              </a:ext>
            </a:extLst>
          </p:cNvPr>
          <p:cNvSpPr txBox="1">
            <a:spLocks/>
          </p:cNvSpPr>
          <p:nvPr/>
        </p:nvSpPr>
        <p:spPr>
          <a:xfrm>
            <a:off x="108028" y="627408"/>
            <a:ext cx="11975942" cy="5831266"/>
          </a:xfrm>
          <a:prstGeom prst="rect">
            <a:avLst/>
          </a:prstGeom>
        </p:spPr>
        <p:txBody>
          <a:bodyPr vert="horz" lIns="0" tIns="45720" rIns="0" bIns="45720" rtlCol="0" anchor="t">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Dizilere indeks (sıra) numarası kullanarak değer atanabilir. </a:t>
            </a:r>
          </a:p>
          <a:p>
            <a:pPr marL="0" indent="0" algn="just">
              <a:lnSpc>
                <a:spcPct val="100000"/>
              </a:lnSpc>
              <a:buNone/>
            </a:pPr>
            <a:r>
              <a:rPr lang="tr-TR" sz="1600" b="1" dirty="0">
                <a:solidFill>
                  <a:schemeClr val="tx1"/>
                </a:solidFill>
                <a:latin typeface="Courier New" panose="02070309020205020404" pitchFamily="49" charset="0"/>
                <a:cs typeface="Courier New" panose="02070309020205020404" pitchFamily="49" charset="0"/>
              </a:rPr>
              <a:t>	</a:t>
            </a: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 [] kütle = </a:t>
            </a:r>
            <a:r>
              <a:rPr lang="tr-TR" sz="1600" b="1" dirty="0" err="1">
                <a:solidFill>
                  <a:schemeClr val="tx1"/>
                </a:solidFill>
                <a:latin typeface="Courier New" panose="02070309020205020404" pitchFamily="49" charset="0"/>
                <a:cs typeface="Courier New" panose="02070309020205020404" pitchFamily="49" charset="0"/>
              </a:rPr>
              <a:t>new</a:t>
            </a:r>
            <a:r>
              <a:rPr lang="tr-TR" sz="1600" b="1" dirty="0">
                <a:solidFill>
                  <a:schemeClr val="tx1"/>
                </a:solidFill>
                <a:latin typeface="Courier New" panose="02070309020205020404" pitchFamily="49" charset="0"/>
                <a:cs typeface="Courier New" panose="02070309020205020404" pitchFamily="49" charset="0"/>
              </a:rPr>
              <a:t> </a:t>
            </a: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[10];</a:t>
            </a:r>
          </a:p>
          <a:p>
            <a:pPr marL="0" indent="0" algn="just">
              <a:lnSpc>
                <a:spcPct val="100000"/>
              </a:lnSpc>
              <a:buNone/>
            </a:pPr>
            <a:r>
              <a:rPr lang="tr-TR" sz="1600" b="1" dirty="0">
                <a:solidFill>
                  <a:schemeClr val="tx1"/>
                </a:solidFill>
                <a:latin typeface="Courier New" panose="02070309020205020404" pitchFamily="49" charset="0"/>
                <a:cs typeface="Courier New" panose="02070309020205020404" pitchFamily="49" charset="0"/>
              </a:rPr>
              <a:t>	kütle[0] = 42.5;</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Bildirim sırasında da diziye değer atanabilir. → </a:t>
            </a: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 [] kütle = {42.5, 31.6, 21.9, 30.0};</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Farklı bir değer atama şekli olarak → </a:t>
            </a:r>
            <a:r>
              <a:rPr lang="en-US" sz="1600" b="1" dirty="0">
                <a:solidFill>
                  <a:schemeClr val="tx1"/>
                </a:solidFill>
                <a:latin typeface="Courier New" panose="02070309020205020404" pitchFamily="49" charset="0"/>
                <a:cs typeface="Courier New" panose="02070309020205020404" pitchFamily="49" charset="0"/>
              </a:rPr>
              <a:t>int [] </a:t>
            </a:r>
            <a:r>
              <a:rPr lang="tr-TR" sz="1600" b="1" dirty="0">
                <a:solidFill>
                  <a:schemeClr val="tx1"/>
                </a:solidFill>
                <a:latin typeface="Courier New" panose="02070309020205020404" pitchFamily="49" charset="0"/>
                <a:cs typeface="Courier New" panose="02070309020205020404" pitchFamily="49" charset="0"/>
              </a:rPr>
              <a:t>puan</a:t>
            </a:r>
            <a:r>
              <a:rPr lang="en-US" sz="1600" b="1" dirty="0">
                <a:solidFill>
                  <a:schemeClr val="tx1"/>
                </a:solidFill>
                <a:latin typeface="Courier New" panose="02070309020205020404" pitchFamily="49" charset="0"/>
                <a:cs typeface="Courier New" panose="02070309020205020404" pitchFamily="49" charset="0"/>
              </a:rPr>
              <a:t> = new int[5] {99, 98, 92, 97, 95};</a:t>
            </a:r>
            <a:endParaRPr lang="tr-TR" sz="1600" b="1" dirty="0">
              <a:solidFill>
                <a:schemeClr val="tx1"/>
              </a:solidFill>
              <a:latin typeface="Courier New" panose="02070309020205020404" pitchFamily="49" charset="0"/>
              <a:cs typeface="Courier New" panose="02070309020205020404" pitchFamily="49" charset="0"/>
            </a:endParaRP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Dizi boyutunu belirtmeden de değer ataması yapılabilir. </a:t>
            </a:r>
            <a:r>
              <a:rPr lang="tr-TR" sz="1600" dirty="0">
                <a:solidFill>
                  <a:schemeClr val="tx1"/>
                </a:solidFill>
                <a:latin typeface="Times New Roman" panose="02020603050405020304" pitchFamily="18" charset="0"/>
                <a:cs typeface="Times New Roman" panose="02020603050405020304" pitchFamily="18" charset="0"/>
              </a:rPr>
              <a:t> → </a:t>
            </a:r>
            <a:r>
              <a:rPr lang="en-US" sz="1600" b="1" dirty="0">
                <a:solidFill>
                  <a:schemeClr val="tx1"/>
                </a:solidFill>
                <a:latin typeface="Courier New" panose="02070309020205020404" pitchFamily="49" charset="0"/>
                <a:cs typeface="Courier New" panose="02070309020205020404" pitchFamily="49" charset="0"/>
              </a:rPr>
              <a:t>int [] </a:t>
            </a:r>
            <a:r>
              <a:rPr lang="en-US" sz="1600" b="1" dirty="0" err="1">
                <a:solidFill>
                  <a:schemeClr val="tx1"/>
                </a:solidFill>
                <a:latin typeface="Courier New" panose="02070309020205020404" pitchFamily="49" charset="0"/>
                <a:cs typeface="Courier New" panose="02070309020205020404" pitchFamily="49" charset="0"/>
              </a:rPr>
              <a:t>puan</a:t>
            </a:r>
            <a:r>
              <a:rPr lang="en-US" sz="1600" b="1" dirty="0">
                <a:solidFill>
                  <a:schemeClr val="tx1"/>
                </a:solidFill>
                <a:latin typeface="Courier New" panose="02070309020205020404" pitchFamily="49" charset="0"/>
                <a:cs typeface="Courier New" panose="02070309020205020404" pitchFamily="49" charset="0"/>
              </a:rPr>
              <a:t> = new int[] {99, 98, 92, 97, 95};</a:t>
            </a:r>
            <a:endParaRPr lang="tr-TR" sz="1600" b="1" dirty="0">
              <a:solidFill>
                <a:schemeClr val="tx1"/>
              </a:solidFill>
              <a:latin typeface="Courier New" panose="02070309020205020404" pitchFamily="49" charset="0"/>
              <a:cs typeface="Courier New" panose="02070309020205020404" pitchFamily="49" charset="0"/>
            </a:endParaRPr>
          </a:p>
          <a:p>
            <a:pPr marL="0" indent="0" algn="just">
              <a:lnSpc>
                <a:spcPct val="100000"/>
              </a:lnSpc>
              <a:buNone/>
            </a:pPr>
            <a:r>
              <a:rPr lang="en-US" sz="2200" dirty="0">
                <a:solidFill>
                  <a:schemeClr val="tx1"/>
                </a:solidFill>
                <a:latin typeface="Times New Roman" panose="02020603050405020304" pitchFamily="18" charset="0"/>
                <a:cs typeface="Times New Roman" panose="02020603050405020304" pitchFamily="18" charset="0"/>
              </a:rPr>
              <a:t>Bir dizi </a:t>
            </a:r>
            <a:r>
              <a:rPr lang="en-US" sz="2200" dirty="0" err="1">
                <a:solidFill>
                  <a:schemeClr val="tx1"/>
                </a:solidFill>
                <a:latin typeface="Times New Roman" panose="02020603050405020304" pitchFamily="18" charset="0"/>
                <a:cs typeface="Times New Roman" panose="02020603050405020304" pitchFamily="18" charset="0"/>
              </a:rPr>
              <a:t>değişkenini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başka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bir</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hedef</a:t>
            </a:r>
            <a:r>
              <a:rPr lang="en-US" sz="2200" dirty="0">
                <a:solidFill>
                  <a:schemeClr val="tx1"/>
                </a:solidFill>
                <a:latin typeface="Times New Roman" panose="02020603050405020304" pitchFamily="18" charset="0"/>
                <a:cs typeface="Times New Roman" panose="02020603050405020304" pitchFamily="18" charset="0"/>
              </a:rPr>
              <a:t> dizi </a:t>
            </a:r>
            <a:r>
              <a:rPr lang="en-US" sz="2200" dirty="0" err="1">
                <a:solidFill>
                  <a:schemeClr val="tx1"/>
                </a:solidFill>
                <a:latin typeface="Times New Roman" panose="02020603050405020304" pitchFamily="18" charset="0"/>
                <a:cs typeface="Times New Roman" panose="02020603050405020304" pitchFamily="18" charset="0"/>
              </a:rPr>
              <a:t>değişkenine</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kopyalayabilirsiniz</a:t>
            </a:r>
            <a:r>
              <a:rPr lang="en-US" sz="2200" dirty="0">
                <a:solidFill>
                  <a:schemeClr val="tx1"/>
                </a:solidFill>
                <a:latin typeface="Times New Roman" panose="02020603050405020304" pitchFamily="18" charset="0"/>
                <a:cs typeface="Times New Roman" panose="02020603050405020304" pitchFamily="18" charset="0"/>
              </a:rPr>
              <a:t>. Bu </a:t>
            </a:r>
            <a:r>
              <a:rPr lang="en-US" sz="2200" dirty="0" err="1">
                <a:solidFill>
                  <a:schemeClr val="tx1"/>
                </a:solidFill>
                <a:latin typeface="Times New Roman" panose="02020603050405020304" pitchFamily="18" charset="0"/>
                <a:cs typeface="Times New Roman" panose="02020603050405020304" pitchFamily="18" charset="0"/>
              </a:rPr>
              <a:t>durumda</a:t>
            </a:r>
            <a:r>
              <a:rPr lang="en-US" sz="2200" dirty="0">
                <a:solidFill>
                  <a:schemeClr val="tx1"/>
                </a:solidFill>
                <a:latin typeface="Times New Roman" panose="02020603050405020304" pitchFamily="18" charset="0"/>
                <a:cs typeface="Times New Roman" panose="02020603050405020304" pitchFamily="18" charset="0"/>
              </a:rPr>
              <a:t>, hem </a:t>
            </a:r>
            <a:r>
              <a:rPr lang="en-US" sz="2200" dirty="0" err="1">
                <a:solidFill>
                  <a:schemeClr val="tx1"/>
                </a:solidFill>
                <a:latin typeface="Times New Roman" panose="02020603050405020304" pitchFamily="18" charset="0"/>
                <a:cs typeface="Times New Roman" panose="02020603050405020304" pitchFamily="18" charset="0"/>
              </a:rPr>
              <a:t>hedef</a:t>
            </a:r>
            <a:r>
              <a:rPr lang="en-US" sz="2200" dirty="0">
                <a:solidFill>
                  <a:schemeClr val="tx1"/>
                </a:solidFill>
                <a:latin typeface="Times New Roman" panose="02020603050405020304" pitchFamily="18" charset="0"/>
                <a:cs typeface="Times New Roman" panose="02020603050405020304" pitchFamily="18" charset="0"/>
              </a:rPr>
              <a:t> hem de </a:t>
            </a:r>
            <a:r>
              <a:rPr lang="en-US" sz="2200" dirty="0" err="1">
                <a:solidFill>
                  <a:schemeClr val="tx1"/>
                </a:solidFill>
                <a:latin typeface="Times New Roman" panose="02020603050405020304" pitchFamily="18" charset="0"/>
                <a:cs typeface="Times New Roman" panose="02020603050405020304" pitchFamily="18" charset="0"/>
              </a:rPr>
              <a:t>kaynak</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aynı</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bellek</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konumun</a:t>
            </a:r>
            <a:r>
              <a:rPr lang="tr-TR" sz="2200" dirty="0">
                <a:solidFill>
                  <a:schemeClr val="tx1"/>
                </a:solidFill>
                <a:latin typeface="Times New Roman" panose="02020603050405020304" pitchFamily="18" charset="0"/>
                <a:cs typeface="Times New Roman" panose="02020603050405020304" pitchFamily="18" charset="0"/>
              </a:rPr>
              <a:t>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işaret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eder</a:t>
            </a:r>
            <a:r>
              <a:rPr lang="tr-TR" sz="2200" dirty="0">
                <a:solidFill>
                  <a:schemeClr val="tx1"/>
                </a:solidFill>
                <a:latin typeface="Times New Roman" panose="02020603050405020304" pitchFamily="18" charset="0"/>
                <a:cs typeface="Times New Roman" panose="02020603050405020304" pitchFamily="18" charset="0"/>
              </a:rPr>
              <a:t>. </a:t>
            </a:r>
          </a:p>
          <a:p>
            <a:pPr marL="0" indent="0" algn="just">
              <a:lnSpc>
                <a:spcPct val="100000"/>
              </a:lnSpc>
              <a:buNone/>
            </a:pPr>
            <a:r>
              <a:rPr lang="tr-TR" sz="1600" b="1" dirty="0">
                <a:solidFill>
                  <a:schemeClr val="tx1"/>
                </a:solidFill>
                <a:latin typeface="Courier New" panose="02070309020205020404" pitchFamily="49" charset="0"/>
                <a:cs typeface="Courier New" panose="02070309020205020404" pitchFamily="49" charset="0"/>
              </a:rPr>
              <a:t>	</a:t>
            </a:r>
            <a:r>
              <a:rPr lang="en-US" sz="1600" b="1" dirty="0">
                <a:solidFill>
                  <a:schemeClr val="tx1"/>
                </a:solidFill>
                <a:latin typeface="Courier New" panose="02070309020205020404" pitchFamily="49" charset="0"/>
                <a:cs typeface="Courier New" panose="02070309020205020404" pitchFamily="49" charset="0"/>
              </a:rPr>
              <a:t>int [] </a:t>
            </a:r>
            <a:r>
              <a:rPr lang="tr-TR" sz="1600" b="1" dirty="0">
                <a:solidFill>
                  <a:schemeClr val="tx1"/>
                </a:solidFill>
                <a:latin typeface="Courier New" panose="02070309020205020404" pitchFamily="49" charset="0"/>
                <a:cs typeface="Courier New" panose="02070309020205020404" pitchFamily="49" charset="0"/>
              </a:rPr>
              <a:t>puan</a:t>
            </a:r>
            <a:r>
              <a:rPr lang="en-US" sz="1600" b="1" dirty="0">
                <a:solidFill>
                  <a:schemeClr val="tx1"/>
                </a:solidFill>
                <a:latin typeface="Courier New" panose="02070309020205020404" pitchFamily="49" charset="0"/>
                <a:cs typeface="Courier New" panose="02070309020205020404" pitchFamily="49" charset="0"/>
              </a:rPr>
              <a:t> = new int[]  {99, 98, 92, 97, 95};</a:t>
            </a:r>
          </a:p>
          <a:p>
            <a:pPr marL="0" indent="0" algn="just">
              <a:lnSpc>
                <a:spcPct val="100000"/>
              </a:lnSpc>
              <a:buNone/>
            </a:pPr>
            <a:r>
              <a:rPr lang="tr-TR" sz="1600" b="1" dirty="0">
                <a:solidFill>
                  <a:schemeClr val="tx1"/>
                </a:solidFill>
                <a:latin typeface="Courier New" panose="02070309020205020404" pitchFamily="49" charset="0"/>
                <a:cs typeface="Courier New" panose="02070309020205020404" pitchFamily="49" charset="0"/>
              </a:rPr>
              <a:t>	</a:t>
            </a:r>
            <a:r>
              <a:rPr lang="en-US" sz="1600" b="1" dirty="0">
                <a:solidFill>
                  <a:schemeClr val="tx1"/>
                </a:solidFill>
                <a:latin typeface="Courier New" panose="02070309020205020404" pitchFamily="49" charset="0"/>
                <a:cs typeface="Courier New" panose="02070309020205020404" pitchFamily="49" charset="0"/>
              </a:rPr>
              <a:t>int[] </a:t>
            </a:r>
            <a:r>
              <a:rPr lang="tr-TR" sz="1600" b="1" dirty="0">
                <a:solidFill>
                  <a:schemeClr val="tx1"/>
                </a:solidFill>
                <a:latin typeface="Courier New" panose="02070309020205020404" pitchFamily="49" charset="0"/>
                <a:cs typeface="Courier New" panose="02070309020205020404" pitchFamily="49" charset="0"/>
              </a:rPr>
              <a:t>notlar</a:t>
            </a:r>
            <a:r>
              <a:rPr lang="en-US" sz="1600" b="1" dirty="0">
                <a:solidFill>
                  <a:schemeClr val="tx1"/>
                </a:solidFill>
                <a:latin typeface="Courier New" panose="02070309020205020404" pitchFamily="49" charset="0"/>
                <a:cs typeface="Courier New" panose="02070309020205020404" pitchFamily="49" charset="0"/>
              </a:rPr>
              <a:t> = </a:t>
            </a:r>
            <a:r>
              <a:rPr lang="tr-TR" sz="1600" b="1" dirty="0">
                <a:solidFill>
                  <a:schemeClr val="tx1"/>
                </a:solidFill>
                <a:latin typeface="Courier New" panose="02070309020205020404" pitchFamily="49" charset="0"/>
                <a:cs typeface="Courier New" panose="02070309020205020404" pitchFamily="49" charset="0"/>
              </a:rPr>
              <a:t>puan</a:t>
            </a:r>
            <a:r>
              <a:rPr lang="en-US" sz="1600" b="1" dirty="0">
                <a:solidFill>
                  <a:schemeClr val="tx1"/>
                </a:solidFill>
                <a:latin typeface="Courier New" panose="02070309020205020404" pitchFamily="49" charset="0"/>
                <a:cs typeface="Courier New" panose="02070309020205020404" pitchFamily="49" charset="0"/>
              </a:rPr>
              <a:t>;</a:t>
            </a:r>
            <a:endParaRPr lang="tr-TR" sz="1600" b="1" dirty="0">
              <a:solidFill>
                <a:schemeClr val="tx1"/>
              </a:solidFill>
              <a:latin typeface="Courier New" panose="02070309020205020404" pitchFamily="49" charset="0"/>
              <a:cs typeface="Courier New" panose="02070309020205020404" pitchFamily="49" charset="0"/>
            </a:endParaRP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Bir dizi oluşturduğunuzda, C# derleyicisi, dizi türüne bağlı olarak her dizi öğesini örtük olarak varsayılan bir değere başlatır. Örneğin, bir </a:t>
            </a:r>
            <a:r>
              <a:rPr lang="tr-TR" sz="2200" b="1" dirty="0" err="1">
                <a:solidFill>
                  <a:schemeClr val="tx1"/>
                </a:solidFill>
                <a:latin typeface="Times New Roman" panose="02020603050405020304" pitchFamily="18" charset="0"/>
                <a:cs typeface="Times New Roman" panose="02020603050405020304" pitchFamily="18" charset="0"/>
              </a:rPr>
              <a:t>int</a:t>
            </a:r>
            <a:r>
              <a:rPr lang="tr-TR" sz="2200" dirty="0">
                <a:solidFill>
                  <a:schemeClr val="tx1"/>
                </a:solidFill>
                <a:latin typeface="Times New Roman" panose="02020603050405020304" pitchFamily="18" charset="0"/>
                <a:cs typeface="Times New Roman" panose="02020603050405020304" pitchFamily="18" charset="0"/>
              </a:rPr>
              <a:t> dizisi için tüm öğeler 0 olarak başlatılır.</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Dizi adının indekslenmesiyle bir elemana erişilir.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Bu, dizinin adından sonra elemanın indeksini köşeli parantezler içine koyarak yapılır. </a:t>
            </a:r>
            <a:r>
              <a:rPr lang="tr-TR" sz="1600" dirty="0">
                <a:solidFill>
                  <a:schemeClr val="tx1"/>
                </a:solidFill>
                <a:latin typeface="Times New Roman" panose="02020603050405020304" pitchFamily="18" charset="0"/>
                <a:cs typeface="Times New Roman" panose="02020603050405020304" pitchFamily="18" charset="0"/>
              </a:rPr>
              <a:t>→ </a:t>
            </a:r>
            <a:r>
              <a:rPr lang="tr-TR" sz="1600" b="1" dirty="0" err="1">
                <a:solidFill>
                  <a:schemeClr val="tx1"/>
                </a:solidFill>
                <a:latin typeface="Courier New" panose="02070309020205020404" pitchFamily="49" charset="0"/>
                <a:cs typeface="Courier New" panose="02070309020205020404" pitchFamily="49" charset="0"/>
              </a:rPr>
              <a:t>double</a:t>
            </a:r>
            <a:r>
              <a:rPr lang="tr-TR" sz="1600" b="1" dirty="0">
                <a:solidFill>
                  <a:schemeClr val="tx1"/>
                </a:solidFill>
                <a:latin typeface="Courier New" panose="02070309020205020404" pitchFamily="49" charset="0"/>
                <a:cs typeface="Courier New" panose="02070309020205020404" pitchFamily="49" charset="0"/>
              </a:rPr>
              <a:t> d = sayılar[9];</a:t>
            </a:r>
            <a:endParaRPr lang="tr-TR" sz="16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2200"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16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214468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a:extLst>
              <a:ext uri="{FF2B5EF4-FFF2-40B4-BE49-F238E27FC236}">
                <a16:creationId xmlns:a16="http://schemas.microsoft.com/office/drawing/2014/main" id="{4DE85122-41A6-43DF-A9E4-E5B2F9B7FA4D}"/>
              </a:ext>
            </a:extLst>
          </p:cNvPr>
          <p:cNvSpPr txBox="1">
            <a:spLocks/>
          </p:cNvSpPr>
          <p:nvPr/>
        </p:nvSpPr>
        <p:spPr>
          <a:xfrm>
            <a:off x="108028" y="1933"/>
            <a:ext cx="12083972" cy="625475"/>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dirty="0">
                <a:solidFill>
                  <a:schemeClr val="tx1"/>
                </a:solidFill>
                <a:latin typeface="Times New Roman" panose="02020603050405020304" pitchFamily="18" charset="0"/>
                <a:cs typeface="Times New Roman" panose="02020603050405020304" pitchFamily="18" charset="0"/>
              </a:rPr>
              <a:t>Dizilerle İlgili Genel Bir Örnek</a:t>
            </a:r>
          </a:p>
        </p:txBody>
      </p:sp>
      <p:sp>
        <p:nvSpPr>
          <p:cNvPr id="6" name="Alt Başlık 2">
            <a:extLst>
              <a:ext uri="{FF2B5EF4-FFF2-40B4-BE49-F238E27FC236}">
                <a16:creationId xmlns:a16="http://schemas.microsoft.com/office/drawing/2014/main" id="{615FDF6B-391F-4184-B633-E113FEF09731}"/>
              </a:ext>
            </a:extLst>
          </p:cNvPr>
          <p:cNvSpPr txBox="1">
            <a:spLocks/>
          </p:cNvSpPr>
          <p:nvPr/>
        </p:nvSpPr>
        <p:spPr>
          <a:xfrm>
            <a:off x="108028" y="627410"/>
            <a:ext cx="11975942" cy="5854413"/>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endParaRPr lang="tr-TR" sz="2200" b="1" dirty="0">
              <a:solidFill>
                <a:schemeClr val="tx1"/>
              </a:solidFill>
              <a:latin typeface="Times New Roman" panose="02020603050405020304" pitchFamily="18" charset="0"/>
              <a:cs typeface="Times New Roman" panose="02020603050405020304" pitchFamily="18" charset="0"/>
            </a:endParaRPr>
          </a:p>
          <a:p>
            <a:pPr marL="0" indent="0" algn="just">
              <a:lnSpc>
                <a:spcPct val="100000"/>
              </a:lnSpc>
              <a:buNone/>
            </a:pPr>
            <a:endParaRPr lang="tr-TR" sz="1600" b="1" dirty="0">
              <a:solidFill>
                <a:schemeClr val="tx1"/>
              </a:solidFill>
              <a:latin typeface="Courier New" panose="02070309020205020404" pitchFamily="49" charset="0"/>
              <a:cs typeface="Courier New" panose="02070309020205020404" pitchFamily="49" charset="0"/>
            </a:endParaRPr>
          </a:p>
        </p:txBody>
      </p:sp>
      <p:pic>
        <p:nvPicPr>
          <p:cNvPr id="3" name="Resim 2">
            <a:extLst>
              <a:ext uri="{FF2B5EF4-FFF2-40B4-BE49-F238E27FC236}">
                <a16:creationId xmlns:a16="http://schemas.microsoft.com/office/drawing/2014/main" id="{FD46E4B4-5D77-40B7-AFA4-A56E22633370}"/>
              </a:ext>
            </a:extLst>
          </p:cNvPr>
          <p:cNvPicPr>
            <a:picLocks noChangeAspect="1"/>
          </p:cNvPicPr>
          <p:nvPr/>
        </p:nvPicPr>
        <p:blipFill>
          <a:blip r:embed="rId3"/>
          <a:stretch>
            <a:fillRect/>
          </a:stretch>
        </p:blipFill>
        <p:spPr>
          <a:xfrm>
            <a:off x="2140027" y="627409"/>
            <a:ext cx="7221605" cy="5603182"/>
          </a:xfrm>
          <a:prstGeom prst="rect">
            <a:avLst/>
          </a:prstGeom>
        </p:spPr>
      </p:pic>
      <p:sp>
        <p:nvSpPr>
          <p:cNvPr id="4" name="Rectangle 1">
            <a:extLst>
              <a:ext uri="{FF2B5EF4-FFF2-40B4-BE49-F238E27FC236}">
                <a16:creationId xmlns:a16="http://schemas.microsoft.com/office/drawing/2014/main" id="{745FE66E-905F-4C85-A267-75B8580C5AAA}"/>
              </a:ext>
            </a:extLst>
          </p:cNvPr>
          <p:cNvSpPr>
            <a:spLocks noChangeArrowheads="1"/>
          </p:cNvSpPr>
          <p:nvPr/>
        </p:nvSpPr>
        <p:spPr bwMode="auto">
          <a:xfrm>
            <a:off x="7421949" y="2752673"/>
            <a:ext cx="1809135" cy="209288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300" b="0" i="0" u="none" strike="noStrike" cap="none" normalizeH="0" baseline="0" dirty="0">
                <a:ln>
                  <a:noFill/>
                </a:ln>
                <a:solidFill>
                  <a:schemeClr val="tx1"/>
                </a:solidFill>
                <a:effectLst/>
                <a:latin typeface="Courier New" panose="02070309020205020404" pitchFamily="49" charset="0"/>
              </a:rPr>
              <a:t>Element[0] = 100 Element[1] = 101 Element[2] = 102 Element[3] = 103 Element[4] = 104 Element[5] = 105 Element[6] = 106 Element[7] = 107 Element[8] = 108 Element[9] = 109</a:t>
            </a:r>
            <a:r>
              <a:rPr kumimoji="0" lang="tr-TR" altLang="tr-TR" sz="1300" b="0" i="0" u="none" strike="noStrike" cap="none" normalizeH="0" baseline="0" dirty="0">
                <a:ln>
                  <a:noFill/>
                </a:ln>
                <a:solidFill>
                  <a:schemeClr val="tx1"/>
                </a:solidFill>
                <a:effectLst/>
              </a:rPr>
              <a:t> </a:t>
            </a:r>
            <a:endParaRPr kumimoji="0" lang="tr-TR" altLang="tr-TR" sz="1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7989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a:extLst>
              <a:ext uri="{FF2B5EF4-FFF2-40B4-BE49-F238E27FC236}">
                <a16:creationId xmlns:a16="http://schemas.microsoft.com/office/drawing/2014/main" id="{4DE85122-41A6-43DF-A9E4-E5B2F9B7FA4D}"/>
              </a:ext>
            </a:extLst>
          </p:cNvPr>
          <p:cNvSpPr txBox="1">
            <a:spLocks/>
          </p:cNvSpPr>
          <p:nvPr/>
        </p:nvSpPr>
        <p:spPr>
          <a:xfrm>
            <a:off x="108028" y="1933"/>
            <a:ext cx="12083972" cy="612032"/>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dirty="0">
                <a:solidFill>
                  <a:schemeClr val="tx1"/>
                </a:solidFill>
                <a:latin typeface="Times New Roman" panose="02020603050405020304" pitchFamily="18" charset="0"/>
                <a:cs typeface="Times New Roman" panose="02020603050405020304" pitchFamily="18" charset="0"/>
              </a:rPr>
              <a:t>Dizgiler (</a:t>
            </a:r>
            <a:r>
              <a:rPr lang="tr-TR" sz="3000" b="1" dirty="0" err="1">
                <a:solidFill>
                  <a:schemeClr val="tx1"/>
                </a:solidFill>
                <a:latin typeface="Times New Roman" panose="02020603050405020304" pitchFamily="18" charset="0"/>
                <a:cs typeface="Times New Roman" panose="02020603050405020304" pitchFamily="18" charset="0"/>
              </a:rPr>
              <a:t>Strings</a:t>
            </a:r>
            <a:r>
              <a:rPr lang="tr-TR" sz="3000" b="1" dirty="0">
                <a:solidFill>
                  <a:schemeClr val="tx1"/>
                </a:solidFill>
                <a:latin typeface="Times New Roman" panose="02020603050405020304" pitchFamily="18" charset="0"/>
                <a:cs typeface="Times New Roman" panose="02020603050405020304" pitchFamily="18" charset="0"/>
              </a:rPr>
              <a:t>)</a:t>
            </a:r>
          </a:p>
        </p:txBody>
      </p:sp>
      <p:sp>
        <p:nvSpPr>
          <p:cNvPr id="6" name="Alt Başlık 2">
            <a:extLst>
              <a:ext uri="{FF2B5EF4-FFF2-40B4-BE49-F238E27FC236}">
                <a16:creationId xmlns:a16="http://schemas.microsoft.com/office/drawing/2014/main" id="{615FDF6B-391F-4184-B633-E113FEF09731}"/>
              </a:ext>
            </a:extLst>
          </p:cNvPr>
          <p:cNvSpPr txBox="1">
            <a:spLocks/>
          </p:cNvSpPr>
          <p:nvPr/>
        </p:nvSpPr>
        <p:spPr>
          <a:xfrm>
            <a:off x="108028" y="627408"/>
            <a:ext cx="11975942" cy="5831266"/>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dirty="0" err="1">
                <a:solidFill>
                  <a:schemeClr val="tx1"/>
                </a:solidFill>
                <a:latin typeface="Times New Roman" panose="02020603050405020304" pitchFamily="18" charset="0"/>
                <a:cs typeface="Times New Roman" panose="02020603050405020304" pitchFamily="18" charset="0"/>
              </a:rPr>
              <a:t>C#'ta</a:t>
            </a:r>
            <a:r>
              <a:rPr lang="tr-TR" sz="2200" dirty="0">
                <a:solidFill>
                  <a:schemeClr val="tx1"/>
                </a:solidFill>
                <a:latin typeface="Times New Roman" panose="02020603050405020304" pitchFamily="18" charset="0"/>
                <a:cs typeface="Times New Roman" panose="02020603050405020304" pitchFamily="18" charset="0"/>
              </a:rPr>
              <a:t>, karakter dizisi olarak dizgileri kullanabiliriz. </a:t>
            </a:r>
          </a:p>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Ancak daha yaygın bir uygulama, bir dizgi değişkeni bildirmek için </a:t>
            </a:r>
            <a:r>
              <a:rPr lang="tr-TR" sz="2200" b="1" i="1"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anahtar sözcüğünü kullanmaktır. </a:t>
            </a:r>
          </a:p>
          <a:p>
            <a:pPr marL="0" indent="0" algn="just">
              <a:lnSpc>
                <a:spcPct val="100000"/>
              </a:lnSpc>
              <a:buNone/>
            </a:pPr>
            <a:r>
              <a:rPr lang="tr-TR" sz="2200" b="1" i="1"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anahtar sözcüğü, </a:t>
            </a:r>
            <a:r>
              <a:rPr lang="tr-TR" sz="2200" b="1" i="1" dirty="0" err="1">
                <a:solidFill>
                  <a:schemeClr val="tx1"/>
                </a:solidFill>
                <a:latin typeface="Times New Roman" panose="02020603050405020304" pitchFamily="18" charset="0"/>
                <a:cs typeface="Times New Roman" panose="02020603050405020304" pitchFamily="18" charset="0"/>
              </a:rPr>
              <a:t>System.String</a:t>
            </a:r>
            <a:r>
              <a:rPr lang="tr-TR" sz="2200" dirty="0">
                <a:solidFill>
                  <a:schemeClr val="tx1"/>
                </a:solidFill>
                <a:latin typeface="Times New Roman" panose="02020603050405020304" pitchFamily="18" charset="0"/>
                <a:cs typeface="Times New Roman" panose="02020603050405020304" pitchFamily="18" charset="0"/>
              </a:rPr>
              <a:t> sınıfı için bir diğer addır.</a:t>
            </a:r>
            <a:endParaRPr lang="tr-TR" sz="1600" b="1" dirty="0">
              <a:solidFill>
                <a:schemeClr val="tx1"/>
              </a:solidFill>
              <a:latin typeface="Courier New" panose="02070309020205020404" pitchFamily="49" charset="0"/>
              <a:cs typeface="Courier New" panose="02070309020205020404" pitchFamily="49" charset="0"/>
            </a:endParaRPr>
          </a:p>
        </p:txBody>
      </p:sp>
      <p:sp>
        <p:nvSpPr>
          <p:cNvPr id="4" name="Alt Başlık 2">
            <a:extLst>
              <a:ext uri="{FF2B5EF4-FFF2-40B4-BE49-F238E27FC236}">
                <a16:creationId xmlns:a16="http://schemas.microsoft.com/office/drawing/2014/main" id="{FA67F880-A2B2-431F-A487-6B13F8816E23}"/>
              </a:ext>
            </a:extLst>
          </p:cNvPr>
          <p:cNvSpPr txBox="1">
            <a:spLocks/>
          </p:cNvSpPr>
          <p:nvPr/>
        </p:nvSpPr>
        <p:spPr>
          <a:xfrm>
            <a:off x="108028" y="2484578"/>
            <a:ext cx="12083972" cy="612032"/>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dirty="0" err="1">
                <a:solidFill>
                  <a:schemeClr val="tx1"/>
                </a:solidFill>
                <a:latin typeface="Times New Roman" panose="02020603050405020304" pitchFamily="18" charset="0"/>
                <a:cs typeface="Times New Roman" panose="02020603050405020304" pitchFamily="18" charset="0"/>
              </a:rPr>
              <a:t>String</a:t>
            </a:r>
            <a:r>
              <a:rPr lang="tr-TR" sz="3000" b="1" dirty="0">
                <a:solidFill>
                  <a:schemeClr val="tx1"/>
                </a:solidFill>
                <a:latin typeface="Times New Roman" panose="02020603050405020304" pitchFamily="18" charset="0"/>
                <a:cs typeface="Times New Roman" panose="02020603050405020304" pitchFamily="18" charset="0"/>
              </a:rPr>
              <a:t> Nesnesi Oluşturma</a:t>
            </a:r>
          </a:p>
        </p:txBody>
      </p:sp>
      <p:sp>
        <p:nvSpPr>
          <p:cNvPr id="7" name="Alt Başlık 2">
            <a:extLst>
              <a:ext uri="{FF2B5EF4-FFF2-40B4-BE49-F238E27FC236}">
                <a16:creationId xmlns:a16="http://schemas.microsoft.com/office/drawing/2014/main" id="{75714E90-2AC9-4957-B2CF-CB86F8E75166}"/>
              </a:ext>
            </a:extLst>
          </p:cNvPr>
          <p:cNvSpPr txBox="1">
            <a:spLocks/>
          </p:cNvSpPr>
          <p:nvPr/>
        </p:nvSpPr>
        <p:spPr>
          <a:xfrm>
            <a:off x="108028" y="3096610"/>
            <a:ext cx="11975942" cy="3759457"/>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dirty="0">
                <a:solidFill>
                  <a:schemeClr val="tx1"/>
                </a:solidFill>
                <a:latin typeface="Times New Roman" panose="02020603050405020304" pitchFamily="18" charset="0"/>
                <a:cs typeface="Times New Roman" panose="02020603050405020304" pitchFamily="18" charset="0"/>
              </a:rPr>
              <a:t>Aşağıdaki yöntemlerden birini kullanarak dize nesnesi oluşturabilirsiniz -</a:t>
            </a:r>
          </a:p>
          <a:p>
            <a:pPr lvl="1" algn="just">
              <a:lnSpc>
                <a:spcPct val="100000"/>
              </a:lnSpc>
              <a:buFont typeface="Wingdings" panose="05000000000000000000" pitchFamily="2" charset="2"/>
              <a:buChar char="ü"/>
            </a:pPr>
            <a:r>
              <a:rPr lang="tr-TR" sz="2200" dirty="0">
                <a:solidFill>
                  <a:schemeClr val="tx1"/>
                </a:solidFill>
                <a:latin typeface="Times New Roman" panose="02020603050405020304" pitchFamily="18" charset="0"/>
                <a:cs typeface="Times New Roman" panose="02020603050405020304" pitchFamily="18" charset="0"/>
              </a:rPr>
              <a:t>Bir </a:t>
            </a:r>
            <a:r>
              <a:rPr lang="tr-TR" sz="2200"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değişkenine bir </a:t>
            </a:r>
            <a:r>
              <a:rPr lang="tr-TR" sz="2200"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değişmez değeri atayarak,</a:t>
            </a:r>
          </a:p>
          <a:p>
            <a:pPr lvl="1" algn="just">
              <a:lnSpc>
                <a:spcPct val="100000"/>
              </a:lnSpc>
              <a:buFont typeface="Wingdings" panose="05000000000000000000" pitchFamily="2" charset="2"/>
              <a:buChar char="ü"/>
            </a:pPr>
            <a:r>
              <a:rPr lang="tr-TR" sz="2200" dirty="0">
                <a:solidFill>
                  <a:schemeClr val="tx1"/>
                </a:solidFill>
                <a:latin typeface="Times New Roman" panose="02020603050405020304" pitchFamily="18" charset="0"/>
                <a:cs typeface="Times New Roman" panose="02020603050405020304" pitchFamily="18" charset="0"/>
              </a:rPr>
              <a:t>Bir </a:t>
            </a:r>
            <a:r>
              <a:rPr lang="tr-TR" sz="2200"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sınıfı yapıcısı kullanarak,</a:t>
            </a:r>
          </a:p>
          <a:p>
            <a:pPr lvl="1" algn="just">
              <a:lnSpc>
                <a:spcPct val="100000"/>
              </a:lnSpc>
              <a:buFont typeface="Wingdings" panose="05000000000000000000" pitchFamily="2" charset="2"/>
              <a:buChar char="ü"/>
            </a:pPr>
            <a:r>
              <a:rPr lang="tr-TR" sz="2200" dirty="0">
                <a:solidFill>
                  <a:schemeClr val="tx1"/>
                </a:solidFill>
                <a:latin typeface="Times New Roman" panose="02020603050405020304" pitchFamily="18" charset="0"/>
                <a:cs typeface="Times New Roman" panose="02020603050405020304" pitchFamily="18" charset="0"/>
              </a:rPr>
              <a:t>Dizgi birleştirme operatörünü (+) kullanarak,</a:t>
            </a:r>
          </a:p>
          <a:p>
            <a:pPr lvl="1" algn="just">
              <a:lnSpc>
                <a:spcPct val="100000"/>
              </a:lnSpc>
              <a:buFont typeface="Wingdings" panose="05000000000000000000" pitchFamily="2" charset="2"/>
              <a:buChar char="ü"/>
            </a:pPr>
            <a:r>
              <a:rPr lang="tr-TR" sz="2200" dirty="0">
                <a:solidFill>
                  <a:schemeClr val="tx1"/>
                </a:solidFill>
                <a:latin typeface="Times New Roman" panose="02020603050405020304" pitchFamily="18" charset="0"/>
                <a:cs typeface="Times New Roman" panose="02020603050405020304" pitchFamily="18" charset="0"/>
              </a:rPr>
              <a:t>Bir özelliği alarak veya bir dize döndüren bir yöntemi çağırarak</a:t>
            </a:r>
          </a:p>
          <a:p>
            <a:pPr lvl="1" algn="just">
              <a:lnSpc>
                <a:spcPct val="100000"/>
              </a:lnSpc>
              <a:buFont typeface="Wingdings" panose="05000000000000000000" pitchFamily="2" charset="2"/>
              <a:buChar char="ü"/>
            </a:pPr>
            <a:r>
              <a:rPr lang="tr-TR" sz="2200" dirty="0">
                <a:solidFill>
                  <a:schemeClr val="tx1"/>
                </a:solidFill>
                <a:latin typeface="Times New Roman" panose="02020603050405020304" pitchFamily="18" charset="0"/>
                <a:cs typeface="Times New Roman" panose="02020603050405020304" pitchFamily="18" charset="0"/>
              </a:rPr>
              <a:t>Bir değeri veya nesneyi dize temsiline dönüştürmek için bir biçimlendirme yöntemini çağırarak.</a:t>
            </a:r>
          </a:p>
        </p:txBody>
      </p:sp>
    </p:spTree>
    <p:extLst>
      <p:ext uri="{BB962C8B-B14F-4D97-AF65-F5344CB8AC3E}">
        <p14:creationId xmlns:p14="http://schemas.microsoft.com/office/powerpoint/2010/main" val="3692640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a:extLst>
              <a:ext uri="{FF2B5EF4-FFF2-40B4-BE49-F238E27FC236}">
                <a16:creationId xmlns:a16="http://schemas.microsoft.com/office/drawing/2014/main" id="{4DE85122-41A6-43DF-A9E4-E5B2F9B7FA4D}"/>
              </a:ext>
            </a:extLst>
          </p:cNvPr>
          <p:cNvSpPr txBox="1">
            <a:spLocks/>
          </p:cNvSpPr>
          <p:nvPr/>
        </p:nvSpPr>
        <p:spPr>
          <a:xfrm>
            <a:off x="108028" y="1933"/>
            <a:ext cx="12083972" cy="612032"/>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dirty="0" err="1">
                <a:solidFill>
                  <a:schemeClr val="tx1"/>
                </a:solidFill>
                <a:latin typeface="Times New Roman" panose="02020603050405020304" pitchFamily="18" charset="0"/>
                <a:cs typeface="Times New Roman" panose="02020603050405020304" pitchFamily="18" charset="0"/>
              </a:rPr>
              <a:t>String</a:t>
            </a:r>
            <a:r>
              <a:rPr lang="tr-TR" sz="3000" b="1" dirty="0">
                <a:solidFill>
                  <a:schemeClr val="tx1"/>
                </a:solidFill>
                <a:latin typeface="Times New Roman" panose="02020603050405020304" pitchFamily="18" charset="0"/>
                <a:cs typeface="Times New Roman" panose="02020603050405020304" pitchFamily="18" charset="0"/>
              </a:rPr>
              <a:t> İçin Genel Bir Örnek</a:t>
            </a:r>
          </a:p>
        </p:txBody>
      </p:sp>
      <p:pic>
        <p:nvPicPr>
          <p:cNvPr id="3" name="Resim 2">
            <a:extLst>
              <a:ext uri="{FF2B5EF4-FFF2-40B4-BE49-F238E27FC236}">
                <a16:creationId xmlns:a16="http://schemas.microsoft.com/office/drawing/2014/main" id="{5E9B6414-6B5D-4566-B2C4-CDFBECCE6A09}"/>
              </a:ext>
            </a:extLst>
          </p:cNvPr>
          <p:cNvPicPr>
            <a:picLocks noChangeAspect="1"/>
          </p:cNvPicPr>
          <p:nvPr/>
        </p:nvPicPr>
        <p:blipFill>
          <a:blip r:embed="rId3"/>
          <a:stretch>
            <a:fillRect/>
          </a:stretch>
        </p:blipFill>
        <p:spPr>
          <a:xfrm>
            <a:off x="108027" y="613964"/>
            <a:ext cx="6127321" cy="5705555"/>
          </a:xfrm>
          <a:prstGeom prst="rect">
            <a:avLst/>
          </a:prstGeom>
        </p:spPr>
      </p:pic>
      <p:sp>
        <p:nvSpPr>
          <p:cNvPr id="9" name="Metin kutusu 8">
            <a:extLst>
              <a:ext uri="{FF2B5EF4-FFF2-40B4-BE49-F238E27FC236}">
                <a16:creationId xmlns:a16="http://schemas.microsoft.com/office/drawing/2014/main" id="{676F5C0E-49EA-44EA-B301-2C7EFCA20DE5}"/>
              </a:ext>
            </a:extLst>
          </p:cNvPr>
          <p:cNvSpPr txBox="1"/>
          <p:nvPr/>
        </p:nvSpPr>
        <p:spPr>
          <a:xfrm>
            <a:off x="4888514" y="613963"/>
            <a:ext cx="7195458" cy="1077218"/>
          </a:xfrm>
          <a:prstGeom prst="rect">
            <a:avLst/>
          </a:prstGeom>
          <a:solidFill>
            <a:schemeClr val="tx1">
              <a:lumMod val="25000"/>
              <a:lumOff val="75000"/>
            </a:schemeClr>
          </a:solidFill>
        </p:spPr>
        <p:txBody>
          <a:bodyPr wrap="square">
            <a:spAutoFit/>
          </a:bodyPr>
          <a:lstStyle/>
          <a:p>
            <a:r>
              <a:rPr lang="tr-TR" sz="1600" dirty="0">
                <a:latin typeface="Courier New" panose="02070309020205020404" pitchFamily="49" charset="0"/>
                <a:cs typeface="Courier New" panose="02070309020205020404" pitchFamily="49" charset="0"/>
              </a:rPr>
              <a:t>Full Name: </a:t>
            </a:r>
            <a:r>
              <a:rPr lang="tr-TR" sz="1600" dirty="0" err="1">
                <a:latin typeface="Courier New" panose="02070309020205020404" pitchFamily="49" charset="0"/>
                <a:cs typeface="Courier New" panose="02070309020205020404" pitchFamily="49" charset="0"/>
              </a:rPr>
              <a:t>BillGates</a:t>
            </a:r>
            <a:endParaRPr lang="tr-TR" sz="1600" dirty="0">
              <a:latin typeface="Courier New" panose="02070309020205020404" pitchFamily="49" charset="0"/>
              <a:cs typeface="Courier New" panose="02070309020205020404" pitchFamily="49" charset="0"/>
            </a:endParaRPr>
          </a:p>
          <a:p>
            <a:r>
              <a:rPr lang="tr-TR" sz="1600" dirty="0">
                <a:latin typeface="Courier New" panose="02070309020205020404" pitchFamily="49" charset="0"/>
                <a:cs typeface="Courier New" panose="02070309020205020404" pitchFamily="49" charset="0"/>
              </a:rPr>
              <a:t>Greetings: </a:t>
            </a:r>
            <a:r>
              <a:rPr lang="tr-TR" sz="1600" dirty="0" err="1">
                <a:latin typeface="Courier New" panose="02070309020205020404" pitchFamily="49" charset="0"/>
                <a:cs typeface="Courier New" panose="02070309020205020404" pitchFamily="49" charset="0"/>
              </a:rPr>
              <a:t>Hello</a:t>
            </a:r>
            <a:endParaRPr lang="tr-TR" sz="1600" dirty="0">
              <a:latin typeface="Courier New" panose="02070309020205020404" pitchFamily="49" charset="0"/>
              <a:cs typeface="Courier New" panose="02070309020205020404" pitchFamily="49" charset="0"/>
            </a:endParaRPr>
          </a:p>
          <a:p>
            <a:r>
              <a:rPr lang="tr-TR" sz="1600" dirty="0">
                <a:latin typeface="Courier New" panose="02070309020205020404" pitchFamily="49" charset="0"/>
                <a:cs typeface="Courier New" panose="02070309020205020404" pitchFamily="49" charset="0"/>
              </a:rPr>
              <a:t>Message: </a:t>
            </a:r>
            <a:r>
              <a:rPr lang="tr-TR" sz="1600" dirty="0" err="1">
                <a:latin typeface="Courier New" panose="02070309020205020404" pitchFamily="49" charset="0"/>
                <a:cs typeface="Courier New" panose="02070309020205020404" pitchFamily="49" charset="0"/>
              </a:rPr>
              <a:t>Hello</a:t>
            </a:r>
            <a:r>
              <a:rPr lang="tr-TR" sz="1600" dirty="0">
                <a:latin typeface="Courier New" panose="02070309020205020404" pitchFamily="49" charset="0"/>
                <a:cs typeface="Courier New" panose="02070309020205020404" pitchFamily="49" charset="0"/>
              </a:rPr>
              <a:t> </a:t>
            </a:r>
            <a:r>
              <a:rPr lang="tr-TR" sz="1600" dirty="0" err="1">
                <a:latin typeface="Courier New" panose="02070309020205020404" pitchFamily="49" charset="0"/>
                <a:cs typeface="Courier New" panose="02070309020205020404" pitchFamily="49" charset="0"/>
              </a:rPr>
              <a:t>From</a:t>
            </a:r>
            <a:r>
              <a:rPr lang="tr-TR" sz="1600" dirty="0">
                <a:latin typeface="Courier New" panose="02070309020205020404" pitchFamily="49" charset="0"/>
                <a:cs typeface="Courier New" panose="02070309020205020404" pitchFamily="49" charset="0"/>
              </a:rPr>
              <a:t> C# Programming</a:t>
            </a:r>
          </a:p>
          <a:p>
            <a:r>
              <a:rPr lang="tr-TR" sz="1600" dirty="0">
                <a:latin typeface="Courier New" panose="02070309020205020404" pitchFamily="49" charset="0"/>
                <a:cs typeface="Courier New" panose="02070309020205020404" pitchFamily="49" charset="0"/>
              </a:rPr>
              <a:t>Message: Message sent at 11:30 on 14 Ekim 2021 Perşembe</a:t>
            </a:r>
          </a:p>
        </p:txBody>
      </p:sp>
      <p:sp>
        <p:nvSpPr>
          <p:cNvPr id="11" name="Metin kutusu 10">
            <a:extLst>
              <a:ext uri="{FF2B5EF4-FFF2-40B4-BE49-F238E27FC236}">
                <a16:creationId xmlns:a16="http://schemas.microsoft.com/office/drawing/2014/main" id="{5427A3D1-0D89-4117-8860-43E50EACE06C}"/>
              </a:ext>
            </a:extLst>
          </p:cNvPr>
          <p:cNvSpPr txBox="1"/>
          <p:nvPr/>
        </p:nvSpPr>
        <p:spPr>
          <a:xfrm>
            <a:off x="7068457" y="1933879"/>
            <a:ext cx="5015515" cy="1754326"/>
          </a:xfrm>
          <a:prstGeom prst="rect">
            <a:avLst/>
          </a:prstGeom>
          <a:noFill/>
        </p:spPr>
        <p:txBody>
          <a:bodyPr wrap="square">
            <a:spAutoFit/>
          </a:bodyPr>
          <a:lstStyle/>
          <a:p>
            <a:pPr algn="just"/>
            <a:r>
              <a:rPr lang="tr-TR" b="1" dirty="0" err="1">
                <a:latin typeface="Times New Roman" panose="02020603050405020304" pitchFamily="18" charset="0"/>
                <a:cs typeface="Times New Roman" panose="02020603050405020304" pitchFamily="18" charset="0"/>
              </a:rPr>
              <a:t>String.Join</a:t>
            </a:r>
            <a:r>
              <a:rPr lang="tr-TR" b="1" dirty="0">
                <a:latin typeface="Times New Roman" panose="02020603050405020304" pitchFamily="18" charset="0"/>
                <a:cs typeface="Times New Roman" panose="02020603050405020304" pitchFamily="18" charset="0"/>
              </a:rPr>
              <a:t>() </a:t>
            </a:r>
            <a:r>
              <a:rPr lang="tr-TR" dirty="0">
                <a:latin typeface="Times New Roman" panose="02020603050405020304" pitchFamily="18" charset="0"/>
                <a:cs typeface="Times New Roman" panose="02020603050405020304" pitchFamily="18" charset="0"/>
              </a:rPr>
              <a:t>metodu ile </a:t>
            </a:r>
            <a:r>
              <a:rPr lang="tr-TR" b="0" i="0" dirty="0">
                <a:solidFill>
                  <a:srgbClr val="333333"/>
                </a:solidFill>
                <a:effectLst/>
                <a:latin typeface="Times New Roman" panose="02020603050405020304" pitchFamily="18" charset="0"/>
                <a:cs typeface="Times New Roman" panose="02020603050405020304" pitchFamily="18" charset="0"/>
              </a:rPr>
              <a:t>dizi içerisinde bulunan her üye elemanı için ayırıcı kullanarak birleştirir. Dizi elemanları, tanımlanan ayırıcı değer eklenerek geriye </a:t>
            </a:r>
            <a:r>
              <a:rPr lang="tr-TR" b="0" i="0" dirty="0" err="1">
                <a:solidFill>
                  <a:srgbClr val="333333"/>
                </a:solidFill>
                <a:effectLst/>
                <a:latin typeface="Times New Roman" panose="02020603050405020304" pitchFamily="18" charset="0"/>
                <a:cs typeface="Times New Roman" panose="02020603050405020304" pitchFamily="18" charset="0"/>
              </a:rPr>
              <a:t>String</a:t>
            </a:r>
            <a:r>
              <a:rPr lang="tr-TR" b="0" i="0" dirty="0">
                <a:solidFill>
                  <a:srgbClr val="333333"/>
                </a:solidFill>
                <a:effectLst/>
                <a:latin typeface="Times New Roman" panose="02020603050405020304" pitchFamily="18" charset="0"/>
                <a:cs typeface="Times New Roman" panose="02020603050405020304" pitchFamily="18" charset="0"/>
              </a:rPr>
              <a:t> türünde döner. "</a:t>
            </a:r>
            <a:r>
              <a:rPr lang="tr-TR" b="0" i="0" dirty="0" err="1">
                <a:solidFill>
                  <a:srgbClr val="333333"/>
                </a:solidFill>
                <a:effectLst/>
                <a:latin typeface="Times New Roman" panose="02020603050405020304" pitchFamily="18" charset="0"/>
                <a:cs typeface="Times New Roman" panose="02020603050405020304" pitchFamily="18" charset="0"/>
              </a:rPr>
              <a:t>separator</a:t>
            </a:r>
            <a:r>
              <a:rPr lang="tr-TR" b="0" i="0" dirty="0">
                <a:solidFill>
                  <a:srgbClr val="333333"/>
                </a:solidFill>
                <a:effectLst/>
                <a:latin typeface="Times New Roman" panose="02020603050405020304" pitchFamily="18" charset="0"/>
                <a:cs typeface="Times New Roman" panose="02020603050405020304" pitchFamily="18" charset="0"/>
              </a:rPr>
              <a:t>" değişkeninde herhangi bir değer yok ise dizi elemanları yan yana yazılarak geriye döner. </a:t>
            </a:r>
            <a:endParaRPr lang="tr-TR" dirty="0">
              <a:latin typeface="Times New Roman" panose="02020603050405020304" pitchFamily="18" charset="0"/>
              <a:cs typeface="Times New Roman" panose="02020603050405020304" pitchFamily="18" charset="0"/>
            </a:endParaRPr>
          </a:p>
        </p:txBody>
      </p:sp>
      <p:pic>
        <p:nvPicPr>
          <p:cNvPr id="2052" name="Picture 4" descr="uploads exclamation mark exclamation mark PNG35 - Png Press - Transparent  png free download">
            <a:extLst>
              <a:ext uri="{FF2B5EF4-FFF2-40B4-BE49-F238E27FC236}">
                <a16:creationId xmlns:a16="http://schemas.microsoft.com/office/drawing/2014/main" id="{A933D3B6-21DF-420B-9EDC-EA22B0FCBF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6343" y="1933878"/>
            <a:ext cx="1573285" cy="136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376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lt Başlık 2">
            <a:extLst>
              <a:ext uri="{FF2B5EF4-FFF2-40B4-BE49-F238E27FC236}">
                <a16:creationId xmlns:a16="http://schemas.microsoft.com/office/drawing/2014/main" id="{4DE85122-41A6-43DF-A9E4-E5B2F9B7FA4D}"/>
              </a:ext>
            </a:extLst>
          </p:cNvPr>
          <p:cNvSpPr txBox="1">
            <a:spLocks/>
          </p:cNvSpPr>
          <p:nvPr/>
        </p:nvSpPr>
        <p:spPr>
          <a:xfrm>
            <a:off x="108028" y="1933"/>
            <a:ext cx="12083972" cy="612032"/>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tr-TR" sz="3000" b="1" dirty="0" err="1">
                <a:solidFill>
                  <a:schemeClr val="tx1"/>
                </a:solidFill>
                <a:latin typeface="Times New Roman" panose="02020603050405020304" pitchFamily="18" charset="0"/>
                <a:cs typeface="Times New Roman" panose="02020603050405020304" pitchFamily="18" charset="0"/>
              </a:rPr>
              <a:t>String</a:t>
            </a:r>
            <a:r>
              <a:rPr lang="tr-TR" sz="3000" b="1" dirty="0">
                <a:solidFill>
                  <a:schemeClr val="tx1"/>
                </a:solidFill>
                <a:latin typeface="Times New Roman" panose="02020603050405020304" pitchFamily="18" charset="0"/>
                <a:cs typeface="Times New Roman" panose="02020603050405020304" pitchFamily="18" charset="0"/>
              </a:rPr>
              <a:t> Sınıfının Özellikleri</a:t>
            </a:r>
          </a:p>
        </p:txBody>
      </p:sp>
      <p:sp>
        <p:nvSpPr>
          <p:cNvPr id="6" name="Alt Başlık 2">
            <a:extLst>
              <a:ext uri="{FF2B5EF4-FFF2-40B4-BE49-F238E27FC236}">
                <a16:creationId xmlns:a16="http://schemas.microsoft.com/office/drawing/2014/main" id="{615FDF6B-391F-4184-B633-E113FEF09731}"/>
              </a:ext>
            </a:extLst>
          </p:cNvPr>
          <p:cNvSpPr txBox="1">
            <a:spLocks/>
          </p:cNvSpPr>
          <p:nvPr/>
        </p:nvSpPr>
        <p:spPr>
          <a:xfrm>
            <a:off x="108028" y="627408"/>
            <a:ext cx="11975942" cy="5831266"/>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lnSpc>
                <a:spcPct val="100000"/>
              </a:lnSpc>
              <a:buNone/>
            </a:pPr>
            <a:r>
              <a:rPr lang="tr-TR" sz="2200"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sınıfının iki özelliği vardır: </a:t>
            </a:r>
          </a:p>
          <a:p>
            <a:pPr marL="0" indent="0" algn="just">
              <a:lnSpc>
                <a:spcPct val="100000"/>
              </a:lnSpc>
              <a:buNone/>
            </a:pPr>
            <a:r>
              <a:rPr lang="tr-TR" sz="2200" b="1" dirty="0" err="1">
                <a:solidFill>
                  <a:schemeClr val="tx1"/>
                </a:solidFill>
                <a:latin typeface="Times New Roman" panose="02020603050405020304" pitchFamily="18" charset="0"/>
                <a:cs typeface="Times New Roman" panose="02020603050405020304" pitchFamily="18" charset="0"/>
              </a:rPr>
              <a:t>Chars</a:t>
            </a:r>
            <a:r>
              <a:rPr lang="tr-TR" sz="2200" b="1" dirty="0">
                <a:solidFill>
                  <a:schemeClr val="tx1"/>
                </a:solidFill>
                <a:latin typeface="Times New Roman" panose="02020603050405020304" pitchFamily="18" charset="0"/>
                <a:cs typeface="Times New Roman" panose="02020603050405020304" pitchFamily="18" charset="0"/>
              </a:rPr>
              <a:t>	→ </a:t>
            </a:r>
            <a:r>
              <a:rPr lang="tr-TR" sz="2200" dirty="0">
                <a:solidFill>
                  <a:schemeClr val="tx1"/>
                </a:solidFill>
                <a:latin typeface="Times New Roman" panose="02020603050405020304" pitchFamily="18" charset="0"/>
                <a:cs typeface="Times New Roman" panose="02020603050405020304" pitchFamily="18" charset="0"/>
              </a:rPr>
              <a:t>Mevcut </a:t>
            </a:r>
            <a:r>
              <a:rPr lang="tr-TR" sz="2200" i="1"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nesnesinde belirtilen bir konumda </a:t>
            </a:r>
            <a:r>
              <a:rPr lang="tr-TR" sz="2200" i="1" dirty="0" err="1">
                <a:solidFill>
                  <a:schemeClr val="tx1"/>
                </a:solidFill>
                <a:latin typeface="Times New Roman" panose="02020603050405020304" pitchFamily="18" charset="0"/>
                <a:cs typeface="Times New Roman" panose="02020603050405020304" pitchFamily="18" charset="0"/>
              </a:rPr>
              <a:t>Char</a:t>
            </a:r>
            <a:r>
              <a:rPr lang="tr-TR" sz="2200" dirty="0">
                <a:solidFill>
                  <a:schemeClr val="tx1"/>
                </a:solidFill>
                <a:latin typeface="Times New Roman" panose="02020603050405020304" pitchFamily="18" charset="0"/>
                <a:cs typeface="Times New Roman" panose="02020603050405020304" pitchFamily="18" charset="0"/>
              </a:rPr>
              <a:t> nesnesini alır.</a:t>
            </a:r>
          </a:p>
          <a:p>
            <a:pPr marL="0" indent="0" algn="just">
              <a:lnSpc>
                <a:spcPct val="100000"/>
              </a:lnSpc>
              <a:buNone/>
            </a:pPr>
            <a:r>
              <a:rPr lang="tr-TR" sz="2200" b="1" dirty="0" err="1">
                <a:solidFill>
                  <a:schemeClr val="tx1"/>
                </a:solidFill>
                <a:latin typeface="Times New Roman" panose="02020603050405020304" pitchFamily="18" charset="0"/>
                <a:cs typeface="Times New Roman" panose="02020603050405020304" pitchFamily="18" charset="0"/>
              </a:rPr>
              <a:t>Length</a:t>
            </a:r>
            <a:r>
              <a:rPr lang="tr-TR" sz="2200" b="1" dirty="0">
                <a:solidFill>
                  <a:schemeClr val="tx1"/>
                </a:solidFill>
                <a:latin typeface="Times New Roman" panose="02020603050405020304" pitchFamily="18" charset="0"/>
                <a:cs typeface="Times New Roman" panose="02020603050405020304" pitchFamily="18" charset="0"/>
              </a:rPr>
              <a:t>	→ </a:t>
            </a:r>
            <a:r>
              <a:rPr lang="tr-TR" sz="2200" dirty="0">
                <a:solidFill>
                  <a:schemeClr val="tx1"/>
                </a:solidFill>
                <a:latin typeface="Times New Roman" panose="02020603050405020304" pitchFamily="18" charset="0"/>
                <a:cs typeface="Times New Roman" panose="02020603050405020304" pitchFamily="18" charset="0"/>
              </a:rPr>
              <a:t>Mevcut </a:t>
            </a:r>
            <a:r>
              <a:rPr lang="tr-TR" sz="2200" i="1" dirty="0" err="1">
                <a:solidFill>
                  <a:schemeClr val="tx1"/>
                </a:solidFill>
                <a:latin typeface="Times New Roman" panose="02020603050405020304" pitchFamily="18" charset="0"/>
                <a:cs typeface="Times New Roman" panose="02020603050405020304" pitchFamily="18" charset="0"/>
              </a:rPr>
              <a:t>String</a:t>
            </a:r>
            <a:r>
              <a:rPr lang="tr-TR" sz="2200" dirty="0">
                <a:solidFill>
                  <a:schemeClr val="tx1"/>
                </a:solidFill>
                <a:latin typeface="Times New Roman" panose="02020603050405020304" pitchFamily="18" charset="0"/>
                <a:cs typeface="Times New Roman" panose="02020603050405020304" pitchFamily="18" charset="0"/>
              </a:rPr>
              <a:t> nesnesindeki karakter sayısını alır.</a:t>
            </a:r>
            <a:endParaRPr lang="tr-TR" sz="16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7323123"/>
      </p:ext>
    </p:extLst>
  </p:cSld>
  <p:clrMapOvr>
    <a:masterClrMapping/>
  </p:clrMapOvr>
</p:sld>
</file>

<file path=ppt/theme/theme1.xml><?xml version="1.0" encoding="utf-8"?>
<a:theme xmlns:a="http://schemas.openxmlformats.org/drawingml/2006/main"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Geçmişe bakış">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CA72677B-2F8C-4192-8EBE-D360BE3B20F6}"/>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Hafta1</Template>
  <TotalTime>2165</TotalTime>
  <Words>2704</Words>
  <Application>Microsoft Office PowerPoint</Application>
  <PresentationFormat>Geniş ekran</PresentationFormat>
  <Paragraphs>329</Paragraphs>
  <Slides>33</Slides>
  <Notes>16</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33</vt:i4>
      </vt:variant>
    </vt:vector>
  </HeadingPairs>
  <TitlesOfParts>
    <vt:vector size="41" baseType="lpstr">
      <vt:lpstr>Arial</vt:lpstr>
      <vt:lpstr>Calibri</vt:lpstr>
      <vt:lpstr>Calibri Light</vt:lpstr>
      <vt:lpstr>Consolas</vt:lpstr>
      <vt:lpstr>Courier New</vt:lpstr>
      <vt:lpstr>Times New Roman</vt:lpstr>
      <vt:lpstr>Wingdings</vt:lpstr>
      <vt:lpstr>Geçmişe bakış</vt:lpstr>
      <vt:lpstr>BİL207-NESNE YÖNELİMLİ PROGRAMLAMA 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BİL102-ALGORİTMA ve PROGRAMLAMA I</dc:title>
  <dc:creator>FUNDA KUTLU ONAY</dc:creator>
  <cp:lastModifiedBy>FUNDA KUTLU ONAY</cp:lastModifiedBy>
  <cp:revision>39</cp:revision>
  <dcterms:created xsi:type="dcterms:W3CDTF">2021-02-24T12:37:41Z</dcterms:created>
  <dcterms:modified xsi:type="dcterms:W3CDTF">2024-10-16T18:10:13Z</dcterms:modified>
</cp:coreProperties>
</file>