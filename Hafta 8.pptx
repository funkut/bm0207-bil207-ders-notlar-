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34"/>
  </p:notesMasterIdLst>
  <p:sldIdLst>
    <p:sldId id="256" r:id="rId2"/>
    <p:sldId id="396" r:id="rId3"/>
    <p:sldId id="335" r:id="rId4"/>
    <p:sldId id="397" r:id="rId5"/>
    <p:sldId id="399" r:id="rId6"/>
    <p:sldId id="400" r:id="rId7"/>
    <p:sldId id="412" r:id="rId8"/>
    <p:sldId id="411" r:id="rId9"/>
    <p:sldId id="401" r:id="rId10"/>
    <p:sldId id="402" r:id="rId11"/>
    <p:sldId id="403" r:id="rId12"/>
    <p:sldId id="404" r:id="rId13"/>
    <p:sldId id="405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5" r:id="rId23"/>
    <p:sldId id="384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6600"/>
    <a:srgbClr val="66FF33"/>
    <a:srgbClr val="FF33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94700" autoAdjust="0"/>
  </p:normalViewPr>
  <p:slideViewPr>
    <p:cSldViewPr snapToGrid="0">
      <p:cViewPr>
        <p:scale>
          <a:sx n="66" d="100"/>
          <a:sy n="66" d="100"/>
        </p:scale>
        <p:origin x="102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C61F-CF9C-438D-878D-5F289BFF98B2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F0F1D-777A-4D20-B29A-2D838269CE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01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052C7-2006-44E1-2896-FD061BC5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4B3EEFF9-990E-A6CE-59C2-EEB547371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DB9F099B-9B5F-9626-17A3-B9414DB93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6DA3A78-8D9D-EBFB-BD54-1E65BC9B6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260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179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934C-561F-6858-8ABC-532790F6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57B790B-E637-E59C-F5A1-B5375463E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E5D4263-271D-5515-4166-94ECA0800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156322-4541-8714-048C-ADFCE8DEF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7514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37FA4-A930-C6DB-C9F0-D03F5771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91120A5-5364-951A-7C6F-39B89702F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4C7081E9-5E45-653A-F622-59BDDF4D6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05BD3A1-B7F4-7511-66E9-F357A0D97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784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3C8C-3632-7A26-9124-5D9B083C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386A779C-AF6B-5158-BD17-A96C9F17E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AE1026FC-9CEF-7AF2-9CDC-8B118AF87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F7BF4C6-58A6-2D9C-B295-8D83BFA44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214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BEA7-B7A2-E8D8-619A-B3FBAA3B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6FC7B8F1-63AD-5FC9-91BA-04AD8BA4B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46263916-1D6D-0CF0-CDB0-65361E1D9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C238B6E-EDD0-DCB9-26A9-D01E648D6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0051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FFFE-DDBE-CD91-2A88-BFB75ECD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7F41A028-E6A2-4CDD-D56F-1F603AC9D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AD6A3164-48D2-A9C6-0038-77A449AED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F3CE6B2-2262-808B-5486-F7C0B1229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7423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F075-EF13-1060-EBD9-3A2CD20E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7C050E76-3BE0-77E4-D2B5-EBA2E2C55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251A0041-D7A2-2FAD-7F3F-911B55C6E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DAAD37B-D894-522E-88D1-AFE226B7D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2819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3BA5-0AF3-EC23-D6CF-497DBA37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F4233495-0695-2388-21B9-18516D671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A892EC5-4F69-8C8A-DD00-D8F80DCB5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E4F5B13-BDFD-BED3-7EE3-05CD04A00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5522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7375-3EB6-446E-1965-F6F037AF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F74F35FF-031C-F429-912E-02DC213BF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79496DA9-FD20-53F7-1233-DDA21803F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96426EC-5D54-27D8-DBF1-018CFE793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9640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E2FC-13F5-C9D5-D0DF-0196F5C3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4137C6BE-80A7-F2EA-5496-A62A2284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FBC0947-A307-A572-BBE0-B071B264B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11D24A0-B285-CB57-A40C-661C60ABE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167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091D-6C2F-3D8E-CA2A-010BE292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9395B112-F878-2D39-77F2-E8623508D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7B463964-D807-F4AD-8280-5370B2DF9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205CF57-6B54-6ADD-C8FB-8CA5F30A9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2240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2411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650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0897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4998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4140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9557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6384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8002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5205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7022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91090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5226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1919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53911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1232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873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15906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2314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3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BİL207-NESNE YÖNELİMLİ PROGRAMLAMA 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8</a:t>
            </a:r>
          </a:p>
          <a:p>
            <a:pPr algn="ctr"/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 Uygulamaları </a:t>
            </a:r>
          </a:p>
          <a:p>
            <a:pPr algn="ctr"/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(Görsel Programlamaya Giriş)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</a:t>
            </a:r>
            <a:r>
              <a:rPr lang="tr-TR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Funda </a:t>
            </a:r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C82B-D7CC-CF30-B801-5E914377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C7050E9E-BB55-E3DC-B96B-9B26CCF0F956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Nedir?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135DC6D9-4BAE-9350-B651-BB14A12E8BC5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Şimdiye kadar konsol tabanlı uygulamalar oluşturmak için C# ile nasıl çalışılacağını gördük.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Ancak gerçek hayattaki bir senaryoda, Windows Forms veya Web tabanlı uygulamalar oluşturmak için normalde Visual </a:t>
            </a:r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C# kullanılır.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uygulaması, bilgisayarda çalışmak üzere tasarlanmış bir uygulamadır. Web tarayıcısında çalışmaz çünkü o zaman bir web uygulaması olur.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Windows form uygulaması 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labels,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textboxes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boxes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gibi bir kontrol koleksiyonuna (</a:t>
            </a:r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sahiptir.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Aşağıda basit bir  C# Windows form uygulaması örneği verilmiştir. Kullanıcı tarafından erişilebilen basit bir </a:t>
            </a:r>
            <a:r>
              <a:rPr lang="tr-T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Giriş Ekranı 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gösterir. Kullanıcı gerekli kimlik bilgilerini girecek ve ardından devam etmek için </a:t>
            </a:r>
            <a:r>
              <a:rPr lang="tr-T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Giriş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düğmesini tıklayacaktır.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C Sharp - Form App. Giriş Ekranı - Programlama Dersleri">
            <a:extLst>
              <a:ext uri="{FF2B5EF4-FFF2-40B4-BE49-F238E27FC236}">
                <a16:creationId xmlns:a16="http://schemas.microsoft.com/office/drawing/2014/main" id="{D81B406E-B8E7-C709-F04E-C20C0DC56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23" y="3429000"/>
            <a:ext cx="444817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5FACDFC-021F-52A4-8735-03EADCEB96B7}"/>
              </a:ext>
            </a:extLst>
          </p:cNvPr>
          <p:cNvSpPr/>
          <p:nvPr/>
        </p:nvSpPr>
        <p:spPr>
          <a:xfrm>
            <a:off x="1661884" y="3990972"/>
            <a:ext cx="1248229" cy="7402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36C3EC37-50BB-7DFF-351A-2AC29253778E}"/>
              </a:ext>
            </a:extLst>
          </p:cNvPr>
          <p:cNvSpPr/>
          <p:nvPr/>
        </p:nvSpPr>
        <p:spPr>
          <a:xfrm>
            <a:off x="1712686" y="4789714"/>
            <a:ext cx="1146626" cy="3795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47F02C1B-5CD2-58D8-C0FC-BAE3CF579F16}"/>
              </a:ext>
            </a:extLst>
          </p:cNvPr>
          <p:cNvSpPr/>
          <p:nvPr/>
        </p:nvSpPr>
        <p:spPr>
          <a:xfrm>
            <a:off x="876410" y="4049028"/>
            <a:ext cx="689427" cy="7402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6284D0D-3F7C-D970-8E62-2318F83235D6}"/>
              </a:ext>
            </a:extLst>
          </p:cNvPr>
          <p:cNvSpPr txBox="1"/>
          <p:nvPr/>
        </p:nvSpPr>
        <p:spPr>
          <a:xfrm>
            <a:off x="1047838" y="478925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29CB767-955A-3D5D-618C-72BAEF1D41AA}"/>
              </a:ext>
            </a:extLst>
          </p:cNvPr>
          <p:cNvSpPr txBox="1"/>
          <p:nvPr/>
        </p:nvSpPr>
        <p:spPr>
          <a:xfrm>
            <a:off x="2958643" y="425414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BFBE76F6-6B19-6EA6-CD9F-C1A530483252}"/>
              </a:ext>
            </a:extLst>
          </p:cNvPr>
          <p:cNvSpPr txBox="1"/>
          <p:nvPr/>
        </p:nvSpPr>
        <p:spPr>
          <a:xfrm>
            <a:off x="2112713" y="518270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76CA408-B655-9D3B-76CA-4614A1B7ACBE}"/>
              </a:ext>
            </a:extLst>
          </p:cNvPr>
          <p:cNvSpPr txBox="1"/>
          <p:nvPr/>
        </p:nvSpPr>
        <p:spPr>
          <a:xfrm>
            <a:off x="5573486" y="3543041"/>
            <a:ext cx="27946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tr-TR" dirty="0"/>
              <a:t>Etiket (</a:t>
            </a:r>
            <a:r>
              <a:rPr lang="tr-TR" dirty="0" err="1"/>
              <a:t>label</a:t>
            </a:r>
            <a:r>
              <a:rPr lang="tr-TR" dirty="0"/>
              <a:t>)</a:t>
            </a:r>
          </a:p>
          <a:p>
            <a:pPr marL="342900" indent="-342900">
              <a:buAutoNum type="arabicPeriod"/>
            </a:pPr>
            <a:r>
              <a:rPr lang="tr-TR" dirty="0"/>
              <a:t>Metin kutusu (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box</a:t>
            </a:r>
            <a:r>
              <a:rPr lang="tr-TR" dirty="0"/>
              <a:t>)</a:t>
            </a:r>
          </a:p>
          <a:p>
            <a:pPr marL="342900" indent="-342900">
              <a:buAutoNum type="arabicPeriod"/>
            </a:pPr>
            <a:r>
              <a:rPr lang="tr-TR" dirty="0"/>
              <a:t>Buton/ Düğme (</a:t>
            </a:r>
            <a:r>
              <a:rPr lang="tr-TR" dirty="0" err="1"/>
              <a:t>button</a:t>
            </a:r>
            <a:r>
              <a:rPr lang="tr-TR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1240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Nedir?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 (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.NET platformunda Windows işletim sistemi üzerinde çalışan masaüstü grafik arayüz (GUI) uygulamaları geliştirmek için kullanılan olgun ve üretken bir UI kütüphanesidir.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 prensibi olay tabanlı (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event‑driven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programlamadır: kullanıcı (veya sistem) bir olay üretir, sen de buna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tepki verirsin.</a:t>
            </a:r>
            <a:endParaRPr lang="tr-T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 Tanımlar: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Form: 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Uygulamadaki her pencereyi temsil eder (başlık çubuğu, kapatma düğmeleri vb.).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Control: 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üzerine yerleştirilen tüm bileşenler (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TextBox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DataGridView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Component: 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Görsel arayüzü olmayan ancak davranış sağlayan nesneler (Timer,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ErrorProvider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BackgroundWorker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ImageList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Designer: 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Sürükle‑bırak ile arayüz tasarladığın Visual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aracı; üretilen kod *.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Designer.cs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dosyasına yazılır.</a:t>
            </a:r>
          </a:p>
        </p:txBody>
      </p:sp>
    </p:spTree>
    <p:extLst>
      <p:ext uri="{BB962C8B-B14F-4D97-AF65-F5344CB8AC3E}">
        <p14:creationId xmlns:p14="http://schemas.microsoft.com/office/powerpoint/2010/main" val="28732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A0A79-8CC3-49F0-929D-179115D5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FE1DF66-BA5C-EDEE-1EC5-FEA53BF7A8C0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Nedir?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54524D7-3474-F55A-F75D-B9F333FDE53B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WinForms’un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çizim modeli GDI+ (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temellidir.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WPF’in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retained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vektörel çizim modelinden farklıdır. Basit işlerde çok hızlıdır.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(GDI+) tercih edilmeli: Basit ofis araçları,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konfigüratörler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formlar, az grafik. Eski kod tabanını sürdürme, hızlı prototip, minimum bağımlılık.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 tercih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edilmeli:Zengin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UI, çok sayıda görsel öğe, animasyon/efekt,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saydamlık.Yüksek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DPI/4K uyumu ve sorunsuz ölçekleme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önemliyse.Zoom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gibi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ağırlıklı görselleştirmeler.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WPF, Windows için modern (vektörel, GPU destekli) bir masaüstü UI katmanıdır;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WinForms’tan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farklı bir çizim/işleme modelinde, aynı makinede (Windows) çalışır.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 algn="just">
              <a:lnSpc>
                <a:spcPct val="100000"/>
              </a:lnSpc>
              <a:buNone/>
            </a:pP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043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FBAB-7F24-C8D3-0E65-8C580802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E0AFA710-3483-D329-A4F1-137CDF0D4228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Mesaj Döngüsü ve Olaylar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032BE53E-7945-0ED4-8B44-88692FE1D50E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Windows, her pencereye (Form/Control) “mesaj” gönderir.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 mesajları alıp .NET olaylarına (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çevirir. Biz de bu olayları yakalayıp iş mantığını çalıştırırız.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Windows’ta her pencerenin bir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HWND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(pencere tanıtıcısı) vardır. Fare tıklandı, klavye basıldı, pencere taşındı gibi her durumda işletim sistemi bir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WM_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mesajı yollar.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Application.Run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(...)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mesaj döngüsünü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başlatır; bu döngüyü biz yazmayız,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yönetir.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278B2A7-E3E2-A747-9A05-2C4EE0932FB6}"/>
              </a:ext>
            </a:extLst>
          </p:cNvPr>
          <p:cNvSpPr txBox="1"/>
          <p:nvPr/>
        </p:nvSpPr>
        <p:spPr>
          <a:xfrm>
            <a:off x="1456402" y="2582076"/>
            <a:ext cx="894120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r-TR" b="1" dirty="0"/>
              <a:t>[OS Message Queue] → </a:t>
            </a:r>
            <a:r>
              <a:rPr lang="tr-TR" b="1" dirty="0" err="1"/>
              <a:t>Application.Run</a:t>
            </a:r>
            <a:r>
              <a:rPr lang="tr-TR" b="1" dirty="0"/>
              <a:t> → [Control/</a:t>
            </a:r>
            <a:r>
              <a:rPr lang="tr-TR" b="1" dirty="0" err="1"/>
              <a:t>Handle</a:t>
            </a:r>
            <a:r>
              <a:rPr lang="tr-TR" b="1" dirty="0"/>
              <a:t>] → (</a:t>
            </a:r>
            <a:r>
              <a:rPr lang="tr-TR" b="1" dirty="0" err="1"/>
              <a:t>Event</a:t>
            </a:r>
            <a:r>
              <a:rPr lang="tr-TR" b="1" dirty="0"/>
              <a:t>) → [</a:t>
            </a:r>
            <a:r>
              <a:rPr lang="tr-TR" b="1" dirty="0" err="1"/>
              <a:t>Event</a:t>
            </a:r>
            <a:r>
              <a:rPr lang="tr-TR" b="1" dirty="0"/>
              <a:t> </a:t>
            </a:r>
            <a:r>
              <a:rPr lang="tr-TR" b="1" dirty="0" err="1"/>
              <a:t>Handler</a:t>
            </a:r>
            <a:r>
              <a:rPr lang="tr-TR" b="1" dirty="0"/>
              <a:t>]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1128E3BD-0F51-4331-0C6E-3248CE12CFAB}"/>
              </a:ext>
            </a:extLst>
          </p:cNvPr>
          <p:cNvSpPr txBox="1"/>
          <p:nvPr/>
        </p:nvSpPr>
        <p:spPr>
          <a:xfrm>
            <a:off x="1884104" y="3906593"/>
            <a:ext cx="8085804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Olayların tipik sırası (Form)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Oluşturma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Açılış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(ilk gösterim)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Activated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Paint,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KeyDown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Mouse... olayları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Kapanış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FormClosing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FormClosed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Disposed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4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50C1-5ADE-3CF5-1E6F-68BB53A9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E7F0DE7A-3D77-EB80-A8A9-4D53AB571008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4CD4CE53-073E-7DE7-5CB2-9E41735CE9C2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 err="1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Program.cs</a:t>
            </a:r>
            <a:r>
              <a:rPr lang="tr-TR" b="1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Uygulamanın giriş noktasıdır. Pencereyi (formu) çalıştırır.</a:t>
            </a: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545317E5-CEC3-FE15-7891-B0A353BD4B78}"/>
              </a:ext>
            </a:extLst>
          </p:cNvPr>
          <p:cNvSpPr txBox="1"/>
          <p:nvPr/>
        </p:nvSpPr>
        <p:spPr>
          <a:xfrm>
            <a:off x="1484083" y="1919851"/>
            <a:ext cx="9125857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 err="1">
                <a:latin typeface="Consolas" panose="020B0609020204030204" pitchFamily="49" charset="0"/>
              </a:rPr>
              <a:t>STAThread</a:t>
            </a:r>
            <a:r>
              <a:rPr lang="tr-TR" dirty="0">
                <a:latin typeface="Consolas" panose="020B0609020204030204" pitchFamily="49" charset="0"/>
              </a:rPr>
              <a:t>]</a:t>
            </a:r>
          </a:p>
          <a:p>
            <a:r>
              <a:rPr lang="tr-TR" dirty="0" err="1">
                <a:latin typeface="Consolas" panose="020B0609020204030204" pitchFamily="49" charset="0"/>
              </a:rPr>
              <a:t>static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Main()</a:t>
            </a:r>
          </a:p>
          <a:p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ApplicationConfiguration.Initialize</a:t>
            </a:r>
            <a:r>
              <a:rPr lang="tr-TR" dirty="0">
                <a:latin typeface="Consolas" panose="020B0609020204030204" pitchFamily="49" charset="0"/>
              </a:rPr>
              <a:t>();   // .NET 6/7/8</a:t>
            </a:r>
          </a:p>
          <a:p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Application.Run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new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MainForm</a:t>
            </a:r>
            <a:r>
              <a:rPr lang="tr-TR" dirty="0">
                <a:latin typeface="Consolas" panose="020B0609020204030204" pitchFamily="49" charset="0"/>
              </a:rPr>
              <a:t>());         // mesaj döngüsü başlar</a:t>
            </a:r>
          </a:p>
          <a:p>
            <a:r>
              <a:rPr lang="tr-TR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4238836-B70F-1934-DCC6-0FB1F963FC7C}"/>
              </a:ext>
            </a:extLst>
          </p:cNvPr>
          <p:cNvSpPr txBox="1"/>
          <p:nvPr/>
        </p:nvSpPr>
        <p:spPr>
          <a:xfrm>
            <a:off x="1484083" y="4548498"/>
            <a:ext cx="98443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Kısaca: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mesaj döngüsü (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işletim sisteminden gelen olayları (fare, klavye, yeniden çizim, kapatma vb.) sırayla alıp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doğru pencereye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ileten mekanizmadır. </a:t>
            </a:r>
          </a:p>
          <a:p>
            <a:pPr algn="just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Application.Run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bunu başlatır. Bu sayede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düşük seviyeli Win32 mesajlarını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olaylarına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Paint,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 dönüştürür.</a:t>
            </a:r>
          </a:p>
        </p:txBody>
      </p:sp>
      <p:pic>
        <p:nvPicPr>
          <p:cNvPr id="3074" name="Picture 2" descr="Hand Drawn Exclamation Mark Icons - Free SVG &amp; PNG Hand Drawn Exclamation  Mark Images - Noun Project">
            <a:extLst>
              <a:ext uri="{FF2B5EF4-FFF2-40B4-BE49-F238E27FC236}">
                <a16:creationId xmlns:a16="http://schemas.microsoft.com/office/drawing/2014/main" id="{AEB1CAD4-9752-4A8F-4890-C99DEBD0C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444" y="419616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70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E50C-7FC6-1237-FEB7-E6BFB04B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C4D1D1A-290C-9451-A92D-E0D4D9233C31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38F18C69-E69A-2F86-DEDD-AB1CDFB87B82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 err="1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tr-TR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(Form sınıfı)</a:t>
            </a:r>
          </a:p>
          <a:p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 penceresidir. İki dosyadan oluşur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MainForm.cs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Senin yazdığın kod (buton tıklandı, veri yüklendi vb. olaylar).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MainForm.Designer.cs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Visual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Studio’nun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otomatik ürettiği kısım.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içinde buton,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textbox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vb. kontrolleri oluşturur, özelliklerini (Name,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Size,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ayarlar ve hiyerarşiye ekler. </a:t>
            </a:r>
            <a:b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içinde buton,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textbox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gibi kontroller oluşturulur ve özellikleri ayarlanır.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MainForm.resx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Bu forma özel kaynaklar (metin, ikon, resim). Yerelleştirme için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Form’da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Localizable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Language seç; kültüre göre .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resx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dosyaları oluşur ve otomatik kullanılır.</a:t>
            </a: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77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3F66-17CB-2D61-7A28-A02F1A45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56824F26-D63B-880F-7B99-3BD81149CD77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51A1F623-1F48-E932-4E48-88693FAAD9E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tr-TR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Çözüm (Solution) Ağacı – Tipik Yapı</a:t>
            </a: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CC237AB-8F4F-41E2-0CCB-272ED15B6A8C}"/>
              </a:ext>
            </a:extLst>
          </p:cNvPr>
          <p:cNvSpPr txBox="1"/>
          <p:nvPr/>
        </p:nvSpPr>
        <p:spPr>
          <a:xfrm>
            <a:off x="2615784" y="1698545"/>
            <a:ext cx="6960429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600" dirty="0" err="1"/>
              <a:t>WinFormsFlow</a:t>
            </a:r>
            <a:r>
              <a:rPr lang="tr-TR" sz="1600" dirty="0"/>
              <a:t>/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Program.cs</a:t>
            </a:r>
            <a:r>
              <a:rPr lang="tr-TR" sz="1600" dirty="0"/>
              <a:t> → Giriş noktası; mesaj döngüsünü başlatır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MainForm.cs</a:t>
            </a:r>
            <a:r>
              <a:rPr lang="tr-TR" sz="1600" dirty="0"/>
              <a:t> → Senin kodların (olaylar, iş mantığı)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MainForm.Designer.cs</a:t>
            </a:r>
            <a:r>
              <a:rPr lang="tr-TR" sz="1600" dirty="0"/>
              <a:t> → </a:t>
            </a:r>
            <a:r>
              <a:rPr lang="tr-TR" sz="1600" dirty="0" err="1"/>
              <a:t>Designer’ın</a:t>
            </a:r>
            <a:r>
              <a:rPr lang="tr-TR" sz="1600" dirty="0"/>
              <a:t> ürettiği </a:t>
            </a:r>
            <a:r>
              <a:rPr lang="tr-TR" sz="1600" dirty="0" err="1"/>
              <a:t>InitializeComponent</a:t>
            </a:r>
            <a:r>
              <a:rPr lang="tr-TR" sz="1600" dirty="0"/>
              <a:t>()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MainForm.resx</a:t>
            </a:r>
            <a:r>
              <a:rPr lang="tr-TR" sz="1600" dirty="0"/>
              <a:t> → </a:t>
            </a:r>
            <a:r>
              <a:rPr lang="tr-TR" sz="1600" dirty="0" err="1"/>
              <a:t>Form’a</a:t>
            </a:r>
            <a:r>
              <a:rPr lang="tr-TR" sz="1600" dirty="0"/>
              <a:t> ait yerelleştirilebilir kaynaklar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Properties</a:t>
            </a:r>
            <a:r>
              <a:rPr lang="tr-TR" sz="1600" dirty="0"/>
              <a:t>/</a:t>
            </a:r>
          </a:p>
          <a:p>
            <a:pPr>
              <a:buNone/>
            </a:pPr>
            <a:r>
              <a:rPr lang="tr-TR" sz="1600" dirty="0"/>
              <a:t>│ ├─ </a:t>
            </a:r>
            <a:r>
              <a:rPr lang="tr-TR" sz="1600" dirty="0" err="1"/>
              <a:t>Resources.resx</a:t>
            </a:r>
            <a:r>
              <a:rPr lang="tr-TR" sz="1600" dirty="0"/>
              <a:t> → Uygulama kaynakları (resimler, metinler)</a:t>
            </a:r>
          </a:p>
          <a:p>
            <a:pPr>
              <a:buNone/>
            </a:pPr>
            <a:r>
              <a:rPr lang="tr-TR" sz="1600" dirty="0"/>
              <a:t>│ ├─ </a:t>
            </a:r>
            <a:r>
              <a:rPr lang="tr-TR" sz="1600" dirty="0" err="1"/>
              <a:t>Settings.settings</a:t>
            </a:r>
            <a:r>
              <a:rPr lang="tr-TR" sz="1600" dirty="0"/>
              <a:t> → Uygulama/kullanıcı ayarları</a:t>
            </a:r>
          </a:p>
          <a:p>
            <a:pPr>
              <a:buNone/>
            </a:pPr>
            <a:r>
              <a:rPr lang="tr-TR" sz="1600" dirty="0"/>
              <a:t>│ └─ </a:t>
            </a:r>
            <a:r>
              <a:rPr lang="tr-TR" sz="1600" dirty="0" err="1"/>
              <a:t>AssemblyInfo.cs</a:t>
            </a:r>
            <a:r>
              <a:rPr lang="tr-TR" sz="1600" dirty="0"/>
              <a:t> (Framework) → Derleme bilgileri (Framework projelerinde)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app.manifest</a:t>
            </a:r>
            <a:r>
              <a:rPr lang="tr-TR" sz="1600" dirty="0"/>
              <a:t> (isteğe bağlı) → Yürütme izinleri, DPI bildirimi vb.</a:t>
            </a:r>
          </a:p>
          <a:p>
            <a:pPr>
              <a:buNone/>
            </a:pPr>
            <a:r>
              <a:rPr lang="tr-TR" sz="1600" dirty="0"/>
              <a:t>├─ </a:t>
            </a:r>
            <a:r>
              <a:rPr lang="tr-TR" sz="1600" dirty="0" err="1"/>
              <a:t>App.config</a:t>
            </a:r>
            <a:r>
              <a:rPr lang="tr-TR" sz="1600" dirty="0"/>
              <a:t> / </a:t>
            </a:r>
            <a:r>
              <a:rPr lang="tr-TR" sz="1600" dirty="0" err="1"/>
              <a:t>appsettings.json</a:t>
            </a:r>
            <a:r>
              <a:rPr lang="tr-TR" sz="1600" dirty="0"/>
              <a:t> → Yapılandırma (Framework / modern .NET)</a:t>
            </a:r>
          </a:p>
          <a:p>
            <a:pPr>
              <a:buNone/>
            </a:pPr>
            <a:r>
              <a:rPr lang="tr-TR" sz="1600" dirty="0"/>
              <a:t>└─ </a:t>
            </a:r>
            <a:r>
              <a:rPr lang="tr-TR" sz="1600" dirty="0" err="1"/>
              <a:t>Packages</a:t>
            </a:r>
            <a:r>
              <a:rPr lang="tr-TR" sz="1600" dirty="0"/>
              <a:t>/</a:t>
            </a:r>
            <a:r>
              <a:rPr lang="tr-TR" sz="1600" dirty="0" err="1"/>
              <a:t>NuGet</a:t>
            </a:r>
            <a:r>
              <a:rPr lang="tr-TR" sz="1600" dirty="0"/>
              <a:t> → Harici bağımlılıklar</a:t>
            </a:r>
          </a:p>
        </p:txBody>
      </p:sp>
    </p:spTree>
    <p:extLst>
      <p:ext uri="{BB962C8B-B14F-4D97-AF65-F5344CB8AC3E}">
        <p14:creationId xmlns:p14="http://schemas.microsoft.com/office/powerpoint/2010/main" val="273629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4E94E-A0E7-32A8-C3B2-6B190788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C014DEAB-8948-99E4-A2FD-8A8D4B32FFDC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A7ABD364-2E2D-185C-2EF4-5495D2DDADDC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6234715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Sınıflar nedir, nasıl çalışır?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sınıfın kodunu birden fazla dosyaya bölmeyi sağlar.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iki dosyaya bölünür: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MainForm.cs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(senin dosyan): Olay yakalayıcılar ve iş mantığı.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MainForm.Designer.cs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(otomatik): Kontrollerin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oluşturulması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özelliklerinin ayarlanması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yerleşim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Derleme zamanı geldiğinde C# derleyicisi bu iki dosyayı 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 bir sınıfta birleştirir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Bu ayırma,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designer’ın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dosyayı yeniden üretmesine olanak verirken senin mantık kodun etkilenmez.</a:t>
            </a:r>
          </a:p>
          <a:p>
            <a:pPr marL="0" indent="0">
              <a:buNone/>
            </a:pPr>
            <a:endParaRPr lang="tr-T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7AB6213-1D89-27AA-8107-5760A748B7C1}"/>
              </a:ext>
            </a:extLst>
          </p:cNvPr>
          <p:cNvSpPr txBox="1"/>
          <p:nvPr/>
        </p:nvSpPr>
        <p:spPr>
          <a:xfrm>
            <a:off x="6549570" y="399326"/>
            <a:ext cx="61613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tr-TR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Person.Core.cs</a:t>
            </a:r>
            <a:endParaRPr lang="tr-TR" sz="1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tr-TR" sz="1600" dirty="0" err="1">
                <a:latin typeface="Consolas" panose="020B0609020204030204" pitchFamily="49" charset="0"/>
              </a:rPr>
              <a:t>public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partial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class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Person</a:t>
            </a:r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dirty="0"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latin typeface="Consolas" panose="020B0609020204030204" pitchFamily="49" charset="0"/>
              </a:rPr>
              <a:t>public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string</a:t>
            </a:r>
            <a:r>
              <a:rPr lang="tr-TR" sz="1600" dirty="0">
                <a:latin typeface="Consolas" panose="020B0609020204030204" pitchFamily="49" charset="0"/>
              </a:rPr>
              <a:t> Name { </a:t>
            </a:r>
            <a:r>
              <a:rPr lang="tr-TR" sz="1600" dirty="0" err="1">
                <a:latin typeface="Consolas" panose="020B0609020204030204" pitchFamily="49" charset="0"/>
              </a:rPr>
              <a:t>get</a:t>
            </a:r>
            <a:r>
              <a:rPr lang="tr-TR" sz="1600" dirty="0">
                <a:latin typeface="Consolas" panose="020B0609020204030204" pitchFamily="49" charset="0"/>
              </a:rPr>
              <a:t>; set; } = "";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latin typeface="Consolas" panose="020B0609020204030204" pitchFamily="49" charset="0"/>
              </a:rPr>
              <a:t>partial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void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OnCreated</a:t>
            </a:r>
            <a:r>
              <a:rPr lang="tr-TR" sz="1600" dirty="0">
                <a:latin typeface="Consolas" panose="020B0609020204030204" pitchFamily="49" charset="0"/>
              </a:rPr>
              <a:t>();           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latin typeface="Consolas" panose="020B0609020204030204" pitchFamily="49" charset="0"/>
              </a:rPr>
              <a:t>public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Person</a:t>
            </a:r>
            <a:r>
              <a:rPr lang="tr-TR" sz="1600" dirty="0">
                <a:latin typeface="Consolas" panose="020B0609020204030204" pitchFamily="49" charset="0"/>
              </a:rPr>
              <a:t>() { </a:t>
            </a:r>
            <a:r>
              <a:rPr lang="tr-TR" sz="1600" dirty="0" err="1">
                <a:latin typeface="Consolas" panose="020B0609020204030204" pitchFamily="49" charset="0"/>
              </a:rPr>
              <a:t>OnCreated</a:t>
            </a:r>
            <a:r>
              <a:rPr lang="tr-TR" sz="1600" dirty="0">
                <a:latin typeface="Consolas" panose="020B0609020204030204" pitchFamily="49" charset="0"/>
              </a:rPr>
              <a:t>(); }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}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tr-TR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Person.Custom.cs</a:t>
            </a:r>
            <a:endParaRPr lang="tr-TR" sz="1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tr-TR" sz="1600" dirty="0" err="1">
                <a:latin typeface="Consolas" panose="020B0609020204030204" pitchFamily="49" charset="0"/>
              </a:rPr>
              <a:t>public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partial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class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Person</a:t>
            </a:r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dirty="0"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latin typeface="Consolas" panose="020B0609020204030204" pitchFamily="49" charset="0"/>
              </a:rPr>
              <a:t>partial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void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OnCreated</a:t>
            </a:r>
            <a:r>
              <a:rPr lang="tr-TR" sz="1600" dirty="0">
                <a:latin typeface="Consolas" panose="020B0609020204030204" pitchFamily="49" charset="0"/>
              </a:rPr>
              <a:t>()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{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    // İstediğin başlangıç ayarları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    Name = "Varsayılan";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2412E421-6DD8-7351-F02A-8DEA43B8BAC7}"/>
              </a:ext>
            </a:extLst>
          </p:cNvPr>
          <p:cNvSpPr txBox="1"/>
          <p:nvPr/>
        </p:nvSpPr>
        <p:spPr>
          <a:xfrm>
            <a:off x="1320800" y="5217342"/>
            <a:ext cx="805179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MainForm.cs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senin yazdığın mantık</a:t>
            </a: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MainForm.Designer.cs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Designer’ın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oluşturduğu UI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ikisi de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Form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şeklinde aynı sınıfı paylaşır.</a:t>
            </a:r>
          </a:p>
        </p:txBody>
      </p:sp>
      <p:pic>
        <p:nvPicPr>
          <p:cNvPr id="11" name="Picture 2" descr="Hand Drawn Exclamation Mark Icons - Free SVG &amp; PNG Hand Drawn Exclamation  Mark Images - Noun Project">
            <a:extLst>
              <a:ext uri="{FF2B5EF4-FFF2-40B4-BE49-F238E27FC236}">
                <a16:creationId xmlns:a16="http://schemas.microsoft.com/office/drawing/2014/main" id="{46C0F5C6-DC5E-8290-F5DD-D0CD03484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56" y="5129534"/>
            <a:ext cx="1041815" cy="104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873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A358-88F5-642D-5DC5-DAA05AA71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CB10AA8B-43DC-CC0D-1686-FB15CA19D87C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7C1C440E-C8EC-BCBB-005F-74F8B5528F92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içinde neler olur?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tipik olarak şu adımları içerir: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 örneklerinin oluşturulması (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DataGridView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…)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Özelliklerin atanması (Name,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Size,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SuspendLayout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çoklu yerleşim hesaplarını askıya alma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 bağlama (genelde Designer ekler)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Controls.Add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(...) ile hiyerarşiye ekleme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ResumeLayout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gerekirse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PerformLayout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05CD496-7D62-3DD8-0FC8-81FE2368EAAE}"/>
              </a:ext>
            </a:extLst>
          </p:cNvPr>
          <p:cNvSpPr txBox="1"/>
          <p:nvPr/>
        </p:nvSpPr>
        <p:spPr>
          <a:xfrm>
            <a:off x="4302657" y="3505200"/>
            <a:ext cx="7565923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private</a:t>
            </a:r>
            <a:r>
              <a:rPr lang="tr-TR" sz="1400" dirty="0">
                <a:latin typeface="Consolas" panose="020B0609020204030204" pitchFamily="49" charset="0"/>
              </a:rPr>
              <a:t> </a:t>
            </a:r>
            <a:r>
              <a:rPr lang="tr-TR" sz="1400" dirty="0" err="1">
                <a:latin typeface="Consolas" panose="020B0609020204030204" pitchFamily="49" charset="0"/>
              </a:rPr>
              <a:t>void</a:t>
            </a:r>
            <a:r>
              <a:rPr lang="tr-TR" sz="1400" dirty="0">
                <a:latin typeface="Consolas" panose="020B0609020204030204" pitchFamily="49" charset="0"/>
              </a:rPr>
              <a:t> </a:t>
            </a:r>
            <a:r>
              <a:rPr lang="tr-TR" sz="1400" dirty="0" err="1">
                <a:latin typeface="Consolas" panose="020B0609020204030204" pitchFamily="49" charset="0"/>
              </a:rPr>
              <a:t>InitializeComponent</a:t>
            </a:r>
            <a:r>
              <a:rPr lang="tr-TR" sz="1400" dirty="0"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tr-TR" sz="1400" dirty="0"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this.btnKaydet</a:t>
            </a:r>
            <a:r>
              <a:rPr lang="tr-TR" sz="1400" dirty="0">
                <a:latin typeface="Consolas" panose="020B0609020204030204" pitchFamily="49" charset="0"/>
              </a:rPr>
              <a:t> = </a:t>
            </a:r>
            <a:r>
              <a:rPr lang="tr-TR" sz="1400" dirty="0" err="1">
                <a:latin typeface="Consolas" panose="020B0609020204030204" pitchFamily="49" charset="0"/>
              </a:rPr>
              <a:t>new</a:t>
            </a:r>
            <a:r>
              <a:rPr lang="tr-TR" sz="1400" dirty="0">
                <a:latin typeface="Consolas" panose="020B0609020204030204" pitchFamily="49" charset="0"/>
              </a:rPr>
              <a:t> </a:t>
            </a:r>
            <a:r>
              <a:rPr lang="tr-TR" sz="1400" dirty="0" err="1">
                <a:latin typeface="Consolas" panose="020B0609020204030204" pitchFamily="49" charset="0"/>
              </a:rPr>
              <a:t>System.Windows.Forms.Button</a:t>
            </a:r>
            <a:r>
              <a:rPr lang="tr-TR" sz="1400" dirty="0"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this.SuspendLayout</a:t>
            </a:r>
            <a:r>
              <a:rPr lang="tr-TR" sz="1400" dirty="0"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tr-TR" sz="1400" dirty="0">
                <a:latin typeface="Consolas" panose="020B0609020204030204" pitchFamily="49" charset="0"/>
              </a:rPr>
              <a:t>// </a:t>
            </a:r>
            <a:r>
              <a:rPr lang="tr-TR" sz="1400" dirty="0" err="1">
                <a:latin typeface="Consolas" panose="020B0609020204030204" pitchFamily="49" charset="0"/>
              </a:rPr>
              <a:t>btnKaydet</a:t>
            </a:r>
            <a:endParaRPr lang="tr-TR" sz="1400" dirty="0">
              <a:latin typeface="Consolas" panose="020B0609020204030204" pitchFamily="49" charset="0"/>
            </a:endParaRP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this.btnKaydet.Name</a:t>
            </a:r>
            <a:r>
              <a:rPr lang="tr-TR" sz="1400" dirty="0">
                <a:latin typeface="Consolas" panose="020B0609020204030204" pitchFamily="49" charset="0"/>
              </a:rPr>
              <a:t> = "</a:t>
            </a:r>
            <a:r>
              <a:rPr lang="tr-TR" sz="1400" dirty="0" err="1">
                <a:latin typeface="Consolas" panose="020B0609020204030204" pitchFamily="49" charset="0"/>
              </a:rPr>
              <a:t>btnKaydet</a:t>
            </a:r>
            <a:r>
              <a:rPr lang="tr-TR" sz="1400" dirty="0">
                <a:latin typeface="Consolas" panose="020B0609020204030204" pitchFamily="49" charset="0"/>
              </a:rPr>
              <a:t>";</a:t>
            </a: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this.btnKaydet.Text</a:t>
            </a:r>
            <a:r>
              <a:rPr lang="tr-TR" sz="1400" dirty="0">
                <a:latin typeface="Consolas" panose="020B0609020204030204" pitchFamily="49" charset="0"/>
              </a:rPr>
              <a:t> = "Kaydet";</a:t>
            </a: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this.btnKaydet.Click</a:t>
            </a:r>
            <a:r>
              <a:rPr lang="tr-TR" sz="1400" dirty="0">
                <a:latin typeface="Consolas" panose="020B0609020204030204" pitchFamily="49" charset="0"/>
              </a:rPr>
              <a:t> += </a:t>
            </a:r>
            <a:r>
              <a:rPr lang="tr-TR" sz="1400" dirty="0" err="1">
                <a:latin typeface="Consolas" panose="020B0609020204030204" pitchFamily="49" charset="0"/>
              </a:rPr>
              <a:t>new</a:t>
            </a:r>
            <a:r>
              <a:rPr lang="tr-TR" sz="1400" dirty="0">
                <a:latin typeface="Consolas" panose="020B0609020204030204" pitchFamily="49" charset="0"/>
              </a:rPr>
              <a:t> </a:t>
            </a:r>
            <a:r>
              <a:rPr lang="tr-TR" sz="1400" dirty="0" err="1">
                <a:latin typeface="Consolas" panose="020B0609020204030204" pitchFamily="49" charset="0"/>
              </a:rPr>
              <a:t>System.EventHandler</a:t>
            </a:r>
            <a:r>
              <a:rPr lang="tr-TR" sz="1400" dirty="0">
                <a:latin typeface="Consolas" panose="020B0609020204030204" pitchFamily="49" charset="0"/>
              </a:rPr>
              <a:t>(</a:t>
            </a:r>
            <a:r>
              <a:rPr lang="tr-TR" sz="1400" dirty="0" err="1">
                <a:latin typeface="Consolas" panose="020B0609020204030204" pitchFamily="49" charset="0"/>
              </a:rPr>
              <a:t>this.btnKaydet_Click</a:t>
            </a:r>
            <a:r>
              <a:rPr lang="tr-TR" sz="1400" dirty="0"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tr-TR" sz="1400" dirty="0">
                <a:latin typeface="Consolas" panose="020B0609020204030204" pitchFamily="49" charset="0"/>
              </a:rPr>
              <a:t>// Form</a:t>
            </a: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this.Controls.Add</a:t>
            </a:r>
            <a:r>
              <a:rPr lang="tr-TR" sz="1400" dirty="0">
                <a:latin typeface="Consolas" panose="020B0609020204030204" pitchFamily="49" charset="0"/>
              </a:rPr>
              <a:t>(</a:t>
            </a:r>
            <a:r>
              <a:rPr lang="tr-TR" sz="1400" dirty="0" err="1">
                <a:latin typeface="Consolas" panose="020B0609020204030204" pitchFamily="49" charset="0"/>
              </a:rPr>
              <a:t>this.btnKaydet</a:t>
            </a:r>
            <a:r>
              <a:rPr lang="tr-TR" sz="1400" dirty="0"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tr-TR" sz="1400" dirty="0" err="1">
                <a:latin typeface="Consolas" panose="020B0609020204030204" pitchFamily="49" charset="0"/>
              </a:rPr>
              <a:t>this.ResumeLayout</a:t>
            </a:r>
            <a:r>
              <a:rPr lang="tr-TR" sz="1400" dirty="0">
                <a:latin typeface="Consolas" panose="020B0609020204030204" pitchFamily="49" charset="0"/>
              </a:rPr>
              <a:t>(</a:t>
            </a:r>
            <a:r>
              <a:rPr lang="tr-TR" sz="1400" dirty="0" err="1">
                <a:latin typeface="Consolas" panose="020B0609020204030204" pitchFamily="49" charset="0"/>
              </a:rPr>
              <a:t>false</a:t>
            </a:r>
            <a:r>
              <a:rPr lang="tr-TR" sz="1400" dirty="0"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tr-TR" sz="14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Picture 2" descr="Hand Drawn Exclamation Mark Icons - Free SVG &amp; PNG Hand Drawn Exclamation  Mark Images - Noun Project">
            <a:extLst>
              <a:ext uri="{FF2B5EF4-FFF2-40B4-BE49-F238E27FC236}">
                <a16:creationId xmlns:a16="http://schemas.microsoft.com/office/drawing/2014/main" id="{785456B4-2607-E656-39A0-172D8EA82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271" y="389152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662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8501-B459-66EE-32B9-44B9596A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C3C6810D-EACB-2B50-F876-A56D1E34BFB0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EA3946CC-436D-C5BF-40FE-EE39E073F58A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Handler’ları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nerede tanımlamalı?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Tercih: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MainForm.cs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içinde.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Designer,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btnKaydet.Click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... satırını üretir; karşılığı olan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btnKaydet_Click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metodu senin dosyanda bulunur: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8F780E8-6647-21F6-2A66-491821368E48}"/>
              </a:ext>
            </a:extLst>
          </p:cNvPr>
          <p:cNvSpPr txBox="1"/>
          <p:nvPr/>
        </p:nvSpPr>
        <p:spPr>
          <a:xfrm>
            <a:off x="1632028" y="2424875"/>
            <a:ext cx="9282715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sz="2000" dirty="0" err="1">
                <a:latin typeface="Consolas" panose="020B0609020204030204" pitchFamily="49" charset="0"/>
              </a:rPr>
              <a:t>private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void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btnKaydet_Click</a:t>
            </a:r>
            <a:r>
              <a:rPr lang="tr-TR" sz="2000" dirty="0">
                <a:latin typeface="Consolas" panose="020B0609020204030204" pitchFamily="49" charset="0"/>
              </a:rPr>
              <a:t>(</a:t>
            </a:r>
            <a:r>
              <a:rPr lang="tr-TR" sz="2000" dirty="0" err="1">
                <a:latin typeface="Consolas" panose="020B0609020204030204" pitchFamily="49" charset="0"/>
              </a:rPr>
              <a:t>object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sender</a:t>
            </a:r>
            <a:r>
              <a:rPr lang="tr-TR" sz="2000" dirty="0">
                <a:latin typeface="Consolas" panose="020B0609020204030204" pitchFamily="49" charset="0"/>
              </a:rPr>
              <a:t>, </a:t>
            </a:r>
            <a:r>
              <a:rPr lang="tr-TR" sz="2000" dirty="0" err="1">
                <a:latin typeface="Consolas" panose="020B0609020204030204" pitchFamily="49" charset="0"/>
              </a:rPr>
              <a:t>EventArgs</a:t>
            </a:r>
            <a:r>
              <a:rPr lang="tr-TR" sz="2000" dirty="0">
                <a:latin typeface="Consolas" panose="020B0609020204030204" pitchFamily="49" charset="0"/>
              </a:rPr>
              <a:t> e)</a:t>
            </a:r>
          </a:p>
          <a:p>
            <a:r>
              <a:rPr lang="tr-TR" sz="2000" dirty="0">
                <a:latin typeface="Consolas" panose="020B0609020204030204" pitchFamily="49" charset="0"/>
              </a:rPr>
              <a:t>{</a:t>
            </a:r>
          </a:p>
          <a:p>
            <a:r>
              <a:rPr lang="tr-TR" sz="2000" dirty="0">
                <a:latin typeface="Consolas" panose="020B0609020204030204" pitchFamily="49" charset="0"/>
              </a:rPr>
              <a:t>// doğrulama + iş mantığı</a:t>
            </a:r>
          </a:p>
          <a:p>
            <a:r>
              <a:rPr lang="tr-TR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504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141F-7353-B89B-DD4E-CAF3AB38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CE01A1D1-05FB-B971-C917-804D930E5F01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8760D911-6970-AC0F-2277-6279EB088ED6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Kaynaklar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ve Ayarlar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Resources.resx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Görüntüler, metinler, ses dosyaları…</a:t>
            </a:r>
            <a:b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Erişim: pictureBox1.Image =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Properties.Resources.Logo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Settings.settings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Kullanıcı/uygulama ayarları.</a:t>
            </a:r>
            <a:b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Okuma/Yazma: </a:t>
            </a:r>
          </a:p>
          <a:p>
            <a:pPr marL="201168" lvl="1" indent="0">
              <a:buNone/>
            </a:pP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Properties.Settings.Default.KullaniciAdi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"ali"; </a:t>
            </a:r>
          </a:p>
          <a:p>
            <a:pPr marL="201168" lvl="1" indent="0">
              <a:buNone/>
            </a:pP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Properties.Settings.Default.Save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Form.resx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Her forma özel yerelleştirilebilir kaynaklar (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Localizable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 ile kültüre bağlı metinler).</a:t>
            </a:r>
          </a:p>
        </p:txBody>
      </p:sp>
    </p:spTree>
    <p:extLst>
      <p:ext uri="{BB962C8B-B14F-4D97-AF65-F5344CB8AC3E}">
        <p14:creationId xmlns:p14="http://schemas.microsoft.com/office/powerpoint/2010/main" val="2935808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0713-D418-158F-8052-08D007D9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EF7DBF57-9FFF-5798-DDFB-15B239CE71F9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 : </a:t>
            </a:r>
            <a:r>
              <a:rPr lang="tr-T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Yapısı </a:t>
            </a:r>
            <a:endParaRPr lang="tr-TR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B7C87178-E35A-58C3-1F21-956B601F6830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Yapılandırma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(Opsiyonel)</a:t>
            </a:r>
          </a:p>
          <a:p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App.config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(Framework)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veya 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appsettings.json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(modern .NET)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içinde bağlantı dizgileri ve anahtarlar tutabilirsin.</a:t>
            </a: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3211007D-E275-74DA-D595-2D1F63700E9C}"/>
              </a:ext>
            </a:extLst>
          </p:cNvPr>
          <p:cNvSpPr txBox="1"/>
          <p:nvPr/>
        </p:nvSpPr>
        <p:spPr>
          <a:xfrm>
            <a:off x="2094270" y="1806891"/>
            <a:ext cx="7536425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dirty="0">
                <a:latin typeface="Consolas" panose="020B0609020204030204" pitchFamily="49" charset="0"/>
              </a:rPr>
              <a:t>&lt;!-- </a:t>
            </a:r>
            <a:r>
              <a:rPr lang="tr-TR" dirty="0" err="1">
                <a:latin typeface="Consolas" panose="020B0609020204030204" pitchFamily="49" charset="0"/>
              </a:rPr>
              <a:t>App.config</a:t>
            </a:r>
            <a:r>
              <a:rPr lang="tr-TR" dirty="0">
                <a:latin typeface="Consolas" panose="020B0609020204030204" pitchFamily="49" charset="0"/>
              </a:rPr>
              <a:t> örneği --&gt;</a:t>
            </a:r>
          </a:p>
          <a:p>
            <a:pPr>
              <a:buNone/>
            </a:pP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configuration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appSettings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add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key</a:t>
            </a:r>
            <a:r>
              <a:rPr lang="tr-TR" dirty="0">
                <a:latin typeface="Consolas" panose="020B0609020204030204" pitchFamily="49" charset="0"/>
              </a:rPr>
              <a:t>="</a:t>
            </a:r>
            <a:r>
              <a:rPr lang="tr-TR" dirty="0" err="1">
                <a:latin typeface="Consolas" panose="020B0609020204030204" pitchFamily="49" charset="0"/>
              </a:rPr>
              <a:t>ApiBaseUrl</a:t>
            </a:r>
            <a:r>
              <a:rPr lang="tr-TR" dirty="0">
                <a:latin typeface="Consolas" panose="020B0609020204030204" pitchFamily="49" charset="0"/>
              </a:rPr>
              <a:t>" </a:t>
            </a:r>
            <a:r>
              <a:rPr lang="tr-TR" dirty="0" err="1">
                <a:latin typeface="Consolas" panose="020B0609020204030204" pitchFamily="49" charset="0"/>
              </a:rPr>
              <a:t>value</a:t>
            </a:r>
            <a:r>
              <a:rPr lang="tr-TR" dirty="0">
                <a:latin typeface="Consolas" panose="020B0609020204030204" pitchFamily="49" charset="0"/>
              </a:rPr>
              <a:t>="https://api.example.com" /&gt;</a:t>
            </a:r>
          </a:p>
          <a:p>
            <a:pPr>
              <a:buNone/>
            </a:pPr>
            <a:r>
              <a:rPr lang="tr-TR" dirty="0">
                <a:latin typeface="Consolas" panose="020B0609020204030204" pitchFamily="49" charset="0"/>
              </a:rPr>
              <a:t>&lt;/</a:t>
            </a:r>
            <a:r>
              <a:rPr lang="tr-TR" dirty="0" err="1">
                <a:latin typeface="Consolas" panose="020B0609020204030204" pitchFamily="49" charset="0"/>
              </a:rPr>
              <a:t>appSettings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tr-TR" dirty="0">
                <a:latin typeface="Consolas" panose="020B0609020204030204" pitchFamily="49" charset="0"/>
              </a:rPr>
              <a:t>&lt;/</a:t>
            </a:r>
            <a:r>
              <a:rPr lang="tr-TR" dirty="0" err="1">
                <a:latin typeface="Consolas" panose="020B0609020204030204" pitchFamily="49" charset="0"/>
              </a:rPr>
              <a:t>configuration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39603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ADIM 1: Visual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Studio'da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yeni bir projenin oluşturulması. Visual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Studio'yu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başlattıktan sonra, Dosya-&gt;Yeni-&gt;Proje seçtikten sonra aşağıda açılan ekrandaki liste kutusundan sırasıyla C#, Windows ve Masaüstü seçeneklerini filtreleyerek Windows Forms Uygulaması (.NET Framework) işaretleyerek ilerliyoruz.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8543D27-9C36-4C6E-8E64-866FE6798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16" y="1678099"/>
            <a:ext cx="7316187" cy="4933159"/>
          </a:xfrm>
          <a:prstGeom prst="rect">
            <a:avLst/>
          </a:prstGeom>
        </p:spPr>
      </p:pic>
      <p:pic>
        <p:nvPicPr>
          <p:cNvPr id="2052" name="Picture 4" descr="Download Highlight Free PNG HQ HQ PNG Image | FreePNGImg">
            <a:extLst>
              <a:ext uri="{FF2B5EF4-FFF2-40B4-BE49-F238E27FC236}">
                <a16:creationId xmlns:a16="http://schemas.microsoft.com/office/drawing/2014/main" id="{9313972B-53F9-480B-AD04-3F82D4E60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165" y="2235200"/>
            <a:ext cx="4346938" cy="67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ownload Highlight Free PNG HQ HQ PNG Image | FreePNGImg">
            <a:extLst>
              <a:ext uri="{FF2B5EF4-FFF2-40B4-BE49-F238E27FC236}">
                <a16:creationId xmlns:a16="http://schemas.microsoft.com/office/drawing/2014/main" id="{C905C695-308D-45AD-AAF9-BDF8E8523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530" y="3258207"/>
            <a:ext cx="4346938" cy="109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Download Highlight Free PNG HQ HQ PNG Image | FreePNGImg">
            <a:extLst>
              <a:ext uri="{FF2B5EF4-FFF2-40B4-BE49-F238E27FC236}">
                <a16:creationId xmlns:a16="http://schemas.microsoft.com/office/drawing/2014/main" id="{05F3C2C8-DDF2-44EE-87B1-89B7601C4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25" y="5970031"/>
            <a:ext cx="956443" cy="41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554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A9006ADE-2CE6-41B2-B5B4-B4D97BF8B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932" y="997401"/>
            <a:ext cx="8377897" cy="5461273"/>
          </a:xfrm>
          <a:prstGeom prst="rect">
            <a:avLst/>
          </a:prstGeom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ADIM 2: Projenin adını ve konumunu belirliyoruz. 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Başlıyoruz! 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4" descr="Download Highlight Free PNG HQ HQ PNG Image | FreePNGImg">
            <a:extLst>
              <a:ext uri="{FF2B5EF4-FFF2-40B4-BE49-F238E27FC236}">
                <a16:creationId xmlns:a16="http://schemas.microsoft.com/office/drawing/2014/main" id="{E904F550-A46E-4490-ABCD-FDE16A310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386" y="5999374"/>
            <a:ext cx="956443" cy="41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Download Highlight Free PNG HQ HQ PNG Image | FreePNGImg">
            <a:extLst>
              <a:ext uri="{FF2B5EF4-FFF2-40B4-BE49-F238E27FC236}">
                <a16:creationId xmlns:a16="http://schemas.microsoft.com/office/drawing/2014/main" id="{7E47CCCD-2726-4B80-901C-4DD93A5F6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415" y="2382620"/>
            <a:ext cx="956443" cy="41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Download Highlight Free PNG HQ HQ PNG Image | FreePNGImg">
            <a:extLst>
              <a:ext uri="{FF2B5EF4-FFF2-40B4-BE49-F238E27FC236}">
                <a16:creationId xmlns:a16="http://schemas.microsoft.com/office/drawing/2014/main" id="{8EDB27C0-C770-4C42-B10A-1B578164A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408" y="3008219"/>
            <a:ext cx="2139357" cy="41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894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ADIM 3: Form ekranı açılıyor. 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A061B21-B6E6-4907-9EE5-A312DC0F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85" y="1010163"/>
            <a:ext cx="11345858" cy="5220429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FA35597-E865-4579-9437-43CE1BC5573A}"/>
              </a:ext>
            </a:extLst>
          </p:cNvPr>
          <p:cNvSpPr txBox="1"/>
          <p:nvPr/>
        </p:nvSpPr>
        <p:spPr>
          <a:xfrm>
            <a:off x="3760839" y="3059668"/>
            <a:ext cx="1513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FORM EKRANI</a:t>
            </a:r>
          </a:p>
        </p:txBody>
      </p:sp>
    </p:spTree>
    <p:extLst>
      <p:ext uri="{BB962C8B-B14F-4D97-AF65-F5344CB8AC3E}">
        <p14:creationId xmlns:p14="http://schemas.microsoft.com/office/powerpoint/2010/main" val="41462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Çözüm (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tr-TR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penceresinde WindowsFormsApp1 bulunmakta. 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çözüm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dosyasını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içerecektir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Forms1.cs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adlı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uygulaması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dosya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Windows Form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uygulamasının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tüm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kodunu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içerecektir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Program.cs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adlı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(ana)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program, Visual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Studio'da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uygulama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oluşturulduğunda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oluşturulan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varsayılan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dosyasıdır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uygulamanın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başlangıç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kodunu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içerecektir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Studio'nun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 tarafında ayrıca bir Araç Kutusu mevcut.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Araç kutusu, bir Windows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Forms'a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eklenebilecek tüm kontrolleri içerir.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Metin kutusu veya etiket gibi denetimler, Windows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Forms'a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eklenebilecek denetimlerden yalnızca birkaçıdır. Aşağıda, Araç Kutusunun nasıl göründüğünün bir ekran görüntüsü bulunmaktadır:</a:t>
            </a:r>
          </a:p>
        </p:txBody>
      </p:sp>
    </p:spTree>
    <p:extLst>
      <p:ext uri="{BB962C8B-B14F-4D97-AF65-F5344CB8AC3E}">
        <p14:creationId xmlns:p14="http://schemas.microsoft.com/office/powerpoint/2010/main" val="148991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80022E5-71AD-4AE6-AF39-3C177BAA8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30" y="599680"/>
            <a:ext cx="6115904" cy="565864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47971B1F-C3EE-469B-B808-5C24922A8901}"/>
              </a:ext>
            </a:extLst>
          </p:cNvPr>
          <p:cNvSpPr txBox="1"/>
          <p:nvPr/>
        </p:nvSpPr>
        <p:spPr>
          <a:xfrm>
            <a:off x="6482536" y="599680"/>
            <a:ext cx="56014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adım olarak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Form’a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World" yazacak bir etiket ekleyeceğiz. </a:t>
            </a:r>
          </a:p>
          <a:p>
            <a:pPr algn="just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Araç kutusundan, Etiket (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kontrolünü seçmeniz ve bunu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Form'a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sürüklemeniz gerekir.</a:t>
            </a:r>
          </a:p>
        </p:txBody>
      </p:sp>
    </p:spTree>
    <p:extLst>
      <p:ext uri="{BB962C8B-B14F-4D97-AF65-F5344CB8AC3E}">
        <p14:creationId xmlns:p14="http://schemas.microsoft.com/office/powerpoint/2010/main" val="1295069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ADIM 4: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ekleyerek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World yazıyoruz. Bunun için etiketin sağına tıklayıp özellikler kısmından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metnini güncelleyebiliriz. Bir diğer yol ise sa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ğ alt köşedeki özellik penceresinden bu işlemi yapabiliriz. 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42364D2B-D432-4A22-88DB-842744E8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40" y="1279239"/>
            <a:ext cx="9664659" cy="4951353"/>
          </a:xfrm>
          <a:prstGeom prst="rect">
            <a:avLst/>
          </a:prstGeom>
        </p:spPr>
      </p:pic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373ED2B6-0D95-44AA-A814-D4E02DEBDFBF}"/>
              </a:ext>
            </a:extLst>
          </p:cNvPr>
          <p:cNvCxnSpPr/>
          <p:nvPr/>
        </p:nvCxnSpPr>
        <p:spPr>
          <a:xfrm flipV="1">
            <a:off x="2079523" y="2979174"/>
            <a:ext cx="3038167" cy="7669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914D6157-342F-46F2-9470-6FF3749501C1}"/>
              </a:ext>
            </a:extLst>
          </p:cNvPr>
          <p:cNvCxnSpPr>
            <a:cxnSpLocks/>
          </p:cNvCxnSpPr>
          <p:nvPr/>
        </p:nvCxnSpPr>
        <p:spPr>
          <a:xfrm>
            <a:off x="5736769" y="3099619"/>
            <a:ext cx="3392483" cy="2372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28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ADIM 5: Ekran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World yazmakta.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için istenilen görsel ayarlamalar yine aynı pencere altındaki menülerden yapılabilir. Örneğin burada mevcut font için font boyutu 25 olarak ayarlanmıştır. 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585FF4F-E4D4-4C8B-80FF-08531B98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310" y="1345952"/>
            <a:ext cx="9917408" cy="502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55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Aşağıdaki işlevselliğe sahip olacak bir C# form ekranı oluşturacağız. 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tr-TR" sz="2000" b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 ve adres girebileceği (elle girilecek)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ikamet ettiği şehri seçebileceği (seçerek)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cinsiyet için seçenek girebileceği (seçerek)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almak istediği bir kursu seçebileceği. (seçerek)</a:t>
            </a:r>
          </a:p>
          <a:p>
            <a:pPr marL="201168" lvl="1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673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" y="627408"/>
            <a:ext cx="4273932" cy="3295663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tr-TR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tr-TR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01168" lvl="1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bir arada tutmak istediğimiz özellikler için kullandığımız bir araçtır. </a:t>
            </a:r>
          </a:p>
          <a:p>
            <a:pPr marL="201168" lvl="1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Araçlar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menüsünden forma bir </a:t>
            </a:r>
            <a:r>
              <a:rPr lang="tr-TR" sz="2000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sürüklüyoruz ve </a:t>
            </a:r>
            <a:r>
              <a:rPr lang="tr-TR" sz="2000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Özellikler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menüsünden istediğimiz biçimde ayarlıyoruz.</a:t>
            </a:r>
            <a:endParaRPr lang="tr-TR" sz="2000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9F79E21-27AE-4DC1-859A-CB139595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934" y="627408"/>
            <a:ext cx="7810038" cy="4593522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AC29510F-4939-4595-AD09-1F5DB4B259CF}"/>
              </a:ext>
            </a:extLst>
          </p:cNvPr>
          <p:cNvSpPr/>
          <p:nvPr/>
        </p:nvSpPr>
        <p:spPr>
          <a:xfrm>
            <a:off x="9291483" y="3923071"/>
            <a:ext cx="2128811" cy="3392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3067E66-3F57-42CE-9187-F7089BC969E0}"/>
              </a:ext>
            </a:extLst>
          </p:cNvPr>
          <p:cNvSpPr/>
          <p:nvPr/>
        </p:nvSpPr>
        <p:spPr>
          <a:xfrm>
            <a:off x="4273935" y="2607079"/>
            <a:ext cx="1654918" cy="283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4D736A7-A1AC-4B89-9305-5C0075977BC3}"/>
              </a:ext>
            </a:extLst>
          </p:cNvPr>
          <p:cNvSpPr/>
          <p:nvPr/>
        </p:nvSpPr>
        <p:spPr>
          <a:xfrm>
            <a:off x="6343624" y="1353463"/>
            <a:ext cx="2416917" cy="12536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8236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4110011" cy="55521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Etiket Kontrolü: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Etiket kontrolü, formda kullanıcıya bir metin veya mesaj görüntülemek için kullanılır.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Etiket kontrolü normalde diğer kontrollerle birlikte kullanılır. Yaygın örnekler, metin kutusu denetimiyle birlikte bir etiketin eklenmesidir.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örnek için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"isim" ve "adres" olarak isimlendireceğimiz iki tane </a:t>
            </a:r>
            <a:r>
              <a:rPr lang="tr-TR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ekleyeceğiz.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Kullanıcı bilgileri isimli grup kutusu içine bu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labelları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sürüklüyoruz ve Özellikler menüsünden isimlendiriyoruz. </a:t>
            </a:r>
            <a:endParaRPr lang="tr-TR" sz="2000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18F9E724-883F-489E-8658-8B75A0B28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371" y="613964"/>
            <a:ext cx="7768601" cy="5167403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A8F40BE6-2642-425B-BA43-99DB43ECC3E6}"/>
              </a:ext>
            </a:extLst>
          </p:cNvPr>
          <p:cNvSpPr/>
          <p:nvPr/>
        </p:nvSpPr>
        <p:spPr>
          <a:xfrm>
            <a:off x="9778180" y="4129548"/>
            <a:ext cx="2128811" cy="3392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A15C8BD-2F3E-49E6-BDF6-5CAF914A2FEC}"/>
              </a:ext>
            </a:extLst>
          </p:cNvPr>
          <p:cNvSpPr/>
          <p:nvPr/>
        </p:nvSpPr>
        <p:spPr>
          <a:xfrm>
            <a:off x="4344867" y="3587285"/>
            <a:ext cx="1115962" cy="276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A0A7A45-9AC1-498D-BE9D-B57974907920}"/>
              </a:ext>
            </a:extLst>
          </p:cNvPr>
          <p:cNvSpPr/>
          <p:nvPr/>
        </p:nvSpPr>
        <p:spPr>
          <a:xfrm>
            <a:off x="6871757" y="1512678"/>
            <a:ext cx="679417" cy="729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4173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4729443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Metin Kutusu (</a:t>
            </a:r>
            <a:r>
              <a:rPr lang="tr-TR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tr-TR" b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extbox</a:t>
            </a: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Windows uygulamasına C# ile metin girmesine izin vermek için metin kutusu kullanılır.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örnekte 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 2 adet </a:t>
            </a:r>
            <a:r>
              <a:rPr lang="tr-TR" sz="2000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textbox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ekleyeceğiz, biri </a:t>
            </a:r>
            <a:r>
              <a:rPr lang="tr-TR" sz="20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İsim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diğeri ise </a:t>
            </a:r>
            <a:r>
              <a:rPr lang="tr-TR" sz="20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alanı için.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NOT: 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bir metin kutusuna anlamlı bir isim verilmelidir. Örneğin, kullanıcının isim metin kutusunu </a:t>
            </a:r>
            <a:r>
              <a:rPr lang="tr-TR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txtName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adres için olanı </a:t>
            </a:r>
            <a:r>
              <a:rPr lang="tr-TR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txtAddress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olarak adlandırılabiliriz. Bunun nedeni kontrollere (daha sonra görecek olduğumuz) daha kolay fonksiyon eklemektir. </a:t>
            </a:r>
            <a:endParaRPr lang="tr-TR" sz="2000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243DA7E9-C8B8-40BE-AE1A-46A6BC3E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095" y="828312"/>
            <a:ext cx="7020905" cy="5201376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C84681CC-9C44-4399-B31A-7A2C0C745F30}"/>
              </a:ext>
            </a:extLst>
          </p:cNvPr>
          <p:cNvSpPr/>
          <p:nvPr/>
        </p:nvSpPr>
        <p:spPr>
          <a:xfrm>
            <a:off x="9955161" y="5102942"/>
            <a:ext cx="2128811" cy="3392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F2B8C5F-83D9-44CB-8E10-CF3EE33F9D0B}"/>
              </a:ext>
            </a:extLst>
          </p:cNvPr>
          <p:cNvSpPr/>
          <p:nvPr/>
        </p:nvSpPr>
        <p:spPr>
          <a:xfrm>
            <a:off x="8018333" y="1730477"/>
            <a:ext cx="1243654" cy="703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DFA6CA1-CF19-4A25-81B0-910990EB7F8D}"/>
              </a:ext>
            </a:extLst>
          </p:cNvPr>
          <p:cNvSpPr/>
          <p:nvPr/>
        </p:nvSpPr>
        <p:spPr>
          <a:xfrm>
            <a:off x="5277466" y="2600634"/>
            <a:ext cx="1017639" cy="3392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6182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4729443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 Kutusu (</a:t>
            </a:r>
            <a:r>
              <a:rPr lang="tr-TR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tr-TR" b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formundaki öğelerin bir listesini göstermek için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kullanılır. Bu örnekte bazı şehir konumlarını saklamak için forma bir liste kutusu ekleyeceğiz.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İlk olarak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listboxa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listCity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ismini verdik.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Daha sonra </a:t>
            </a:r>
            <a:r>
              <a:rPr lang="tr-TR" sz="20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(öğeler) özelliğine tıkladık. Bu özellik birden çok öğe girmemize imkan tanır. </a:t>
            </a:r>
            <a:r>
              <a:rPr lang="tr-TR" sz="20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(koleksiyon) öğesini seçtik ve açılan ekranda (</a:t>
            </a:r>
            <a:r>
              <a:rPr lang="tr-TR" sz="2000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editör) şehir isimlerini girdik. Tamam butonuna tıklayarak şehir girme işlemini sonlandırdık. 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AE7328E6-E73E-4F20-A5ED-2E2DD29513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21"/>
          <a:stretch/>
        </p:blipFill>
        <p:spPr>
          <a:xfrm>
            <a:off x="4769283" y="929640"/>
            <a:ext cx="7422717" cy="5300952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DA5170B0-E4F6-4C86-9C84-2B863BF16906}"/>
              </a:ext>
            </a:extLst>
          </p:cNvPr>
          <p:cNvSpPr/>
          <p:nvPr/>
        </p:nvSpPr>
        <p:spPr>
          <a:xfrm>
            <a:off x="9498726" y="4940710"/>
            <a:ext cx="2462216" cy="2949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2A5CC4E-11DE-4228-891C-E87229E9EF68}"/>
              </a:ext>
            </a:extLst>
          </p:cNvPr>
          <p:cNvSpPr/>
          <p:nvPr/>
        </p:nvSpPr>
        <p:spPr>
          <a:xfrm>
            <a:off x="4821411" y="2706054"/>
            <a:ext cx="1442229" cy="3114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75D4BE2-6FCA-40F3-A513-753BF7A63AB4}"/>
              </a:ext>
            </a:extLst>
          </p:cNvPr>
          <p:cNvSpPr/>
          <p:nvPr/>
        </p:nvSpPr>
        <p:spPr>
          <a:xfrm>
            <a:off x="7080536" y="2645418"/>
            <a:ext cx="1442229" cy="12407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8619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B402AFC-AD37-4E9A-B22F-3A84353541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75"/>
          <a:stretch/>
        </p:blipFill>
        <p:spPr>
          <a:xfrm>
            <a:off x="4207995" y="613965"/>
            <a:ext cx="7875977" cy="4957584"/>
          </a:xfrm>
          <a:prstGeom prst="rect">
            <a:avLst/>
          </a:prstGeom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4099967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Seçenek düğmesi </a:t>
            </a: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r>
              <a:rPr lang="tr-TR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aralarından birini seçebileceği öğelerin bir listesini göstermek için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tr-TR" sz="2000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adiobutton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kullanılır. </a:t>
            </a:r>
            <a:endParaRPr lang="tr-TR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örnekte cinsiyet seçimi için (erkek/kadın) </a:t>
            </a:r>
            <a:r>
              <a:rPr lang="tr-TR" sz="2000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ekleyeceğiz.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NOT: İlk olarak, Özellikler penceresinden radyo butonların metinleri (</a:t>
            </a:r>
            <a:r>
              <a:rPr lang="tr-TR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değiştirilir. Benzer şekilde, her iki radyo butonun program içerisinden erişilecek olan ismi de değiştirilir (</a:t>
            </a:r>
            <a:r>
              <a:rPr lang="tr-TR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özelliğinden).</a:t>
            </a:r>
            <a:endParaRPr lang="tr-TR" sz="2000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A5170B0-E4F6-4C86-9C84-2B863BF16906}"/>
              </a:ext>
            </a:extLst>
          </p:cNvPr>
          <p:cNvSpPr/>
          <p:nvPr/>
        </p:nvSpPr>
        <p:spPr>
          <a:xfrm>
            <a:off x="9999406" y="4586749"/>
            <a:ext cx="213858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F610BA2-2A59-4748-92BC-45939617763A}"/>
              </a:ext>
            </a:extLst>
          </p:cNvPr>
          <p:cNvSpPr/>
          <p:nvPr/>
        </p:nvSpPr>
        <p:spPr>
          <a:xfrm>
            <a:off x="9999406" y="2633100"/>
            <a:ext cx="213858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CBC23CF-D70B-4B97-BA81-6F4464D1AF0D}"/>
              </a:ext>
            </a:extLst>
          </p:cNvPr>
          <p:cNvSpPr/>
          <p:nvPr/>
        </p:nvSpPr>
        <p:spPr>
          <a:xfrm>
            <a:off x="4207995" y="1529634"/>
            <a:ext cx="213858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4EE5C3F5-96AC-4810-851D-E2E45B52C183}"/>
              </a:ext>
            </a:extLst>
          </p:cNvPr>
          <p:cNvSpPr/>
          <p:nvPr/>
        </p:nvSpPr>
        <p:spPr>
          <a:xfrm>
            <a:off x="7652235" y="1286450"/>
            <a:ext cx="1034565" cy="612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29715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CB53E4F9-8076-4F69-A234-6EF77C5AC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542" y="613965"/>
            <a:ext cx="7868458" cy="5507921"/>
          </a:xfrm>
          <a:prstGeom prst="rect">
            <a:avLst/>
          </a:prstGeom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4099967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Onay Kutusu (</a:t>
            </a:r>
            <a:r>
              <a:rPr lang="tr-TR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tr-TR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</a:t>
            </a:r>
            <a:endParaRPr lang="tr-TR" b="1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birden fazla seçenek seçebileceği bir seçenekler listesi sağlamak için onay kutusu kullanılır.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örnekte kullanıcının almak istediği kursları seçmek için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ekleyeceğiz. </a:t>
            </a:r>
            <a:endParaRPr lang="tr-TR" sz="2000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NOT: Bir seçeneğin varsayılan olarak onay kutusu işaretlemiş olması isteniyorsa, </a:t>
            </a:r>
            <a:r>
              <a:rPr lang="tr-TR" i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seçeneği </a:t>
            </a:r>
            <a:r>
              <a:rPr lang="tr-TR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olarak seçilmelidir. Bu işlem radyo buton için de aynı şekildedir. </a:t>
            </a:r>
            <a:endParaRPr lang="tr-TR" sz="2000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A5170B0-E4F6-4C86-9C84-2B863BF16906}"/>
              </a:ext>
            </a:extLst>
          </p:cNvPr>
          <p:cNvSpPr/>
          <p:nvPr/>
        </p:nvSpPr>
        <p:spPr>
          <a:xfrm>
            <a:off x="9453715" y="3988925"/>
            <a:ext cx="213858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4FEA65A-3B57-45AA-95F9-9980E2B767C0}"/>
              </a:ext>
            </a:extLst>
          </p:cNvPr>
          <p:cNvSpPr/>
          <p:nvPr/>
        </p:nvSpPr>
        <p:spPr>
          <a:xfrm>
            <a:off x="4354022" y="1623510"/>
            <a:ext cx="1665778" cy="327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6CC15DD-58E2-4C52-82EF-511B51A4B21F}"/>
              </a:ext>
            </a:extLst>
          </p:cNvPr>
          <p:cNvSpPr/>
          <p:nvPr/>
        </p:nvSpPr>
        <p:spPr>
          <a:xfrm>
            <a:off x="7061035" y="2541124"/>
            <a:ext cx="1046645" cy="1146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2117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6CBFE59-0E0D-4DE8-AF2F-E4D5B3507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845" y="531030"/>
            <a:ext cx="8397080" cy="4778390"/>
          </a:xfrm>
          <a:prstGeom prst="rect">
            <a:avLst/>
          </a:prstGeom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Forma Kontroller Ekleme – Örnek Uygulama Üzerinden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3505327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Düğme / Buton (</a:t>
            </a:r>
            <a:r>
              <a:rPr lang="tr-TR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tr-TR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</a:t>
            </a:r>
            <a:endParaRPr lang="tr-TR" b="1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Kullanıcının formun işlenmesini başlatacak bir düğmeyi tıklamasına izin vermek için buton kullanılır. </a:t>
            </a:r>
          </a:p>
          <a:p>
            <a:pPr marL="0" indent="0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örnekte </a:t>
            </a:r>
            <a:r>
              <a:rPr lang="tr-TR" sz="20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formdaki tüm bilgileri göndermek için kullanılacak olan 'Kaydet’ adında basit bir buton ekleyeceğiz.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A5170B0-E4F6-4C86-9C84-2B863BF16906}"/>
              </a:ext>
            </a:extLst>
          </p:cNvPr>
          <p:cNvSpPr/>
          <p:nvPr/>
        </p:nvSpPr>
        <p:spPr>
          <a:xfrm>
            <a:off x="9861695" y="2536769"/>
            <a:ext cx="213858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DE94A29-86DB-4D34-B9FE-4AE67F333442}"/>
              </a:ext>
            </a:extLst>
          </p:cNvPr>
          <p:cNvSpPr/>
          <p:nvPr/>
        </p:nvSpPr>
        <p:spPr>
          <a:xfrm>
            <a:off x="9861695" y="4355737"/>
            <a:ext cx="213858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988B980-E5C7-4642-AB0A-7B263E06FE32}"/>
              </a:ext>
            </a:extLst>
          </p:cNvPr>
          <p:cNvSpPr/>
          <p:nvPr/>
        </p:nvSpPr>
        <p:spPr>
          <a:xfrm>
            <a:off x="6997916" y="2352415"/>
            <a:ext cx="121694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E50ABA1-D8A3-4447-9DEE-9EE335A40AED}"/>
              </a:ext>
            </a:extLst>
          </p:cNvPr>
          <p:cNvSpPr txBox="1"/>
          <p:nvPr/>
        </p:nvSpPr>
        <p:spPr>
          <a:xfrm>
            <a:off x="24331" y="5466819"/>
            <a:ext cx="12123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Artık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ilk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temel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hazır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Şimdi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ontroller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tr-TR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ontrols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işlemeyi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nasıl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yapabileceğimi</a:t>
            </a:r>
            <a:r>
              <a:rPr lang="tr-TR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</a:t>
            </a:r>
            <a:r>
              <a:rPr lang="tr-TR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görelim. 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3B37975-FF24-4C67-BD17-E65ACFF853F0}"/>
              </a:ext>
            </a:extLst>
          </p:cNvPr>
          <p:cNvSpPr/>
          <p:nvPr/>
        </p:nvSpPr>
        <p:spPr>
          <a:xfrm>
            <a:off x="3919436" y="1024808"/>
            <a:ext cx="1216940" cy="309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82940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Kontroller için C# Olay İşleme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formuyla çalışırken, kontrollere olaylar (</a:t>
            </a:r>
            <a:r>
              <a:rPr lang="tr-TR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ekleyebilirsiniz.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Olay (</a:t>
            </a:r>
            <a:r>
              <a:rPr lang="tr-TR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bir eylem gerçekleştirildiğinde gerçekleşen bir durumdur.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yaygın eylem, bir formdaki bir butona tıklamaktır. C# Windows </a:t>
            </a:r>
            <a:r>
              <a:rPr lang="tr-TR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Forms'da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formda bir düğmeye basıldığında belirli eylemleri gerçekleştirmek için kullanılabilecek kod ekleyebilirsiniz.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Örnekte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tr-TR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istbox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kontrolü için bir olay gerçekleştirilecektir. Yani </a:t>
            </a:r>
            <a:r>
              <a:rPr lang="tr-TR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listbox’tan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bir öğe seçildiğinde seçilen öğeyi gösteren bir mesaj kutusu açılması için ne yapılabilir?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Adım 1: Form ekranında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listbox'a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çift tıklıyoruz. Bu durumda, Visual </a:t>
            </a:r>
            <a:r>
              <a:rPr lang="tr-TR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formun kod dosyasını otomatik olarak açacaktır ve otomatik olarak koda bir olay metodu ekleyecektir. Bu olay metodu, liste kutusundaki herhangi bir öğe seçildiğinde tetiklenir.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5C64F988-53F7-437B-8FFB-98844C3C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355" y="4525200"/>
            <a:ext cx="8370704" cy="131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01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Kontroller için C# Olay İşleme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Adım 2: Liste kutusu olayına gerekli işlevselliği eklemek için bu kod parçacığına aşağıdaki kod bölümünü eklemek gerekir.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b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Burada 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listCity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kontrolümüzün adı ve seçilen liste </a:t>
            </a:r>
            <a:r>
              <a:rPr lang="tr-TR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öğesini (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SelectedItem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listCity</a:t>
            </a:r>
            <a:r>
              <a:rPr lang="tr-TR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SelectedItem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özelliği aracılığıyla alıyoruz.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Ardından, seçilen öğenin gerçek değerini almak için 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GetItemText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yöntemini kullanırız. Daha sonra bu değeri 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değişkenine atarız.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 olarak, metin değişkeni değerini kullanıcıya göstermek için </a:t>
            </a:r>
            <a:r>
              <a:rPr lang="tr-TR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tr-TR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yöntemini kullanıyoruz.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F1D6A77-DF7B-4C76-A519-FCBD0B17D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35" y="1150374"/>
            <a:ext cx="8111111" cy="153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8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Kontroller için C# Olay İşleme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9AFC05AB-0DDC-4CFF-B8A9-7014AA56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45" y="731951"/>
            <a:ext cx="6498239" cy="508612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E8D749E-E986-4D4F-B77F-EB282E3D5A8D}"/>
              </a:ext>
            </a:extLst>
          </p:cNvPr>
          <p:cNvSpPr txBox="1"/>
          <p:nvPr/>
        </p:nvSpPr>
        <p:spPr>
          <a:xfrm>
            <a:off x="7437221" y="731951"/>
            <a:ext cx="4070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 kutusundan herhangi bir öğe seçildiğinde bir mesaj kutusunun açılarak seçilen öğeyi gösterir. </a:t>
            </a:r>
          </a:p>
        </p:txBody>
      </p:sp>
    </p:spTree>
    <p:extLst>
      <p:ext uri="{BB962C8B-B14F-4D97-AF65-F5344CB8AC3E}">
        <p14:creationId xmlns:p14="http://schemas.microsoft.com/office/powerpoint/2010/main" val="1957598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Kontroller için C# Olay İşleme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Önceki işlemlere benzer şekilde buton tıklama metodunu ekleyelim. Form </a:t>
            </a:r>
            <a:r>
              <a:rPr lang="tr-TR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designer</a:t>
            </a:r>
            <a:r>
              <a:rPr lang="tr-TR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üzerinden butona çift tıklayarak kod ekranına geçiyoruz ve aşağıdaki eklemeleri yapıyoruz: </a:t>
            </a:r>
          </a:p>
          <a:p>
            <a:pPr marL="0" indent="0" algn="just">
              <a:lnSpc>
                <a:spcPct val="100000"/>
              </a:lnSpc>
              <a:buClr>
                <a:schemeClr val="bg1"/>
              </a:buClr>
              <a:buNone/>
            </a:pPr>
            <a:endParaRPr lang="tr-TR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A6659621-F55D-47DF-B672-FAE6F4C72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4" y="2965901"/>
            <a:ext cx="5857778" cy="33760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E1A11CAA-C205-4880-A6B3-94930C0A2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4" y="1422522"/>
            <a:ext cx="5857779" cy="1497659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A3F2ABE-F19F-4F39-B887-F544430E6B3B}"/>
              </a:ext>
            </a:extLst>
          </p:cNvPr>
          <p:cNvSpPr txBox="1"/>
          <p:nvPr/>
        </p:nvSpPr>
        <p:spPr>
          <a:xfrm>
            <a:off x="6582882" y="1422522"/>
            <a:ext cx="52729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Burada ad ve adres metin kutusuna girilen değerleri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txtName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txtAddress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kontrolleri sayesinde alıyoruz. </a:t>
            </a:r>
          </a:p>
          <a:p>
            <a:pPr algn="just"/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Değerler, metin kutusunun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özelliğinden alınabilir. Daha sonra alınan bu değerler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türünden 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değişkenlerine atanır. </a:t>
            </a:r>
          </a:p>
          <a:p>
            <a:pPr algn="just"/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olarak, kullanıcıya isim ve adres değerlerini görüntülemek için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yöntemini kullanıyoruz.</a:t>
            </a:r>
          </a:p>
        </p:txBody>
      </p:sp>
    </p:spTree>
    <p:extLst>
      <p:ext uri="{BB962C8B-B14F-4D97-AF65-F5344CB8AC3E}">
        <p14:creationId xmlns:p14="http://schemas.microsoft.com/office/powerpoint/2010/main" val="1353042063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4434</TotalTime>
  <Words>2695</Words>
  <Application>Microsoft Office PowerPoint</Application>
  <PresentationFormat>Geniş ekran</PresentationFormat>
  <Paragraphs>270</Paragraphs>
  <Slides>32</Slides>
  <Notes>31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Times New Roman</vt:lpstr>
      <vt:lpstr>Wingdings</vt:lpstr>
      <vt:lpstr>Geçmişe bakış</vt:lpstr>
      <vt:lpstr>BİL207-NESNE YÖNELİMLİ PROGRAMLAMA 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67</cp:revision>
  <dcterms:created xsi:type="dcterms:W3CDTF">2021-02-24T12:37:41Z</dcterms:created>
  <dcterms:modified xsi:type="dcterms:W3CDTF">2025-11-02T19:38:40Z</dcterms:modified>
</cp:coreProperties>
</file>