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89" r:id="rId1"/>
  </p:sldMasterIdLst>
  <p:notesMasterIdLst>
    <p:notesMasterId r:id="rId23"/>
  </p:notesMasterIdLst>
  <p:sldIdLst>
    <p:sldId id="256" r:id="rId2"/>
    <p:sldId id="335" r:id="rId3"/>
    <p:sldId id="374" r:id="rId4"/>
    <p:sldId id="375" r:id="rId5"/>
    <p:sldId id="376" r:id="rId6"/>
    <p:sldId id="377" r:id="rId7"/>
    <p:sldId id="378" r:id="rId8"/>
    <p:sldId id="379" r:id="rId9"/>
    <p:sldId id="380" r:id="rId10"/>
    <p:sldId id="381" r:id="rId11"/>
    <p:sldId id="385" r:id="rId12"/>
    <p:sldId id="384" r:id="rId13"/>
    <p:sldId id="387" r:id="rId14"/>
    <p:sldId id="388" r:id="rId15"/>
    <p:sldId id="389" r:id="rId16"/>
    <p:sldId id="390" r:id="rId17"/>
    <p:sldId id="391" r:id="rId18"/>
    <p:sldId id="392" r:id="rId19"/>
    <p:sldId id="393" r:id="rId20"/>
    <p:sldId id="394" r:id="rId21"/>
    <p:sldId id="395" r:id="rId2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 xmlns="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3CC33"/>
    <a:srgbClr val="FF6600"/>
    <a:srgbClr val="66FF33"/>
    <a:srgbClr val="FF3399"/>
    <a:srgbClr val="FF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xmlns="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Orta Stil 2 - Vurgu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012ECD-51FC-41F1-AA8D-1B2483CD663E}" styleName="Açık Stil 2 - Vurgu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72833802-FEF1-4C79-8D5D-14CF1EAF98D9}" styleName="Açık Stil 2 - Vurgu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5DA37D80-6434-44D0-A028-1B22A696006F}" styleName="Açık Stil 3 - Vurgu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5940675A-B579-460E-94D1-54222C63F5DA}" styleName="Stil Yok, Tablo Kılavuzu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08FB837D-C827-4EFA-A057-4D05807E0F7C}" styleName="Tema Uygulanmış Stil 1 - Vurgu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0E3FDE45-AF77-4B5C-9715-49D594BDF05E}" styleName="Açık Stil 1 - Vurgu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3B4B98B0-60AC-42C2-AFA5-B58CD77FA1E5}" styleName="Açık Stil 1 - Vurgu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93296810-A885-4BE3-A3E7-6D5BEEA58F35}" styleName="Orta Stil 2 - Vurgu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445" autoAdjust="0"/>
    <p:restoredTop sz="94700" autoAdjust="0"/>
  </p:normalViewPr>
  <p:slideViewPr>
    <p:cSldViewPr snapToGrid="0">
      <p:cViewPr varScale="1">
        <p:scale>
          <a:sx n="82" d="100"/>
          <a:sy n="82" d="100"/>
        </p:scale>
        <p:origin x="-102" y="-49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Üst Bilgi Yer Tutucusu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tr-TR"/>
          </a:p>
        </p:txBody>
      </p:sp>
      <p:sp>
        <p:nvSpPr>
          <p:cNvPr id="3" name="Veri Yer Tutucusu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42BC61F-CF9C-438D-878D-5F289BFF98B2}" type="datetimeFigureOut">
              <a:rPr lang="tr-TR" smtClean="0"/>
              <a:t>30.10.2024</a:t>
            </a:fld>
            <a:endParaRPr lang="tr-TR"/>
          </a:p>
        </p:txBody>
      </p:sp>
      <p:sp>
        <p:nvSpPr>
          <p:cNvPr id="4" name="Slayt Resmi Yer Tutucusu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tr-TR"/>
          </a:p>
        </p:txBody>
      </p:sp>
      <p:sp>
        <p:nvSpPr>
          <p:cNvPr id="5" name="Not Yer Tutucusu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6" name="Alt Bilgi Yer Tutucusu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tr-TR"/>
          </a:p>
        </p:txBody>
      </p:sp>
      <p:sp>
        <p:nvSpPr>
          <p:cNvPr id="7" name="Slayt Numarası Yer Tutucusu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42F0F1D-777A-4D20-B29A-2D838269CEE8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51901371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ayt Resmi Yer Tutucus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 Yer Tutucusu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tr-TR" dirty="0"/>
          </a:p>
        </p:txBody>
      </p:sp>
      <p:sp>
        <p:nvSpPr>
          <p:cNvPr id="4" name="Slayt Numarası Yer Tutucusu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42F0F1D-777A-4D20-B29A-2D838269CEE8}" type="slidenum">
              <a:rPr lang="tr-TR" smtClean="0"/>
              <a:t>2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84179028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ayt Resmi Yer Tutucus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 Yer Tutucusu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tr-TR" dirty="0"/>
          </a:p>
        </p:txBody>
      </p:sp>
      <p:sp>
        <p:nvSpPr>
          <p:cNvPr id="4" name="Slayt Numarası Yer Tutucusu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42F0F1D-777A-4D20-B29A-2D838269CEE8}" type="slidenum">
              <a:rPr lang="tr-TR" smtClean="0"/>
              <a:t>3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36241155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ayt Resmi Yer Tutucus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 Yer Tutucusu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tr-TR" dirty="0"/>
          </a:p>
        </p:txBody>
      </p:sp>
      <p:sp>
        <p:nvSpPr>
          <p:cNvPr id="4" name="Slayt Numarası Yer Tutucusu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42F0F1D-777A-4D20-B29A-2D838269CEE8}" type="slidenum">
              <a:rPr lang="tr-TR" smtClean="0"/>
              <a:t>4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2365005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ayt Resmi Yer Tutucus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 Yer Tutucusu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tr-TR" dirty="0"/>
          </a:p>
        </p:txBody>
      </p:sp>
      <p:sp>
        <p:nvSpPr>
          <p:cNvPr id="4" name="Slayt Numarası Yer Tutucusu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42F0F1D-777A-4D20-B29A-2D838269CEE8}" type="slidenum">
              <a:rPr lang="tr-TR" smtClean="0"/>
              <a:t>5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41089734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ayt Resmi Yer Tutucus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 Yer Tutucusu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tr-TR" dirty="0"/>
          </a:p>
        </p:txBody>
      </p:sp>
      <p:sp>
        <p:nvSpPr>
          <p:cNvPr id="4" name="Slayt Numarası Yer Tutucusu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42F0F1D-777A-4D20-B29A-2D838269CEE8}" type="slidenum">
              <a:rPr lang="tr-TR" smtClean="0"/>
              <a:t>6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13499805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ayt Resmi Yer Tutucus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 Yer Tutucusu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tr-TR" dirty="0"/>
          </a:p>
        </p:txBody>
      </p:sp>
      <p:sp>
        <p:nvSpPr>
          <p:cNvPr id="4" name="Slayt Numarası Yer Tutucusu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42F0F1D-777A-4D20-B29A-2D838269CEE8}" type="slidenum">
              <a:rPr lang="tr-TR" smtClean="0"/>
              <a:t>7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04414017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ayt Resmi Yer Tutucus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 Yer Tutucusu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tr-TR" dirty="0"/>
          </a:p>
        </p:txBody>
      </p:sp>
      <p:sp>
        <p:nvSpPr>
          <p:cNvPr id="4" name="Slayt Numarası Yer Tutucusu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42F0F1D-777A-4D20-B29A-2D838269CEE8}" type="slidenum">
              <a:rPr lang="tr-TR" smtClean="0"/>
              <a:t>8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45955748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ayt Resmi Yer Tutucus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 Yer Tutucusu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tr-TR" dirty="0"/>
          </a:p>
        </p:txBody>
      </p:sp>
      <p:sp>
        <p:nvSpPr>
          <p:cNvPr id="4" name="Slayt Numarası Yer Tutucusu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42F0F1D-777A-4D20-B29A-2D838269CEE8}" type="slidenum">
              <a:rPr lang="tr-TR" smtClean="0"/>
              <a:t>9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00638425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ayt Resmi Yer Tutucus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 Yer Tutucusu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tr-TR" dirty="0"/>
          </a:p>
        </p:txBody>
      </p:sp>
      <p:sp>
        <p:nvSpPr>
          <p:cNvPr id="4" name="Slayt Numarası Yer Tutucusu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42F0F1D-777A-4D20-B29A-2D838269CEE8}" type="slidenum">
              <a:rPr lang="tr-TR" smtClean="0"/>
              <a:t>10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30800222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ayt Resmi Yer Tutucus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 Yer Tutucusu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tr-TR" dirty="0"/>
          </a:p>
        </p:txBody>
      </p:sp>
      <p:sp>
        <p:nvSpPr>
          <p:cNvPr id="4" name="Slayt Numarası Yer Tutucusu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42F0F1D-777A-4D20-B29A-2D838269CEE8}" type="slidenum">
              <a:rPr lang="tr-TR" smtClean="0"/>
              <a:t>11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46520557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ayt Resmi Yer Tutucus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 Yer Tutucusu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tr-TR" dirty="0"/>
          </a:p>
        </p:txBody>
      </p:sp>
      <p:sp>
        <p:nvSpPr>
          <p:cNvPr id="4" name="Slayt Numarası Yer Tutucusu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42F0F1D-777A-4D20-B29A-2D838269CEE8}" type="slidenum">
              <a:rPr lang="tr-TR" smtClean="0"/>
              <a:t>12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01702270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ayt Resmi Yer Tutucus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 Yer Tutucusu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tr-TR" dirty="0"/>
          </a:p>
        </p:txBody>
      </p:sp>
      <p:sp>
        <p:nvSpPr>
          <p:cNvPr id="4" name="Slayt Numarası Yer Tutucusu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42F0F1D-777A-4D20-B29A-2D838269CEE8}" type="slidenum">
              <a:rPr lang="tr-TR" smtClean="0"/>
              <a:t>13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16910904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ayt Resmi Yer Tutucus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 Yer Tutucusu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tr-TR" dirty="0"/>
          </a:p>
        </p:txBody>
      </p:sp>
      <p:sp>
        <p:nvSpPr>
          <p:cNvPr id="4" name="Slayt Numarası Yer Tutucusu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42F0F1D-777A-4D20-B29A-2D838269CEE8}" type="slidenum">
              <a:rPr lang="tr-TR" smtClean="0"/>
              <a:t>14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417522656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ayt Resmi Yer Tutucus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 Yer Tutucusu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tr-TR" dirty="0"/>
          </a:p>
        </p:txBody>
      </p:sp>
      <p:sp>
        <p:nvSpPr>
          <p:cNvPr id="4" name="Slayt Numarası Yer Tutucusu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42F0F1D-777A-4D20-B29A-2D838269CEE8}" type="slidenum">
              <a:rPr lang="tr-TR" smtClean="0"/>
              <a:t>15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31191921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ayt Resmi Yer Tutucus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 Yer Tutucusu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tr-TR" dirty="0"/>
          </a:p>
        </p:txBody>
      </p:sp>
      <p:sp>
        <p:nvSpPr>
          <p:cNvPr id="4" name="Slayt Numarası Yer Tutucusu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42F0F1D-777A-4D20-B29A-2D838269CEE8}" type="slidenum">
              <a:rPr lang="tr-TR" smtClean="0"/>
              <a:t>16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04539115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ayt Resmi Yer Tutucus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 Yer Tutucusu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tr-TR" dirty="0"/>
          </a:p>
        </p:txBody>
      </p:sp>
      <p:sp>
        <p:nvSpPr>
          <p:cNvPr id="4" name="Slayt Numarası Yer Tutucusu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42F0F1D-777A-4D20-B29A-2D838269CEE8}" type="slidenum">
              <a:rPr lang="tr-TR" smtClean="0"/>
              <a:t>17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71212326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ayt Resmi Yer Tutucus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 Yer Tutucusu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tr-TR" dirty="0"/>
          </a:p>
        </p:txBody>
      </p:sp>
      <p:sp>
        <p:nvSpPr>
          <p:cNvPr id="4" name="Slayt Numarası Yer Tutucusu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42F0F1D-777A-4D20-B29A-2D838269CEE8}" type="slidenum">
              <a:rPr lang="tr-TR" smtClean="0"/>
              <a:t>18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988736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ayt Resmi Yer Tutucus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 Yer Tutucusu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tr-TR" dirty="0"/>
          </a:p>
        </p:txBody>
      </p:sp>
      <p:sp>
        <p:nvSpPr>
          <p:cNvPr id="4" name="Slayt Numarası Yer Tutucusu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42F0F1D-777A-4D20-B29A-2D838269CEE8}" type="slidenum">
              <a:rPr lang="tr-TR" smtClean="0"/>
              <a:t>19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54159061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ayt Resmi Yer Tutucus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 Yer Tutucusu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tr-TR" dirty="0"/>
          </a:p>
        </p:txBody>
      </p:sp>
      <p:sp>
        <p:nvSpPr>
          <p:cNvPr id="4" name="Slayt Numarası Yer Tutucusu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42F0F1D-777A-4D20-B29A-2D838269CEE8}" type="slidenum">
              <a:rPr lang="tr-TR" smtClean="0"/>
              <a:t>20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952314095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ayt Resmi Yer Tutucus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 Yer Tutucusu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tr-TR" dirty="0"/>
          </a:p>
        </p:txBody>
      </p:sp>
      <p:sp>
        <p:nvSpPr>
          <p:cNvPr id="4" name="Slayt Numarası Yer Tutucusu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42F0F1D-777A-4D20-B29A-2D838269CEE8}" type="slidenum">
              <a:rPr lang="tr-TR" smtClean="0"/>
              <a:t>21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563399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Başlık Slaydı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tr-TR"/>
              <a:t>Asıl başlık stilini düzenlemek için tıklayın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1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tr-TR"/>
              <a:t>Asıl alt başlık stilini düzenlemek için tıklayın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10/30/2024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0324545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aşlık ve İçe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/>
              <a:t>Asıl başlık stilini düzenlemek için tıklayın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10/30/2024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3885481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Bölüm Üst Bilgis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tr-TR"/>
              <a:t>Asıl başlık stilini düzenlemek için tıklayın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10/30/2024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995918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İki İçe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tr-TR"/>
              <a:t>Asıl başlık stilini düzenlemek için tıklayın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8" y="1845734"/>
            <a:ext cx="4937760" cy="4023360"/>
          </a:xfrm>
        </p:spPr>
        <p:txBody>
          <a:bodyPr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10/30/2024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674235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Karşılaştırm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tr-TR"/>
              <a:t>Asıl başlık stilini düzenlemek için tıklayın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10/30/2024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823904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Yalnızca Başlı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/>
              <a:t>Asıl başlık stilini düzenlemek için tıklayın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10/30/2024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1272401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oş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10/30/2024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031918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Başlıklı İçe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tr-TR"/>
              <a:t>Asıl başlık stilini düzenlemek için tıklayın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B61BEF0D-F0BB-DE4B-95CE-6DB70DBA9567}" type="datetimeFigureOut">
              <a:rPr lang="en-US" smtClean="0"/>
              <a:pPr/>
              <a:t>10/30/2024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5457625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Başlıklı Resi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645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tr-TR"/>
              <a:t>Asıl başlık stilini düzenlemek için tıklayın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solidFill>
            <a:schemeClr val="bg2">
              <a:lumMod val="90000"/>
            </a:schemeClr>
          </a:solidFill>
        </p:spPr>
        <p:txBody>
          <a:bodyPr lIns="457200" tIns="45720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tr-TR"/>
              <a:t>Resim eklemek için simgeye tıklayın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4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10/30/2024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702975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Başlık ve Dikey Meti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/>
              <a:t>Asıl başlık stilini düzenlemek için tıklayın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10/30/2024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688915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Dikey Başlık ve Meti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2302"/>
            <a:ext cx="2628900" cy="5759898"/>
          </a:xfrm>
        </p:spPr>
        <p:txBody>
          <a:bodyPr vert="eaVert"/>
          <a:lstStyle/>
          <a:p>
            <a:r>
              <a:rPr lang="tr-TR"/>
              <a:t>Asıl başlık stilini düzenlemek için tıklayın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2302"/>
            <a:ext cx="7734300" cy="5759898"/>
          </a:xfrm>
        </p:spPr>
        <p:txBody>
          <a:bodyPr vert="eaVert" lIns="45720" tIns="0" rIns="45720" bIns="0"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10/30/2024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6832013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6334316"/>
            <a:ext cx="12191985" cy="6648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tr-TR"/>
              <a:t>Asıl başlık stilini düzenlemek için tıklayın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B61BEF0D-F0BB-DE4B-95CE-6DB70DBA9567}" type="datetimeFigureOut">
              <a:rPr lang="en-US" smtClean="0"/>
              <a:pPr/>
              <a:t>10/30/2024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10" name="Straight Connector 9"/>
          <p:cNvCxnSpPr/>
          <p:nvPr/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88985783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90" r:id="rId1"/>
    <p:sldLayoutId id="2147483691" r:id="rId2"/>
    <p:sldLayoutId id="2147483692" r:id="rId3"/>
    <p:sldLayoutId id="2147483693" r:id="rId4"/>
    <p:sldLayoutId id="2147483694" r:id="rId5"/>
    <p:sldLayoutId id="2147483695" r:id="rId6"/>
    <p:sldLayoutId id="2147483696" r:id="rId7"/>
    <p:sldLayoutId id="2147483697" r:id="rId8"/>
    <p:sldLayoutId id="2147483698" r:id="rId9"/>
    <p:sldLayoutId id="2147483699" r:id="rId10"/>
    <p:sldLayoutId id="2147483700" r:id="rId11"/>
  </p:sldLayoutIdLst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xmlns="" id="{31F6194B-F41A-4525-AEB3-77447690AC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3162968"/>
            <a:ext cx="12192000" cy="823667"/>
          </a:xfrm>
        </p:spPr>
        <p:txBody>
          <a:bodyPr>
            <a:normAutofit/>
          </a:bodyPr>
          <a:lstStyle/>
          <a:p>
            <a:pPr algn="ctr"/>
            <a:r>
              <a:rPr lang="tr-TR" sz="4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BİL207-NESNE YÖNELİMLİ PROGRAMLAMA I</a:t>
            </a:r>
          </a:p>
        </p:txBody>
      </p:sp>
      <p:sp>
        <p:nvSpPr>
          <p:cNvPr id="3" name="Alt Başlık 2">
            <a:extLst>
              <a:ext uri="{FF2B5EF4-FFF2-40B4-BE49-F238E27FC236}">
                <a16:creationId xmlns:a16="http://schemas.microsoft.com/office/drawing/2014/main" xmlns="" id="{CB41DA49-5670-4ECE-A68E-25663738BFB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" y="2036685"/>
            <a:ext cx="12192000" cy="1126283"/>
          </a:xfrm>
        </p:spPr>
        <p:txBody>
          <a:bodyPr>
            <a:normAutofit/>
          </a:bodyPr>
          <a:lstStyle/>
          <a:p>
            <a:pPr algn="ctr"/>
            <a:r>
              <a:rPr lang="tr-TR" sz="3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MÜHENDİSLİK FAKÜLTESİ </a:t>
            </a:r>
          </a:p>
          <a:p>
            <a:pPr algn="ctr"/>
            <a:r>
              <a:rPr lang="tr-TR" sz="3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BİLGİSAYAR MÜHENDİSLİĞİ BÖLÜMÜ</a:t>
            </a:r>
          </a:p>
        </p:txBody>
      </p:sp>
      <p:pic>
        <p:nvPicPr>
          <p:cNvPr id="1026" name="Picture 2" descr="Amasya Üniversitesi Logo Vector (.AI) Free Download">
            <a:extLst>
              <a:ext uri="{FF2B5EF4-FFF2-40B4-BE49-F238E27FC236}">
                <a16:creationId xmlns:a16="http://schemas.microsoft.com/office/drawing/2014/main" xmlns="" id="{D0EB15F1-5DFF-44D5-B2FF-50975D94DE2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99293" y="159026"/>
            <a:ext cx="1889990" cy="165689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Başlık 1">
            <a:extLst>
              <a:ext uri="{FF2B5EF4-FFF2-40B4-BE49-F238E27FC236}">
                <a16:creationId xmlns:a16="http://schemas.microsoft.com/office/drawing/2014/main" xmlns="" id="{396A8088-FB20-4AC5-BF87-A4E322DF3AE5}"/>
              </a:ext>
            </a:extLst>
          </p:cNvPr>
          <p:cNvSpPr txBox="1">
            <a:spLocks/>
          </p:cNvSpPr>
          <p:nvPr/>
        </p:nvSpPr>
        <p:spPr>
          <a:xfrm>
            <a:off x="0" y="4432605"/>
            <a:ext cx="12192000" cy="1104129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2500" lnSpcReduction="20000"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5400" kern="120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tr-TR" sz="25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Hafta 8</a:t>
            </a:r>
          </a:p>
          <a:p>
            <a:pPr algn="ctr"/>
            <a:r>
              <a:rPr lang="tr-TR" sz="3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Windows Forms Uygulamaları </a:t>
            </a:r>
          </a:p>
          <a:p>
            <a:pPr algn="ctr"/>
            <a:r>
              <a:rPr lang="tr-TR" sz="3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(Görsel Programlamaya Giriş)</a:t>
            </a:r>
          </a:p>
        </p:txBody>
      </p:sp>
      <p:sp>
        <p:nvSpPr>
          <p:cNvPr id="6" name="Alt Başlık 2">
            <a:extLst>
              <a:ext uri="{FF2B5EF4-FFF2-40B4-BE49-F238E27FC236}">
                <a16:creationId xmlns:a16="http://schemas.microsoft.com/office/drawing/2014/main" xmlns="" id="{C01E9738-1494-44D7-B855-BBD35AF016D4}"/>
              </a:ext>
            </a:extLst>
          </p:cNvPr>
          <p:cNvSpPr txBox="1">
            <a:spLocks/>
          </p:cNvSpPr>
          <p:nvPr/>
        </p:nvSpPr>
        <p:spPr>
          <a:xfrm>
            <a:off x="139485" y="5724630"/>
            <a:ext cx="12191999" cy="50748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None/>
              <a:defRPr sz="18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None/>
              <a:defRPr sz="1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None/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None/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None/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None/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None/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None/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tr-TR" sz="2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Doç. Dr</a:t>
            </a:r>
            <a:r>
              <a:rPr lang="tr-TR" sz="240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 Funda </a:t>
            </a:r>
            <a:r>
              <a:rPr lang="tr-TR" sz="2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KUTLU ONAY</a:t>
            </a:r>
          </a:p>
        </p:txBody>
      </p:sp>
    </p:spTree>
    <p:extLst>
      <p:ext uri="{BB962C8B-B14F-4D97-AF65-F5344CB8AC3E}">
        <p14:creationId xmlns:p14="http://schemas.microsoft.com/office/powerpoint/2010/main" val="425124280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Alt Başlık 2">
            <a:extLst>
              <a:ext uri="{FF2B5EF4-FFF2-40B4-BE49-F238E27FC236}">
                <a16:creationId xmlns:a16="http://schemas.microsoft.com/office/drawing/2014/main" xmlns="" id="{4DE85122-41A6-43DF-A9E4-E5B2F9B7FA4D}"/>
              </a:ext>
            </a:extLst>
          </p:cNvPr>
          <p:cNvSpPr txBox="1">
            <a:spLocks/>
          </p:cNvSpPr>
          <p:nvPr/>
        </p:nvSpPr>
        <p:spPr>
          <a:xfrm>
            <a:off x="108028" y="1933"/>
            <a:ext cx="12083972" cy="612032"/>
          </a:xfrm>
          <a:prstGeom prst="rect">
            <a:avLst/>
          </a:prstGeom>
        </p:spPr>
        <p:txBody>
          <a:bodyPr vert="horz" lIns="0" tIns="45720" rIns="0" bIns="45720" rtlCol="0" anchor="ctr">
            <a:normAutofit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Calibri" panose="020F0502020204030204" pitchFamily="34" charset="0"/>
              <a:buNone/>
            </a:pPr>
            <a:r>
              <a:rPr lang="tr-TR" sz="3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Windows Form Nedir?</a:t>
            </a:r>
          </a:p>
        </p:txBody>
      </p:sp>
      <p:sp>
        <p:nvSpPr>
          <p:cNvPr id="6" name="Alt Başlık 2">
            <a:extLst>
              <a:ext uri="{FF2B5EF4-FFF2-40B4-BE49-F238E27FC236}">
                <a16:creationId xmlns:a16="http://schemas.microsoft.com/office/drawing/2014/main" xmlns="" id="{615FDF6B-391F-4184-B633-E113FEF09731}"/>
              </a:ext>
            </a:extLst>
          </p:cNvPr>
          <p:cNvSpPr txBox="1">
            <a:spLocks/>
          </p:cNvSpPr>
          <p:nvPr/>
        </p:nvSpPr>
        <p:spPr>
          <a:xfrm>
            <a:off x="108028" y="627408"/>
            <a:ext cx="11975942" cy="5831266"/>
          </a:xfrm>
          <a:prstGeom prst="rect">
            <a:avLst/>
          </a:prstGeom>
        </p:spPr>
        <p:txBody>
          <a:bodyPr vert="horz" lIns="0" tIns="45720" rIns="0" bIns="45720" rtlCol="0" anchor="t">
            <a:normAutofit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>
              <a:lnSpc>
                <a:spcPct val="100000"/>
              </a:lnSpc>
              <a:buFont typeface="Wingdings" panose="05000000000000000000" pitchFamily="2" charset="2"/>
              <a:buChar char="Ø"/>
            </a:pPr>
            <a:r>
              <a:rPr lang="tr-TR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Şimdiye kadar konsol tabanlı uygulamalar oluşturmak için C# ile nasıl çalışılacağını gördük. </a:t>
            </a:r>
          </a:p>
          <a:p>
            <a:pPr algn="just">
              <a:lnSpc>
                <a:spcPct val="100000"/>
              </a:lnSpc>
              <a:buFont typeface="Wingdings" panose="05000000000000000000" pitchFamily="2" charset="2"/>
              <a:buChar char="Ø"/>
            </a:pPr>
            <a:r>
              <a:rPr lang="tr-TR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Ancak gerçek hayattaki bir senaryoda, Windows Forms veya Web tabanlı uygulamalar oluşturmak için normalde Visual </a:t>
            </a:r>
            <a:r>
              <a:rPr lang="tr-TR" sz="16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Studio</a:t>
            </a:r>
            <a:r>
              <a:rPr lang="tr-TR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ve C# kullanılır.</a:t>
            </a:r>
          </a:p>
          <a:p>
            <a:pPr algn="just">
              <a:lnSpc>
                <a:spcPct val="100000"/>
              </a:lnSpc>
              <a:buFont typeface="Wingdings" panose="05000000000000000000" pitchFamily="2" charset="2"/>
              <a:buChar char="Ø"/>
            </a:pPr>
            <a:r>
              <a:rPr lang="tr-TR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Windows form uygulaması, bilgisayarda çalışmak üzere tasarlanmış bir uygulamadır. Web tarayıcısında çalışmaz çünkü o zaman bir web uygulaması olur.</a:t>
            </a:r>
          </a:p>
          <a:p>
            <a:pPr algn="just">
              <a:lnSpc>
                <a:spcPct val="100000"/>
              </a:lnSpc>
              <a:buFont typeface="Wingdings" panose="05000000000000000000" pitchFamily="2" charset="2"/>
              <a:buChar char="Ø"/>
            </a:pPr>
            <a:r>
              <a:rPr lang="tr-TR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Bir Windows form uygulaması </a:t>
            </a:r>
            <a:r>
              <a:rPr lang="fr-FR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labels, </a:t>
            </a:r>
            <a:r>
              <a:rPr lang="fr-FR" sz="16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textboxes</a:t>
            </a:r>
            <a:r>
              <a:rPr lang="fr-FR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fr-FR" sz="16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list</a:t>
            </a:r>
            <a:r>
              <a:rPr lang="fr-FR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boxes</a:t>
            </a:r>
            <a:r>
              <a:rPr lang="tr-TR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gibi bir kontrol koleksiyonuna sahiptir. </a:t>
            </a:r>
          </a:p>
          <a:p>
            <a:pPr algn="just">
              <a:lnSpc>
                <a:spcPct val="100000"/>
              </a:lnSpc>
              <a:buFont typeface="Wingdings" panose="05000000000000000000" pitchFamily="2" charset="2"/>
              <a:buChar char="Ø"/>
            </a:pPr>
            <a:r>
              <a:rPr lang="tr-TR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Aşağıda basit bir  C# Windows form uygulaması örneği verilmiştir. Kullanıcı tarafından erişilebilen basit bir </a:t>
            </a:r>
            <a:r>
              <a:rPr lang="tr-TR" sz="16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Giriş Ekranı </a:t>
            </a:r>
            <a:r>
              <a:rPr lang="tr-TR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gösterir. Kullanıcı gerekli kimlik bilgilerini girecek ve ardından devam etmek için </a:t>
            </a:r>
            <a:r>
              <a:rPr lang="tr-TR" sz="16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Giriş</a:t>
            </a:r>
            <a:r>
              <a:rPr lang="tr-TR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düğmesini tıklayacaktır.</a:t>
            </a:r>
          </a:p>
          <a:p>
            <a:pPr algn="just">
              <a:lnSpc>
                <a:spcPct val="100000"/>
              </a:lnSpc>
              <a:buFont typeface="Wingdings" panose="05000000000000000000" pitchFamily="2" charset="2"/>
              <a:buChar char="Ø"/>
            </a:pPr>
            <a:endParaRPr lang="tr-TR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030" name="Picture 6" descr="C Sharp - Form App. Giriş Ekranı - Programlama Dersleri">
            <a:extLst>
              <a:ext uri="{FF2B5EF4-FFF2-40B4-BE49-F238E27FC236}">
                <a16:creationId xmlns:a16="http://schemas.microsoft.com/office/drawing/2014/main" xmlns="" id="{0E5D37E4-A848-454E-90B8-97F17D766B0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5223" y="3429000"/>
            <a:ext cx="4448175" cy="23431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Dikdörtgen: Köşeleri Yuvarlatılmış 3">
            <a:extLst>
              <a:ext uri="{FF2B5EF4-FFF2-40B4-BE49-F238E27FC236}">
                <a16:creationId xmlns:a16="http://schemas.microsoft.com/office/drawing/2014/main" xmlns="" id="{76C105C3-7392-4354-9699-12435867E25F}"/>
              </a:ext>
            </a:extLst>
          </p:cNvPr>
          <p:cNvSpPr/>
          <p:nvPr/>
        </p:nvSpPr>
        <p:spPr>
          <a:xfrm>
            <a:off x="1661884" y="3990972"/>
            <a:ext cx="1248229" cy="740229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tr-TR" dirty="0"/>
          </a:p>
        </p:txBody>
      </p:sp>
      <p:sp>
        <p:nvSpPr>
          <p:cNvPr id="10" name="Dikdörtgen: Köşeleri Yuvarlatılmış 9">
            <a:extLst>
              <a:ext uri="{FF2B5EF4-FFF2-40B4-BE49-F238E27FC236}">
                <a16:creationId xmlns:a16="http://schemas.microsoft.com/office/drawing/2014/main" xmlns="" id="{20209694-07A8-4C84-9921-76BD5A3B4531}"/>
              </a:ext>
            </a:extLst>
          </p:cNvPr>
          <p:cNvSpPr/>
          <p:nvPr/>
        </p:nvSpPr>
        <p:spPr>
          <a:xfrm>
            <a:off x="1712686" y="4789714"/>
            <a:ext cx="1146626" cy="379551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tr-TR" dirty="0"/>
          </a:p>
        </p:txBody>
      </p:sp>
      <p:sp>
        <p:nvSpPr>
          <p:cNvPr id="11" name="Dikdörtgen: Köşeleri Yuvarlatılmış 10">
            <a:extLst>
              <a:ext uri="{FF2B5EF4-FFF2-40B4-BE49-F238E27FC236}">
                <a16:creationId xmlns:a16="http://schemas.microsoft.com/office/drawing/2014/main" xmlns="" id="{A28BD75F-059A-4AA1-8A29-35284B34495F}"/>
              </a:ext>
            </a:extLst>
          </p:cNvPr>
          <p:cNvSpPr/>
          <p:nvPr/>
        </p:nvSpPr>
        <p:spPr>
          <a:xfrm>
            <a:off x="876410" y="4049028"/>
            <a:ext cx="689427" cy="740229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tr-TR" dirty="0"/>
          </a:p>
        </p:txBody>
      </p:sp>
      <p:sp>
        <p:nvSpPr>
          <p:cNvPr id="7" name="Metin kutusu 6">
            <a:extLst>
              <a:ext uri="{FF2B5EF4-FFF2-40B4-BE49-F238E27FC236}">
                <a16:creationId xmlns:a16="http://schemas.microsoft.com/office/drawing/2014/main" xmlns="" id="{EC3361CD-14A5-4D46-BCE3-24955FED2FC4}"/>
              </a:ext>
            </a:extLst>
          </p:cNvPr>
          <p:cNvSpPr txBox="1"/>
          <p:nvPr/>
        </p:nvSpPr>
        <p:spPr>
          <a:xfrm>
            <a:off x="1047838" y="4789257"/>
            <a:ext cx="346570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tr-TR" sz="2500" b="1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13" name="Metin kutusu 12">
            <a:extLst>
              <a:ext uri="{FF2B5EF4-FFF2-40B4-BE49-F238E27FC236}">
                <a16:creationId xmlns:a16="http://schemas.microsoft.com/office/drawing/2014/main" xmlns="" id="{BFC3706C-9519-455A-B441-5198D5A8CD9C}"/>
              </a:ext>
            </a:extLst>
          </p:cNvPr>
          <p:cNvSpPr txBox="1"/>
          <p:nvPr/>
        </p:nvSpPr>
        <p:spPr>
          <a:xfrm>
            <a:off x="2958643" y="4254147"/>
            <a:ext cx="346570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tr-TR" sz="2500" b="1" dirty="0">
                <a:solidFill>
                  <a:srgbClr val="FF0000"/>
                </a:solidFill>
              </a:rPr>
              <a:t>2</a:t>
            </a:r>
          </a:p>
        </p:txBody>
      </p:sp>
      <p:sp>
        <p:nvSpPr>
          <p:cNvPr id="14" name="Metin kutusu 13">
            <a:extLst>
              <a:ext uri="{FF2B5EF4-FFF2-40B4-BE49-F238E27FC236}">
                <a16:creationId xmlns:a16="http://schemas.microsoft.com/office/drawing/2014/main" xmlns="" id="{DE54B55B-4EC1-48C2-9DA7-3123FAEF573B}"/>
              </a:ext>
            </a:extLst>
          </p:cNvPr>
          <p:cNvSpPr txBox="1"/>
          <p:nvPr/>
        </p:nvSpPr>
        <p:spPr>
          <a:xfrm>
            <a:off x="2112713" y="5182708"/>
            <a:ext cx="346570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tr-TR" sz="2500" b="1" dirty="0">
                <a:solidFill>
                  <a:srgbClr val="FF0000"/>
                </a:solidFill>
              </a:rPr>
              <a:t>3</a:t>
            </a:r>
          </a:p>
        </p:txBody>
      </p:sp>
      <p:sp>
        <p:nvSpPr>
          <p:cNvPr id="8" name="Metin kutusu 7">
            <a:extLst>
              <a:ext uri="{FF2B5EF4-FFF2-40B4-BE49-F238E27FC236}">
                <a16:creationId xmlns:a16="http://schemas.microsoft.com/office/drawing/2014/main" xmlns="" id="{16BB58C5-0BC5-4CFA-BD19-6F2A856CE97A}"/>
              </a:ext>
            </a:extLst>
          </p:cNvPr>
          <p:cNvSpPr txBox="1"/>
          <p:nvPr/>
        </p:nvSpPr>
        <p:spPr>
          <a:xfrm>
            <a:off x="5573486" y="3543041"/>
            <a:ext cx="2794611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AutoNum type="arabicPeriod"/>
            </a:pPr>
            <a:r>
              <a:rPr lang="tr-TR" dirty="0"/>
              <a:t>Etiket (</a:t>
            </a:r>
            <a:r>
              <a:rPr lang="tr-TR" dirty="0" err="1"/>
              <a:t>label</a:t>
            </a:r>
            <a:r>
              <a:rPr lang="tr-TR" dirty="0"/>
              <a:t>)</a:t>
            </a:r>
          </a:p>
          <a:p>
            <a:pPr marL="342900" indent="-342900">
              <a:buAutoNum type="arabicPeriod"/>
            </a:pPr>
            <a:r>
              <a:rPr lang="tr-TR" dirty="0"/>
              <a:t>Metin kutusu (</a:t>
            </a:r>
            <a:r>
              <a:rPr lang="tr-TR" dirty="0" err="1"/>
              <a:t>text</a:t>
            </a:r>
            <a:r>
              <a:rPr lang="tr-TR" dirty="0"/>
              <a:t> </a:t>
            </a:r>
            <a:r>
              <a:rPr lang="tr-TR" dirty="0" err="1"/>
              <a:t>box</a:t>
            </a:r>
            <a:r>
              <a:rPr lang="tr-TR" dirty="0"/>
              <a:t>)</a:t>
            </a:r>
          </a:p>
          <a:p>
            <a:pPr marL="342900" indent="-342900">
              <a:buAutoNum type="arabicPeriod"/>
            </a:pPr>
            <a:r>
              <a:rPr lang="tr-TR" dirty="0"/>
              <a:t>Buton/ Düğme (</a:t>
            </a:r>
            <a:r>
              <a:rPr lang="tr-TR" dirty="0" err="1"/>
              <a:t>button</a:t>
            </a:r>
            <a:r>
              <a:rPr lang="tr-TR" dirty="0"/>
              <a:t>) </a:t>
            </a:r>
          </a:p>
        </p:txBody>
      </p:sp>
    </p:spTree>
    <p:extLst>
      <p:ext uri="{BB962C8B-B14F-4D97-AF65-F5344CB8AC3E}">
        <p14:creationId xmlns:p14="http://schemas.microsoft.com/office/powerpoint/2010/main" val="28732312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Alt Başlık 2">
            <a:extLst>
              <a:ext uri="{FF2B5EF4-FFF2-40B4-BE49-F238E27FC236}">
                <a16:creationId xmlns:a16="http://schemas.microsoft.com/office/drawing/2014/main" xmlns="" id="{4DE85122-41A6-43DF-A9E4-E5B2F9B7FA4D}"/>
              </a:ext>
            </a:extLst>
          </p:cNvPr>
          <p:cNvSpPr txBox="1">
            <a:spLocks/>
          </p:cNvSpPr>
          <p:nvPr/>
        </p:nvSpPr>
        <p:spPr>
          <a:xfrm>
            <a:off x="108028" y="1933"/>
            <a:ext cx="12083972" cy="612032"/>
          </a:xfrm>
          <a:prstGeom prst="rect">
            <a:avLst/>
          </a:prstGeom>
        </p:spPr>
        <p:txBody>
          <a:bodyPr vert="horz" lIns="0" tIns="45720" rIns="0" bIns="45720" rtlCol="0" anchor="ctr">
            <a:normAutofit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Calibri" panose="020F0502020204030204" pitchFamily="34" charset="0"/>
              <a:buNone/>
            </a:pPr>
            <a:r>
              <a:rPr lang="tr-TR" sz="3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C# </a:t>
            </a:r>
            <a:r>
              <a:rPr lang="tr-TR" sz="3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Hello</a:t>
            </a:r>
            <a:r>
              <a:rPr lang="tr-TR" sz="3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World</a:t>
            </a:r>
          </a:p>
        </p:txBody>
      </p:sp>
      <p:sp>
        <p:nvSpPr>
          <p:cNvPr id="6" name="Alt Başlık 2">
            <a:extLst>
              <a:ext uri="{FF2B5EF4-FFF2-40B4-BE49-F238E27FC236}">
                <a16:creationId xmlns:a16="http://schemas.microsoft.com/office/drawing/2014/main" xmlns="" id="{615FDF6B-391F-4184-B633-E113FEF09731}"/>
              </a:ext>
            </a:extLst>
          </p:cNvPr>
          <p:cNvSpPr txBox="1">
            <a:spLocks/>
          </p:cNvSpPr>
          <p:nvPr/>
        </p:nvSpPr>
        <p:spPr>
          <a:xfrm>
            <a:off x="108028" y="627408"/>
            <a:ext cx="11975942" cy="5831266"/>
          </a:xfrm>
          <a:prstGeom prst="rect">
            <a:avLst/>
          </a:prstGeom>
        </p:spPr>
        <p:txBody>
          <a:bodyPr vert="horz" lIns="0" tIns="45720" rIns="0" bIns="45720" rtlCol="0" anchor="t">
            <a:normAutofit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just">
              <a:lnSpc>
                <a:spcPct val="100000"/>
              </a:lnSpc>
              <a:buNone/>
            </a:pPr>
            <a:r>
              <a:rPr lang="tr-TR" b="0" i="0" dirty="0">
                <a:solidFill>
                  <a:srgbClr val="222222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ADIM 1: Visual </a:t>
            </a:r>
            <a:r>
              <a:rPr lang="tr-TR" b="0" i="0" dirty="0" err="1">
                <a:solidFill>
                  <a:srgbClr val="222222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Studio'da</a:t>
            </a:r>
            <a:r>
              <a:rPr lang="tr-TR" b="0" i="0" dirty="0">
                <a:solidFill>
                  <a:srgbClr val="222222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yeni bir projenin oluşturulması. Visual </a:t>
            </a:r>
            <a:r>
              <a:rPr lang="tr-TR" b="0" i="0" dirty="0" err="1">
                <a:solidFill>
                  <a:srgbClr val="222222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Studio'yu</a:t>
            </a:r>
            <a:r>
              <a:rPr lang="tr-TR" b="0" i="0" dirty="0">
                <a:solidFill>
                  <a:srgbClr val="222222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başlattıktan sonra, Dosya-&gt;Yeni-&gt;Proje seçtikten sonra aşağıda açılan ekrandaki liste kutusundan sırasıyla C#, Windows ve Masaüstü seçeneklerini filtreleyerek Windows Forms Uygulaması (.NET Framework) işaretleyerek ilerliyoruz.</a:t>
            </a:r>
            <a:endParaRPr lang="tr-TR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8" name="Resim 7">
            <a:extLst>
              <a:ext uri="{FF2B5EF4-FFF2-40B4-BE49-F238E27FC236}">
                <a16:creationId xmlns:a16="http://schemas.microsoft.com/office/drawing/2014/main" xmlns="" id="{78543D27-9C36-4C6E-8E64-866FE67980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33916" y="1678099"/>
            <a:ext cx="7316187" cy="4933159"/>
          </a:xfrm>
          <a:prstGeom prst="rect">
            <a:avLst/>
          </a:prstGeom>
        </p:spPr>
      </p:pic>
      <p:pic>
        <p:nvPicPr>
          <p:cNvPr id="2052" name="Picture 4" descr="Download Highlight Free PNG HQ HQ PNG Image | FreePNGImg">
            <a:extLst>
              <a:ext uri="{FF2B5EF4-FFF2-40B4-BE49-F238E27FC236}">
                <a16:creationId xmlns:a16="http://schemas.microsoft.com/office/drawing/2014/main" xmlns="" id="{9313972B-53F9-480B-AD04-3F82D4E60A5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03165" y="2235200"/>
            <a:ext cx="4346938" cy="6743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4" descr="Download Highlight Free PNG HQ HQ PNG Image | FreePNGImg">
            <a:extLst>
              <a:ext uri="{FF2B5EF4-FFF2-40B4-BE49-F238E27FC236}">
                <a16:creationId xmlns:a16="http://schemas.microsoft.com/office/drawing/2014/main" xmlns="" id="{C905C695-308D-45AD-AAF9-BDF8E852303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66530" y="3258207"/>
            <a:ext cx="4346938" cy="10930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Picture 4" descr="Download Highlight Free PNG HQ HQ PNG Image | FreePNGImg">
            <a:extLst>
              <a:ext uri="{FF2B5EF4-FFF2-40B4-BE49-F238E27FC236}">
                <a16:creationId xmlns:a16="http://schemas.microsoft.com/office/drawing/2014/main" xmlns="" id="{05F3C2C8-DDF2-44EE-87B1-89B7601C4EA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57025" y="5970031"/>
            <a:ext cx="956443" cy="4125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4755485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Resim 6">
            <a:extLst>
              <a:ext uri="{FF2B5EF4-FFF2-40B4-BE49-F238E27FC236}">
                <a16:creationId xmlns:a16="http://schemas.microsoft.com/office/drawing/2014/main" xmlns="" id="{A9006ADE-2CE6-41B2-B5B4-B4D97BF8B3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07932" y="997401"/>
            <a:ext cx="8377897" cy="5461273"/>
          </a:xfrm>
          <a:prstGeom prst="rect">
            <a:avLst/>
          </a:prstGeom>
        </p:spPr>
      </p:pic>
      <p:sp>
        <p:nvSpPr>
          <p:cNvPr id="5" name="Alt Başlık 2">
            <a:extLst>
              <a:ext uri="{FF2B5EF4-FFF2-40B4-BE49-F238E27FC236}">
                <a16:creationId xmlns:a16="http://schemas.microsoft.com/office/drawing/2014/main" xmlns="" id="{4DE85122-41A6-43DF-A9E4-E5B2F9B7FA4D}"/>
              </a:ext>
            </a:extLst>
          </p:cNvPr>
          <p:cNvSpPr txBox="1">
            <a:spLocks/>
          </p:cNvSpPr>
          <p:nvPr/>
        </p:nvSpPr>
        <p:spPr>
          <a:xfrm>
            <a:off x="108028" y="1933"/>
            <a:ext cx="12083972" cy="612032"/>
          </a:xfrm>
          <a:prstGeom prst="rect">
            <a:avLst/>
          </a:prstGeom>
        </p:spPr>
        <p:txBody>
          <a:bodyPr vert="horz" lIns="0" tIns="45720" rIns="0" bIns="45720" rtlCol="0" anchor="ctr">
            <a:normAutofit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Calibri" panose="020F0502020204030204" pitchFamily="34" charset="0"/>
              <a:buNone/>
            </a:pPr>
            <a:r>
              <a:rPr lang="tr-TR" sz="3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C# </a:t>
            </a:r>
            <a:r>
              <a:rPr lang="tr-TR" sz="3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Hello</a:t>
            </a:r>
            <a:r>
              <a:rPr lang="tr-TR" sz="3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World</a:t>
            </a:r>
          </a:p>
        </p:txBody>
      </p:sp>
      <p:sp>
        <p:nvSpPr>
          <p:cNvPr id="6" name="Alt Başlık 2">
            <a:extLst>
              <a:ext uri="{FF2B5EF4-FFF2-40B4-BE49-F238E27FC236}">
                <a16:creationId xmlns:a16="http://schemas.microsoft.com/office/drawing/2014/main" xmlns="" id="{615FDF6B-391F-4184-B633-E113FEF09731}"/>
              </a:ext>
            </a:extLst>
          </p:cNvPr>
          <p:cNvSpPr txBox="1">
            <a:spLocks/>
          </p:cNvSpPr>
          <p:nvPr/>
        </p:nvSpPr>
        <p:spPr>
          <a:xfrm>
            <a:off x="108028" y="627408"/>
            <a:ext cx="11975942" cy="5831266"/>
          </a:xfrm>
          <a:prstGeom prst="rect">
            <a:avLst/>
          </a:prstGeom>
        </p:spPr>
        <p:txBody>
          <a:bodyPr vert="horz" lIns="0" tIns="45720" rIns="0" bIns="45720" rtlCol="0" anchor="t">
            <a:normAutofit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just">
              <a:lnSpc>
                <a:spcPct val="100000"/>
              </a:lnSpc>
              <a:buNone/>
            </a:pPr>
            <a:r>
              <a:rPr lang="tr-TR" b="0" i="0" dirty="0">
                <a:solidFill>
                  <a:srgbClr val="222222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ADIM 2: Projenin adını ve konumunu belirliyoruz. </a:t>
            </a:r>
            <a:r>
              <a:rPr lang="tr-TR" dirty="0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Başlıyoruz! </a:t>
            </a:r>
            <a:endParaRPr lang="tr-TR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0" name="Picture 4" descr="Download Highlight Free PNG HQ HQ PNG Image | FreePNGImg">
            <a:extLst>
              <a:ext uri="{FF2B5EF4-FFF2-40B4-BE49-F238E27FC236}">
                <a16:creationId xmlns:a16="http://schemas.microsoft.com/office/drawing/2014/main" xmlns="" id="{E904F550-A46E-4490-ABCD-FDE16A310D5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029386" y="5999374"/>
            <a:ext cx="956443" cy="4125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Picture 4" descr="Download Highlight Free PNG HQ HQ PNG Image | FreePNGImg">
            <a:extLst>
              <a:ext uri="{FF2B5EF4-FFF2-40B4-BE49-F238E27FC236}">
                <a16:creationId xmlns:a16="http://schemas.microsoft.com/office/drawing/2014/main" xmlns="" id="{7E47CCCD-2726-4B80-901C-4DD93A5F64A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46415" y="2382620"/>
            <a:ext cx="956443" cy="4125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" name="Picture 4" descr="Download Highlight Free PNG HQ HQ PNG Image | FreePNGImg">
            <a:extLst>
              <a:ext uri="{FF2B5EF4-FFF2-40B4-BE49-F238E27FC236}">
                <a16:creationId xmlns:a16="http://schemas.microsoft.com/office/drawing/2014/main" xmlns="" id="{8EDB27C0-C770-4C42-B10A-1B578164A2E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1408" y="3008219"/>
            <a:ext cx="2139357" cy="4125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1489483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Alt Başlık 2">
            <a:extLst>
              <a:ext uri="{FF2B5EF4-FFF2-40B4-BE49-F238E27FC236}">
                <a16:creationId xmlns:a16="http://schemas.microsoft.com/office/drawing/2014/main" xmlns="" id="{4DE85122-41A6-43DF-A9E4-E5B2F9B7FA4D}"/>
              </a:ext>
            </a:extLst>
          </p:cNvPr>
          <p:cNvSpPr txBox="1">
            <a:spLocks/>
          </p:cNvSpPr>
          <p:nvPr/>
        </p:nvSpPr>
        <p:spPr>
          <a:xfrm>
            <a:off x="108028" y="1933"/>
            <a:ext cx="12083972" cy="612032"/>
          </a:xfrm>
          <a:prstGeom prst="rect">
            <a:avLst/>
          </a:prstGeom>
        </p:spPr>
        <p:txBody>
          <a:bodyPr vert="horz" lIns="0" tIns="45720" rIns="0" bIns="45720" rtlCol="0" anchor="ctr">
            <a:normAutofit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Calibri" panose="020F0502020204030204" pitchFamily="34" charset="0"/>
              <a:buNone/>
            </a:pPr>
            <a:r>
              <a:rPr lang="tr-TR" sz="3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C# </a:t>
            </a:r>
            <a:r>
              <a:rPr lang="tr-TR" sz="3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Hello</a:t>
            </a:r>
            <a:r>
              <a:rPr lang="tr-TR" sz="3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World</a:t>
            </a:r>
          </a:p>
        </p:txBody>
      </p:sp>
      <p:sp>
        <p:nvSpPr>
          <p:cNvPr id="6" name="Alt Başlık 2">
            <a:extLst>
              <a:ext uri="{FF2B5EF4-FFF2-40B4-BE49-F238E27FC236}">
                <a16:creationId xmlns:a16="http://schemas.microsoft.com/office/drawing/2014/main" xmlns="" id="{615FDF6B-391F-4184-B633-E113FEF09731}"/>
              </a:ext>
            </a:extLst>
          </p:cNvPr>
          <p:cNvSpPr txBox="1">
            <a:spLocks/>
          </p:cNvSpPr>
          <p:nvPr/>
        </p:nvSpPr>
        <p:spPr>
          <a:xfrm>
            <a:off x="108028" y="627408"/>
            <a:ext cx="11975942" cy="5831266"/>
          </a:xfrm>
          <a:prstGeom prst="rect">
            <a:avLst/>
          </a:prstGeom>
        </p:spPr>
        <p:txBody>
          <a:bodyPr vert="horz" lIns="0" tIns="45720" rIns="0" bIns="45720" rtlCol="0" anchor="t">
            <a:normAutofit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just">
              <a:lnSpc>
                <a:spcPct val="100000"/>
              </a:lnSpc>
              <a:buNone/>
            </a:pPr>
            <a:r>
              <a:rPr lang="tr-TR" b="0" i="0" dirty="0">
                <a:solidFill>
                  <a:srgbClr val="222222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ADIM 3: Form ekranı açılıyor. </a:t>
            </a:r>
            <a:endParaRPr lang="tr-TR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Resim 3">
            <a:extLst>
              <a:ext uri="{FF2B5EF4-FFF2-40B4-BE49-F238E27FC236}">
                <a16:creationId xmlns:a16="http://schemas.microsoft.com/office/drawing/2014/main" xmlns="" id="{BA061B21-B6E6-4907-9EE5-A312DC0FB2D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7085" y="1010163"/>
            <a:ext cx="11345858" cy="5220429"/>
          </a:xfrm>
          <a:prstGeom prst="rect">
            <a:avLst/>
          </a:prstGeom>
        </p:spPr>
      </p:pic>
      <p:sp>
        <p:nvSpPr>
          <p:cNvPr id="8" name="Metin kutusu 7">
            <a:extLst>
              <a:ext uri="{FF2B5EF4-FFF2-40B4-BE49-F238E27FC236}">
                <a16:creationId xmlns:a16="http://schemas.microsoft.com/office/drawing/2014/main" xmlns="" id="{CFA35597-E865-4579-9437-43CE1BC5573A}"/>
              </a:ext>
            </a:extLst>
          </p:cNvPr>
          <p:cNvSpPr txBox="1"/>
          <p:nvPr/>
        </p:nvSpPr>
        <p:spPr>
          <a:xfrm>
            <a:off x="3760839" y="3059668"/>
            <a:ext cx="15131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tr-TR" dirty="0">
                <a:solidFill>
                  <a:srgbClr val="FF0000"/>
                </a:solidFill>
              </a:rPr>
              <a:t>FORM EKRANI</a:t>
            </a:r>
          </a:p>
        </p:txBody>
      </p:sp>
    </p:spTree>
    <p:extLst>
      <p:ext uri="{BB962C8B-B14F-4D97-AF65-F5344CB8AC3E}">
        <p14:creationId xmlns:p14="http://schemas.microsoft.com/office/powerpoint/2010/main" val="4146214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Alt Başlık 2">
            <a:extLst>
              <a:ext uri="{FF2B5EF4-FFF2-40B4-BE49-F238E27FC236}">
                <a16:creationId xmlns:a16="http://schemas.microsoft.com/office/drawing/2014/main" xmlns="" id="{4DE85122-41A6-43DF-A9E4-E5B2F9B7FA4D}"/>
              </a:ext>
            </a:extLst>
          </p:cNvPr>
          <p:cNvSpPr txBox="1">
            <a:spLocks/>
          </p:cNvSpPr>
          <p:nvPr/>
        </p:nvSpPr>
        <p:spPr>
          <a:xfrm>
            <a:off x="108028" y="1933"/>
            <a:ext cx="12083972" cy="612032"/>
          </a:xfrm>
          <a:prstGeom prst="rect">
            <a:avLst/>
          </a:prstGeom>
        </p:spPr>
        <p:txBody>
          <a:bodyPr vert="horz" lIns="0" tIns="45720" rIns="0" bIns="45720" rtlCol="0" anchor="ctr">
            <a:normAutofit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Calibri" panose="020F0502020204030204" pitchFamily="34" charset="0"/>
              <a:buNone/>
            </a:pPr>
            <a:r>
              <a:rPr lang="tr-TR" sz="3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C# </a:t>
            </a:r>
            <a:r>
              <a:rPr lang="tr-TR" sz="3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Hello</a:t>
            </a:r>
            <a:r>
              <a:rPr lang="tr-TR" sz="3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World</a:t>
            </a:r>
          </a:p>
        </p:txBody>
      </p:sp>
      <p:sp>
        <p:nvSpPr>
          <p:cNvPr id="6" name="Alt Başlık 2">
            <a:extLst>
              <a:ext uri="{FF2B5EF4-FFF2-40B4-BE49-F238E27FC236}">
                <a16:creationId xmlns:a16="http://schemas.microsoft.com/office/drawing/2014/main" xmlns="" id="{615FDF6B-391F-4184-B633-E113FEF09731}"/>
              </a:ext>
            </a:extLst>
          </p:cNvPr>
          <p:cNvSpPr txBox="1">
            <a:spLocks/>
          </p:cNvSpPr>
          <p:nvPr/>
        </p:nvSpPr>
        <p:spPr>
          <a:xfrm>
            <a:off x="108028" y="627408"/>
            <a:ext cx="11975942" cy="5831266"/>
          </a:xfrm>
          <a:prstGeom prst="rect">
            <a:avLst/>
          </a:prstGeom>
        </p:spPr>
        <p:txBody>
          <a:bodyPr vert="horz" lIns="0" tIns="45720" rIns="0" bIns="45720" rtlCol="0" anchor="t">
            <a:normAutofit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just">
              <a:lnSpc>
                <a:spcPct val="100000"/>
              </a:lnSpc>
              <a:buClr>
                <a:schemeClr val="bg1"/>
              </a:buClr>
              <a:buNone/>
            </a:pPr>
            <a:r>
              <a:rPr lang="tr-TR" b="0" i="1" dirty="0">
                <a:solidFill>
                  <a:srgbClr val="222222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Çözüm (</a:t>
            </a:r>
            <a:r>
              <a:rPr lang="tr-TR" b="0" i="1" dirty="0" err="1">
                <a:solidFill>
                  <a:srgbClr val="222222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solution</a:t>
            </a:r>
            <a:r>
              <a:rPr lang="tr-TR" b="0" i="1" dirty="0">
                <a:solidFill>
                  <a:srgbClr val="222222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  <a:r>
              <a:rPr lang="tr-TR" b="0" i="0" dirty="0">
                <a:solidFill>
                  <a:srgbClr val="222222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penceresinde WindowsFormsApp1 bulunmakta. </a:t>
            </a:r>
            <a:r>
              <a:rPr lang="en-US" b="0" i="0" dirty="0">
                <a:solidFill>
                  <a:srgbClr val="222222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Bu </a:t>
            </a:r>
            <a:r>
              <a:rPr lang="en-US" b="0" i="0" dirty="0" err="1">
                <a:solidFill>
                  <a:srgbClr val="222222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çözüm</a:t>
            </a:r>
            <a:r>
              <a:rPr lang="tr-TR" dirty="0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0" i="0" dirty="0">
                <a:solidFill>
                  <a:srgbClr val="222222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2 </a:t>
            </a:r>
            <a:r>
              <a:rPr lang="en-US" b="0" i="0" dirty="0" err="1">
                <a:solidFill>
                  <a:srgbClr val="222222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proje</a:t>
            </a:r>
            <a:r>
              <a:rPr lang="en-US" b="0" i="0" dirty="0">
                <a:solidFill>
                  <a:srgbClr val="222222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0" i="0" dirty="0" err="1">
                <a:solidFill>
                  <a:srgbClr val="222222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dosyasını</a:t>
            </a:r>
            <a:r>
              <a:rPr lang="en-US" b="0" i="0" dirty="0">
                <a:solidFill>
                  <a:srgbClr val="222222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0" i="0" dirty="0" err="1">
                <a:solidFill>
                  <a:srgbClr val="222222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içerecektir</a:t>
            </a:r>
            <a:r>
              <a:rPr lang="en-US" b="0" i="0" dirty="0">
                <a:solidFill>
                  <a:srgbClr val="222222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tr-TR" b="0" i="0" dirty="0">
              <a:solidFill>
                <a:srgbClr val="222222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indent="-457200" algn="just">
              <a:lnSpc>
                <a:spcPct val="100000"/>
              </a:lnSpc>
              <a:buClr>
                <a:schemeClr val="bg1"/>
              </a:buClr>
              <a:buFont typeface="+mj-lt"/>
              <a:buAutoNum type="arabicPeriod"/>
            </a:pPr>
            <a:r>
              <a:rPr lang="en-US" b="0" i="0" dirty="0">
                <a:solidFill>
                  <a:srgbClr val="222222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Forms1.cs </a:t>
            </a:r>
            <a:r>
              <a:rPr lang="en-US" b="0" i="0" dirty="0" err="1">
                <a:solidFill>
                  <a:srgbClr val="222222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adlı</a:t>
            </a:r>
            <a:r>
              <a:rPr lang="en-US" b="0" i="0" dirty="0">
                <a:solidFill>
                  <a:srgbClr val="222222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0" i="0" dirty="0" err="1">
                <a:solidFill>
                  <a:srgbClr val="222222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bir</a:t>
            </a:r>
            <a:r>
              <a:rPr lang="en-US" b="0" i="0" dirty="0">
                <a:solidFill>
                  <a:srgbClr val="222222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Form </a:t>
            </a:r>
            <a:r>
              <a:rPr lang="en-US" b="0" i="0" dirty="0" err="1">
                <a:solidFill>
                  <a:srgbClr val="222222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uygulaması</a:t>
            </a:r>
            <a:r>
              <a:rPr lang="en-US" b="0" i="0" dirty="0">
                <a:solidFill>
                  <a:srgbClr val="222222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. Bu </a:t>
            </a:r>
            <a:r>
              <a:rPr lang="en-US" b="0" i="0" dirty="0" err="1">
                <a:solidFill>
                  <a:srgbClr val="222222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dosya</a:t>
            </a:r>
            <a:r>
              <a:rPr lang="en-US" b="0" i="0" dirty="0">
                <a:solidFill>
                  <a:srgbClr val="222222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, Windows Form </a:t>
            </a:r>
            <a:r>
              <a:rPr lang="en-US" b="0" i="0" dirty="0" err="1">
                <a:solidFill>
                  <a:srgbClr val="222222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uygulamasının</a:t>
            </a:r>
            <a:r>
              <a:rPr lang="en-US" b="0" i="0" dirty="0">
                <a:solidFill>
                  <a:srgbClr val="222222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0" i="0" dirty="0" err="1">
                <a:solidFill>
                  <a:srgbClr val="222222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tüm</a:t>
            </a:r>
            <a:r>
              <a:rPr lang="en-US" b="0" i="0" dirty="0">
                <a:solidFill>
                  <a:srgbClr val="222222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0" i="0" dirty="0" err="1">
                <a:solidFill>
                  <a:srgbClr val="222222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kodunu</a:t>
            </a:r>
            <a:r>
              <a:rPr lang="en-US" b="0" i="0" dirty="0">
                <a:solidFill>
                  <a:srgbClr val="222222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0" i="0" dirty="0" err="1">
                <a:solidFill>
                  <a:srgbClr val="222222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içerecektir</a:t>
            </a:r>
            <a:r>
              <a:rPr lang="en-US" b="0" i="0" dirty="0">
                <a:solidFill>
                  <a:srgbClr val="222222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tr-TR" b="0" i="0" dirty="0">
              <a:solidFill>
                <a:srgbClr val="222222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indent="-457200" algn="just">
              <a:lnSpc>
                <a:spcPct val="100000"/>
              </a:lnSpc>
              <a:buClr>
                <a:schemeClr val="bg1"/>
              </a:buClr>
              <a:buFont typeface="+mj-lt"/>
              <a:buAutoNum type="arabicPeriod"/>
            </a:pPr>
            <a:r>
              <a:rPr lang="en-US" b="0" i="0" dirty="0" err="1">
                <a:solidFill>
                  <a:srgbClr val="222222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Program.cs</a:t>
            </a:r>
            <a:r>
              <a:rPr lang="en-US" b="0" i="0" dirty="0">
                <a:solidFill>
                  <a:srgbClr val="222222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0" i="0" dirty="0" err="1">
                <a:solidFill>
                  <a:srgbClr val="222222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adlı</a:t>
            </a:r>
            <a:r>
              <a:rPr lang="en-US" b="0" i="0" dirty="0">
                <a:solidFill>
                  <a:srgbClr val="222222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tr-TR" b="0" i="0" dirty="0">
                <a:solidFill>
                  <a:srgbClr val="222222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main (ana)</a:t>
            </a:r>
            <a:r>
              <a:rPr lang="en-US" b="0" i="0" dirty="0">
                <a:solidFill>
                  <a:srgbClr val="222222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program, Visual </a:t>
            </a:r>
            <a:r>
              <a:rPr lang="en-US" b="0" i="0" dirty="0" err="1">
                <a:solidFill>
                  <a:srgbClr val="222222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Studio'da</a:t>
            </a:r>
            <a:r>
              <a:rPr lang="en-US" b="0" i="0" dirty="0">
                <a:solidFill>
                  <a:srgbClr val="222222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yeni </a:t>
            </a:r>
            <a:r>
              <a:rPr lang="en-US" b="0" i="0" dirty="0" err="1">
                <a:solidFill>
                  <a:srgbClr val="222222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bir</a:t>
            </a:r>
            <a:r>
              <a:rPr lang="en-US" b="0" i="0" dirty="0">
                <a:solidFill>
                  <a:srgbClr val="222222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0" i="0" dirty="0" err="1">
                <a:solidFill>
                  <a:srgbClr val="222222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uygulama</a:t>
            </a:r>
            <a:r>
              <a:rPr lang="en-US" b="0" i="0" dirty="0">
                <a:solidFill>
                  <a:srgbClr val="222222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0" i="0" dirty="0" err="1">
                <a:solidFill>
                  <a:srgbClr val="222222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oluşturulduğunda</a:t>
            </a:r>
            <a:r>
              <a:rPr lang="en-US" b="0" i="0" dirty="0">
                <a:solidFill>
                  <a:srgbClr val="222222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0" i="0" dirty="0" err="1">
                <a:solidFill>
                  <a:srgbClr val="222222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oluşturulan</a:t>
            </a:r>
            <a:r>
              <a:rPr lang="en-US" b="0" i="0" dirty="0">
                <a:solidFill>
                  <a:srgbClr val="222222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0" i="0" dirty="0" err="1">
                <a:solidFill>
                  <a:srgbClr val="222222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varsayılan</a:t>
            </a:r>
            <a:r>
              <a:rPr lang="en-US" b="0" i="0" dirty="0">
                <a:solidFill>
                  <a:srgbClr val="222222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0" i="0" dirty="0" err="1">
                <a:solidFill>
                  <a:srgbClr val="222222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kod</a:t>
            </a:r>
            <a:r>
              <a:rPr lang="en-US" b="0" i="0" dirty="0">
                <a:solidFill>
                  <a:srgbClr val="222222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0" i="0" dirty="0" err="1">
                <a:solidFill>
                  <a:srgbClr val="222222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dosyasıdır</a:t>
            </a:r>
            <a:r>
              <a:rPr lang="en-US" b="0" i="0" dirty="0">
                <a:solidFill>
                  <a:srgbClr val="222222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. Bu </a:t>
            </a:r>
            <a:r>
              <a:rPr lang="en-US" b="0" i="0" dirty="0" err="1">
                <a:solidFill>
                  <a:srgbClr val="222222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kod</a:t>
            </a:r>
            <a:r>
              <a:rPr lang="en-US" b="0" i="0" dirty="0">
                <a:solidFill>
                  <a:srgbClr val="222222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b="0" i="0" dirty="0" err="1">
                <a:solidFill>
                  <a:srgbClr val="222222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bir</a:t>
            </a:r>
            <a:r>
              <a:rPr lang="en-US" b="0" i="0" dirty="0">
                <a:solidFill>
                  <a:srgbClr val="222222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0" i="0" dirty="0" err="1">
                <a:solidFill>
                  <a:srgbClr val="222222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bütün</a:t>
            </a:r>
            <a:r>
              <a:rPr lang="en-US" b="0" i="0" dirty="0">
                <a:solidFill>
                  <a:srgbClr val="222222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0" i="0" dirty="0" err="1">
                <a:solidFill>
                  <a:srgbClr val="222222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olarak</a:t>
            </a:r>
            <a:r>
              <a:rPr lang="en-US" b="0" i="0" dirty="0">
                <a:solidFill>
                  <a:srgbClr val="222222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0" i="0" dirty="0" err="1">
                <a:solidFill>
                  <a:srgbClr val="222222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uygulamanın</a:t>
            </a:r>
            <a:r>
              <a:rPr lang="en-US" b="0" i="0" dirty="0">
                <a:solidFill>
                  <a:srgbClr val="222222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0" i="0" dirty="0" err="1">
                <a:solidFill>
                  <a:srgbClr val="222222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başlangıç</a:t>
            </a:r>
            <a:r>
              <a:rPr lang="en-US" b="0" i="0" dirty="0">
                <a:solidFill>
                  <a:srgbClr val="222222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0" i="0" dirty="0" err="1">
                <a:solidFill>
                  <a:srgbClr val="222222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kodunu</a:t>
            </a:r>
            <a:r>
              <a:rPr lang="en-US" b="0" i="0" dirty="0">
                <a:solidFill>
                  <a:srgbClr val="222222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0" i="0" dirty="0" err="1">
                <a:solidFill>
                  <a:srgbClr val="222222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içerecektir</a:t>
            </a:r>
            <a:r>
              <a:rPr lang="en-US" b="0" i="0" dirty="0">
                <a:solidFill>
                  <a:srgbClr val="222222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tr-TR" b="0" i="0" dirty="0">
              <a:solidFill>
                <a:srgbClr val="222222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lnSpc>
                <a:spcPct val="100000"/>
              </a:lnSpc>
              <a:buClr>
                <a:schemeClr val="bg1"/>
              </a:buClr>
              <a:buNone/>
            </a:pPr>
            <a:r>
              <a:rPr lang="tr-TR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Visual </a:t>
            </a:r>
            <a:r>
              <a:rPr lang="tr-TR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Studio'nun</a:t>
            </a:r>
            <a:r>
              <a:rPr lang="tr-TR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sol tarafında ayrıca bir Araç Kutusu mevcut. </a:t>
            </a:r>
          </a:p>
          <a:p>
            <a:pPr marL="0" indent="0" algn="just">
              <a:lnSpc>
                <a:spcPct val="100000"/>
              </a:lnSpc>
              <a:buClr>
                <a:schemeClr val="bg1"/>
              </a:buClr>
              <a:buNone/>
            </a:pPr>
            <a:r>
              <a:rPr lang="tr-TR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Araç kutusu, bir Windows </a:t>
            </a:r>
            <a:r>
              <a:rPr lang="tr-TR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Forms'a</a:t>
            </a:r>
            <a:r>
              <a:rPr lang="tr-TR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eklenebilecek tüm kontrolleri içerir. </a:t>
            </a:r>
          </a:p>
          <a:p>
            <a:pPr marL="0" indent="0" algn="just">
              <a:lnSpc>
                <a:spcPct val="100000"/>
              </a:lnSpc>
              <a:buClr>
                <a:schemeClr val="bg1"/>
              </a:buClr>
              <a:buNone/>
            </a:pPr>
            <a:r>
              <a:rPr lang="tr-TR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Metin kutusu veya etiket gibi denetimler, Windows </a:t>
            </a:r>
            <a:r>
              <a:rPr lang="tr-TR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Forms'a</a:t>
            </a:r>
            <a:r>
              <a:rPr lang="tr-TR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eklenebilecek denetimlerden yalnızca birkaçıdır. Aşağıda, Araç Kutusunun nasıl göründüğünün bir ekran görüntüsü bulunmaktadır:</a:t>
            </a:r>
          </a:p>
        </p:txBody>
      </p:sp>
    </p:spTree>
    <p:extLst>
      <p:ext uri="{BB962C8B-B14F-4D97-AF65-F5344CB8AC3E}">
        <p14:creationId xmlns:p14="http://schemas.microsoft.com/office/powerpoint/2010/main" val="148991675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Alt Başlık 2">
            <a:extLst>
              <a:ext uri="{FF2B5EF4-FFF2-40B4-BE49-F238E27FC236}">
                <a16:creationId xmlns:a16="http://schemas.microsoft.com/office/drawing/2014/main" xmlns="" id="{4DE85122-41A6-43DF-A9E4-E5B2F9B7FA4D}"/>
              </a:ext>
            </a:extLst>
          </p:cNvPr>
          <p:cNvSpPr txBox="1">
            <a:spLocks/>
          </p:cNvSpPr>
          <p:nvPr/>
        </p:nvSpPr>
        <p:spPr>
          <a:xfrm>
            <a:off x="108028" y="1933"/>
            <a:ext cx="12083972" cy="612032"/>
          </a:xfrm>
          <a:prstGeom prst="rect">
            <a:avLst/>
          </a:prstGeom>
        </p:spPr>
        <p:txBody>
          <a:bodyPr vert="horz" lIns="0" tIns="45720" rIns="0" bIns="45720" rtlCol="0" anchor="ctr">
            <a:normAutofit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Calibri" panose="020F0502020204030204" pitchFamily="34" charset="0"/>
              <a:buNone/>
            </a:pPr>
            <a:r>
              <a:rPr lang="tr-TR" sz="3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C# </a:t>
            </a:r>
            <a:r>
              <a:rPr lang="tr-TR" sz="3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Hello</a:t>
            </a:r>
            <a:r>
              <a:rPr lang="tr-TR" sz="3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World</a:t>
            </a:r>
          </a:p>
        </p:txBody>
      </p:sp>
      <p:pic>
        <p:nvPicPr>
          <p:cNvPr id="2" name="Resim 1">
            <a:extLst>
              <a:ext uri="{FF2B5EF4-FFF2-40B4-BE49-F238E27FC236}">
                <a16:creationId xmlns:a16="http://schemas.microsoft.com/office/drawing/2014/main" xmlns="" id="{D80022E5-71AD-4AE6-AF39-3C177BAA84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7330" y="599680"/>
            <a:ext cx="6115904" cy="5658640"/>
          </a:xfrm>
          <a:prstGeom prst="rect">
            <a:avLst/>
          </a:prstGeom>
        </p:spPr>
      </p:pic>
      <p:sp>
        <p:nvSpPr>
          <p:cNvPr id="7" name="Metin kutusu 6">
            <a:extLst>
              <a:ext uri="{FF2B5EF4-FFF2-40B4-BE49-F238E27FC236}">
                <a16:creationId xmlns:a16="http://schemas.microsoft.com/office/drawing/2014/main" xmlns="" id="{47971B1F-C3EE-469B-B808-5C24922A8901}"/>
              </a:ext>
            </a:extLst>
          </p:cNvPr>
          <p:cNvSpPr txBox="1"/>
          <p:nvPr/>
        </p:nvSpPr>
        <p:spPr>
          <a:xfrm>
            <a:off x="6482536" y="599680"/>
            <a:ext cx="5601436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tr-T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Son adım olarak </a:t>
            </a:r>
            <a:r>
              <a:rPr lang="tr-TR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Form’a</a:t>
            </a:r>
            <a:r>
              <a:rPr lang="tr-T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"</a:t>
            </a:r>
            <a:r>
              <a:rPr lang="tr-TR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Hello</a:t>
            </a:r>
            <a:r>
              <a:rPr lang="tr-T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World" yazacak bir etiket ekleyeceğiz. </a:t>
            </a:r>
          </a:p>
          <a:p>
            <a:pPr algn="just"/>
            <a:r>
              <a:rPr lang="tr-T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Araç kutusundan, Etiket (</a:t>
            </a:r>
            <a:r>
              <a:rPr lang="tr-TR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Label</a:t>
            </a:r>
            <a:r>
              <a:rPr lang="tr-T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 kontrolünü seçmeniz ve bunu </a:t>
            </a:r>
            <a:r>
              <a:rPr lang="tr-TR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Form'a</a:t>
            </a:r>
            <a:r>
              <a:rPr lang="tr-T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sürüklemeniz gerekir.</a:t>
            </a:r>
          </a:p>
        </p:txBody>
      </p:sp>
    </p:spTree>
    <p:extLst>
      <p:ext uri="{BB962C8B-B14F-4D97-AF65-F5344CB8AC3E}">
        <p14:creationId xmlns:p14="http://schemas.microsoft.com/office/powerpoint/2010/main" val="129506935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Alt Başlık 2">
            <a:extLst>
              <a:ext uri="{FF2B5EF4-FFF2-40B4-BE49-F238E27FC236}">
                <a16:creationId xmlns:a16="http://schemas.microsoft.com/office/drawing/2014/main" xmlns="" id="{4DE85122-41A6-43DF-A9E4-E5B2F9B7FA4D}"/>
              </a:ext>
            </a:extLst>
          </p:cNvPr>
          <p:cNvSpPr txBox="1">
            <a:spLocks/>
          </p:cNvSpPr>
          <p:nvPr/>
        </p:nvSpPr>
        <p:spPr>
          <a:xfrm>
            <a:off x="108028" y="1933"/>
            <a:ext cx="12083972" cy="612032"/>
          </a:xfrm>
          <a:prstGeom prst="rect">
            <a:avLst/>
          </a:prstGeom>
        </p:spPr>
        <p:txBody>
          <a:bodyPr vert="horz" lIns="0" tIns="45720" rIns="0" bIns="45720" rtlCol="0" anchor="ctr">
            <a:normAutofit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Calibri" panose="020F0502020204030204" pitchFamily="34" charset="0"/>
              <a:buNone/>
            </a:pPr>
            <a:r>
              <a:rPr lang="tr-TR" sz="3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C# </a:t>
            </a:r>
            <a:r>
              <a:rPr lang="tr-TR" sz="3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Hello</a:t>
            </a:r>
            <a:r>
              <a:rPr lang="tr-TR" sz="3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World</a:t>
            </a:r>
          </a:p>
        </p:txBody>
      </p:sp>
      <p:sp>
        <p:nvSpPr>
          <p:cNvPr id="6" name="Alt Başlık 2">
            <a:extLst>
              <a:ext uri="{FF2B5EF4-FFF2-40B4-BE49-F238E27FC236}">
                <a16:creationId xmlns:a16="http://schemas.microsoft.com/office/drawing/2014/main" xmlns="" id="{615FDF6B-391F-4184-B633-E113FEF09731}"/>
              </a:ext>
            </a:extLst>
          </p:cNvPr>
          <p:cNvSpPr txBox="1">
            <a:spLocks/>
          </p:cNvSpPr>
          <p:nvPr/>
        </p:nvSpPr>
        <p:spPr>
          <a:xfrm>
            <a:off x="108028" y="627408"/>
            <a:ext cx="11975942" cy="5831266"/>
          </a:xfrm>
          <a:prstGeom prst="rect">
            <a:avLst/>
          </a:prstGeom>
        </p:spPr>
        <p:txBody>
          <a:bodyPr vert="horz" lIns="0" tIns="45720" rIns="0" bIns="45720" rtlCol="0" anchor="t">
            <a:normAutofit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just">
              <a:lnSpc>
                <a:spcPct val="100000"/>
              </a:lnSpc>
              <a:buNone/>
            </a:pPr>
            <a:r>
              <a:rPr lang="tr-TR" b="0" i="0" dirty="0">
                <a:solidFill>
                  <a:srgbClr val="222222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ADIM 4: </a:t>
            </a:r>
            <a:r>
              <a:rPr lang="tr-TR" b="0" i="0" dirty="0" err="1">
                <a:solidFill>
                  <a:srgbClr val="222222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Label</a:t>
            </a:r>
            <a:r>
              <a:rPr lang="tr-TR" b="0" i="0" dirty="0">
                <a:solidFill>
                  <a:srgbClr val="222222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ekleyerek </a:t>
            </a:r>
            <a:r>
              <a:rPr lang="tr-TR" b="0" i="0" dirty="0" err="1">
                <a:solidFill>
                  <a:srgbClr val="222222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Hello</a:t>
            </a:r>
            <a:r>
              <a:rPr lang="tr-TR" b="0" i="0" dirty="0">
                <a:solidFill>
                  <a:srgbClr val="222222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World yazıyoruz. Bunun için etiketin sağına tıklayıp özellikler kısmından </a:t>
            </a:r>
            <a:r>
              <a:rPr lang="tr-TR" b="0" i="0" dirty="0" err="1">
                <a:solidFill>
                  <a:srgbClr val="222222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label</a:t>
            </a:r>
            <a:r>
              <a:rPr lang="tr-TR" b="0" i="0" dirty="0">
                <a:solidFill>
                  <a:srgbClr val="222222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metnini güncelleyebiliriz. Bir diğer yol ise sa</a:t>
            </a:r>
            <a:r>
              <a:rPr lang="tr-TR" dirty="0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ğ alt köşedeki özellik penceresinden bu işlemi yapabiliriz. </a:t>
            </a:r>
            <a:endParaRPr lang="tr-TR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" name="Resim 1">
            <a:extLst>
              <a:ext uri="{FF2B5EF4-FFF2-40B4-BE49-F238E27FC236}">
                <a16:creationId xmlns:a16="http://schemas.microsoft.com/office/drawing/2014/main" xmlns="" id="{42364D2B-D432-4A22-88DB-842744E8C4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4440" y="1279239"/>
            <a:ext cx="9664659" cy="4951353"/>
          </a:xfrm>
          <a:prstGeom prst="rect">
            <a:avLst/>
          </a:prstGeom>
        </p:spPr>
      </p:pic>
      <p:cxnSp>
        <p:nvCxnSpPr>
          <p:cNvPr id="7" name="Düz Ok Bağlayıcısı 6">
            <a:extLst>
              <a:ext uri="{FF2B5EF4-FFF2-40B4-BE49-F238E27FC236}">
                <a16:creationId xmlns:a16="http://schemas.microsoft.com/office/drawing/2014/main" xmlns="" id="{373ED2B6-0D95-44AA-A814-D4E02DEBDFBF}"/>
              </a:ext>
            </a:extLst>
          </p:cNvPr>
          <p:cNvCxnSpPr/>
          <p:nvPr/>
        </p:nvCxnSpPr>
        <p:spPr>
          <a:xfrm flipV="1">
            <a:off x="2079523" y="2979174"/>
            <a:ext cx="3038167" cy="766916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Düz Ok Bağlayıcısı 8">
            <a:extLst>
              <a:ext uri="{FF2B5EF4-FFF2-40B4-BE49-F238E27FC236}">
                <a16:creationId xmlns:a16="http://schemas.microsoft.com/office/drawing/2014/main" xmlns="" id="{914D6157-342F-46F2-9470-6FF3749501C1}"/>
              </a:ext>
            </a:extLst>
          </p:cNvPr>
          <p:cNvCxnSpPr>
            <a:cxnSpLocks/>
          </p:cNvCxnSpPr>
          <p:nvPr/>
        </p:nvCxnSpPr>
        <p:spPr>
          <a:xfrm>
            <a:off x="5736769" y="3099619"/>
            <a:ext cx="3392483" cy="2372033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3228627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Alt Başlık 2">
            <a:extLst>
              <a:ext uri="{FF2B5EF4-FFF2-40B4-BE49-F238E27FC236}">
                <a16:creationId xmlns:a16="http://schemas.microsoft.com/office/drawing/2014/main" xmlns="" id="{4DE85122-41A6-43DF-A9E4-E5B2F9B7FA4D}"/>
              </a:ext>
            </a:extLst>
          </p:cNvPr>
          <p:cNvSpPr txBox="1">
            <a:spLocks/>
          </p:cNvSpPr>
          <p:nvPr/>
        </p:nvSpPr>
        <p:spPr>
          <a:xfrm>
            <a:off x="108028" y="1933"/>
            <a:ext cx="12083972" cy="612032"/>
          </a:xfrm>
          <a:prstGeom prst="rect">
            <a:avLst/>
          </a:prstGeom>
        </p:spPr>
        <p:txBody>
          <a:bodyPr vert="horz" lIns="0" tIns="45720" rIns="0" bIns="45720" rtlCol="0" anchor="ctr">
            <a:normAutofit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Calibri" panose="020F0502020204030204" pitchFamily="34" charset="0"/>
              <a:buNone/>
            </a:pPr>
            <a:r>
              <a:rPr lang="tr-TR" sz="3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C# </a:t>
            </a:r>
            <a:r>
              <a:rPr lang="tr-TR" sz="3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Hello</a:t>
            </a:r>
            <a:r>
              <a:rPr lang="tr-TR" sz="3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World</a:t>
            </a:r>
          </a:p>
        </p:txBody>
      </p:sp>
      <p:sp>
        <p:nvSpPr>
          <p:cNvPr id="6" name="Alt Başlık 2">
            <a:extLst>
              <a:ext uri="{FF2B5EF4-FFF2-40B4-BE49-F238E27FC236}">
                <a16:creationId xmlns:a16="http://schemas.microsoft.com/office/drawing/2014/main" xmlns="" id="{615FDF6B-391F-4184-B633-E113FEF09731}"/>
              </a:ext>
            </a:extLst>
          </p:cNvPr>
          <p:cNvSpPr txBox="1">
            <a:spLocks/>
          </p:cNvSpPr>
          <p:nvPr/>
        </p:nvSpPr>
        <p:spPr>
          <a:xfrm>
            <a:off x="108028" y="627408"/>
            <a:ext cx="11975942" cy="5831266"/>
          </a:xfrm>
          <a:prstGeom prst="rect">
            <a:avLst/>
          </a:prstGeom>
        </p:spPr>
        <p:txBody>
          <a:bodyPr vert="horz" lIns="0" tIns="45720" rIns="0" bIns="45720" rtlCol="0" anchor="t">
            <a:normAutofit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just">
              <a:lnSpc>
                <a:spcPct val="100000"/>
              </a:lnSpc>
              <a:buNone/>
            </a:pPr>
            <a:r>
              <a:rPr lang="tr-TR" b="0" i="0" dirty="0">
                <a:solidFill>
                  <a:srgbClr val="222222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ADIM 5: Ekran </a:t>
            </a:r>
            <a:r>
              <a:rPr lang="tr-TR" b="0" i="0" dirty="0" err="1">
                <a:solidFill>
                  <a:srgbClr val="222222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Hello</a:t>
            </a:r>
            <a:r>
              <a:rPr lang="tr-TR" b="0" i="0" dirty="0">
                <a:solidFill>
                  <a:srgbClr val="222222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World yazmakta. </a:t>
            </a:r>
            <a:r>
              <a:rPr lang="tr-TR" dirty="0" err="1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Label</a:t>
            </a:r>
            <a:r>
              <a:rPr lang="tr-TR" dirty="0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için istenilen görsel ayarlamalar yine aynı pencere altındaki menülerden yapılabilir. Örneğin burada mevcut font için font boyutu 25 olarak ayarlanmıştır. </a:t>
            </a:r>
            <a:endParaRPr lang="tr-TR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" name="Resim 2">
            <a:extLst>
              <a:ext uri="{FF2B5EF4-FFF2-40B4-BE49-F238E27FC236}">
                <a16:creationId xmlns:a16="http://schemas.microsoft.com/office/drawing/2014/main" xmlns="" id="{7585FF4F-E4D4-4C8B-80FF-08531B98E6C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91310" y="1345952"/>
            <a:ext cx="9917408" cy="50201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9895548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Alt Başlık 2">
            <a:extLst>
              <a:ext uri="{FF2B5EF4-FFF2-40B4-BE49-F238E27FC236}">
                <a16:creationId xmlns:a16="http://schemas.microsoft.com/office/drawing/2014/main" xmlns="" id="{4DE85122-41A6-43DF-A9E4-E5B2F9B7FA4D}"/>
              </a:ext>
            </a:extLst>
          </p:cNvPr>
          <p:cNvSpPr txBox="1">
            <a:spLocks/>
          </p:cNvSpPr>
          <p:nvPr/>
        </p:nvSpPr>
        <p:spPr>
          <a:xfrm>
            <a:off x="108028" y="1933"/>
            <a:ext cx="12083972" cy="612032"/>
          </a:xfrm>
          <a:prstGeom prst="rect">
            <a:avLst/>
          </a:prstGeom>
        </p:spPr>
        <p:txBody>
          <a:bodyPr vert="horz" lIns="0" tIns="45720" rIns="0" bIns="45720" rtlCol="0" anchor="ctr">
            <a:normAutofit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Calibri" panose="020F0502020204030204" pitchFamily="34" charset="0"/>
              <a:buNone/>
            </a:pPr>
            <a:r>
              <a:rPr lang="tr-TR" sz="3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Bir Forma Kontroller Ekleme – Örnek Uygulama Üzerinden</a:t>
            </a:r>
          </a:p>
        </p:txBody>
      </p:sp>
      <p:sp>
        <p:nvSpPr>
          <p:cNvPr id="6" name="Alt Başlık 2">
            <a:extLst>
              <a:ext uri="{FF2B5EF4-FFF2-40B4-BE49-F238E27FC236}">
                <a16:creationId xmlns:a16="http://schemas.microsoft.com/office/drawing/2014/main" xmlns="" id="{615FDF6B-391F-4184-B633-E113FEF09731}"/>
              </a:ext>
            </a:extLst>
          </p:cNvPr>
          <p:cNvSpPr txBox="1">
            <a:spLocks/>
          </p:cNvSpPr>
          <p:nvPr/>
        </p:nvSpPr>
        <p:spPr>
          <a:xfrm>
            <a:off x="108028" y="627408"/>
            <a:ext cx="11975942" cy="5831266"/>
          </a:xfrm>
          <a:prstGeom prst="rect">
            <a:avLst/>
          </a:prstGeom>
        </p:spPr>
        <p:txBody>
          <a:bodyPr vert="horz" lIns="0" tIns="45720" rIns="0" bIns="45720" rtlCol="0" anchor="t">
            <a:normAutofit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just">
              <a:lnSpc>
                <a:spcPct val="100000"/>
              </a:lnSpc>
              <a:buClr>
                <a:schemeClr val="bg1"/>
              </a:buClr>
              <a:buNone/>
            </a:pPr>
            <a:r>
              <a:rPr lang="tr-TR" b="0" dirty="0">
                <a:solidFill>
                  <a:srgbClr val="222222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Aşağıdaki işlevselliğe sahip olacak bir C# form ekranı oluşturacağız. </a:t>
            </a:r>
          </a:p>
          <a:p>
            <a:pPr lvl="1" algn="just">
              <a:lnSpc>
                <a:spcPct val="100000"/>
              </a:lnSpc>
              <a:buClr>
                <a:schemeClr val="bg1"/>
              </a:buClr>
              <a:buFont typeface="Wingdings" panose="05000000000000000000" pitchFamily="2" charset="2"/>
              <a:buChar char="§"/>
            </a:pPr>
            <a:r>
              <a:rPr lang="tr-TR" sz="2000" b="0" smtClean="0">
                <a:solidFill>
                  <a:srgbClr val="222222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Kullanıcının </a:t>
            </a:r>
            <a:r>
              <a:rPr lang="tr-TR" sz="2000" b="0" dirty="0">
                <a:solidFill>
                  <a:srgbClr val="222222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ad ve adres girebileceği (elle girilecek)</a:t>
            </a:r>
          </a:p>
          <a:p>
            <a:pPr lvl="1" algn="just">
              <a:lnSpc>
                <a:spcPct val="100000"/>
              </a:lnSpc>
              <a:buClr>
                <a:schemeClr val="bg1"/>
              </a:buClr>
              <a:buFont typeface="Wingdings" panose="05000000000000000000" pitchFamily="2" charset="2"/>
              <a:buChar char="§"/>
            </a:pPr>
            <a:r>
              <a:rPr lang="tr-TR" sz="2000" b="0" dirty="0">
                <a:solidFill>
                  <a:srgbClr val="222222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Kullanıcının ikamet ettiği şehri seçebileceği (seçerek)</a:t>
            </a:r>
          </a:p>
          <a:p>
            <a:pPr lvl="1" algn="just">
              <a:lnSpc>
                <a:spcPct val="100000"/>
              </a:lnSpc>
              <a:buClr>
                <a:schemeClr val="bg1"/>
              </a:buClr>
              <a:buFont typeface="Wingdings" panose="05000000000000000000" pitchFamily="2" charset="2"/>
              <a:buChar char="§"/>
            </a:pPr>
            <a:r>
              <a:rPr lang="tr-TR" sz="2000" b="0" dirty="0">
                <a:solidFill>
                  <a:srgbClr val="222222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Kullanıcının cinsiyet için seçenek girebileceği (seçerek)</a:t>
            </a:r>
          </a:p>
          <a:p>
            <a:pPr lvl="1" algn="just">
              <a:lnSpc>
                <a:spcPct val="100000"/>
              </a:lnSpc>
              <a:buClr>
                <a:schemeClr val="bg1"/>
              </a:buClr>
              <a:buFont typeface="Wingdings" panose="05000000000000000000" pitchFamily="2" charset="2"/>
              <a:buChar char="§"/>
            </a:pPr>
            <a:r>
              <a:rPr lang="tr-TR" sz="2000" b="0" dirty="0">
                <a:solidFill>
                  <a:srgbClr val="222222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Kullanıcının almak istediği bir kursu seçebileceği. (seçerek)</a:t>
            </a:r>
          </a:p>
          <a:p>
            <a:pPr marL="201168" lvl="1" indent="0" algn="just">
              <a:lnSpc>
                <a:spcPct val="100000"/>
              </a:lnSpc>
              <a:buClr>
                <a:schemeClr val="bg1"/>
              </a:buClr>
              <a:buNone/>
            </a:pPr>
            <a:endParaRPr lang="tr-TR" sz="2000" dirty="0">
              <a:solidFill>
                <a:srgbClr val="222222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1567385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Alt Başlık 2">
            <a:extLst>
              <a:ext uri="{FF2B5EF4-FFF2-40B4-BE49-F238E27FC236}">
                <a16:creationId xmlns:a16="http://schemas.microsoft.com/office/drawing/2014/main" xmlns="" id="{4DE85122-41A6-43DF-A9E4-E5B2F9B7FA4D}"/>
              </a:ext>
            </a:extLst>
          </p:cNvPr>
          <p:cNvSpPr txBox="1">
            <a:spLocks/>
          </p:cNvSpPr>
          <p:nvPr/>
        </p:nvSpPr>
        <p:spPr>
          <a:xfrm>
            <a:off x="108028" y="1933"/>
            <a:ext cx="12083972" cy="612032"/>
          </a:xfrm>
          <a:prstGeom prst="rect">
            <a:avLst/>
          </a:prstGeom>
        </p:spPr>
        <p:txBody>
          <a:bodyPr vert="horz" lIns="0" tIns="45720" rIns="0" bIns="45720" rtlCol="0" anchor="ctr">
            <a:normAutofit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Calibri" panose="020F0502020204030204" pitchFamily="34" charset="0"/>
              <a:buNone/>
            </a:pPr>
            <a:r>
              <a:rPr lang="tr-TR" sz="3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Bir Forma Kontroller Ekleme – Örnek Uygulama Üzerinden</a:t>
            </a:r>
          </a:p>
        </p:txBody>
      </p:sp>
      <p:sp>
        <p:nvSpPr>
          <p:cNvPr id="6" name="Alt Başlık 2">
            <a:extLst>
              <a:ext uri="{FF2B5EF4-FFF2-40B4-BE49-F238E27FC236}">
                <a16:creationId xmlns:a16="http://schemas.microsoft.com/office/drawing/2014/main" xmlns="" id="{615FDF6B-391F-4184-B633-E113FEF09731}"/>
              </a:ext>
            </a:extLst>
          </p:cNvPr>
          <p:cNvSpPr txBox="1">
            <a:spLocks/>
          </p:cNvSpPr>
          <p:nvPr/>
        </p:nvSpPr>
        <p:spPr>
          <a:xfrm>
            <a:off x="1" y="627408"/>
            <a:ext cx="4273932" cy="3295663"/>
          </a:xfrm>
          <a:prstGeom prst="rect">
            <a:avLst/>
          </a:prstGeom>
        </p:spPr>
        <p:txBody>
          <a:bodyPr vert="horz" lIns="0" tIns="45720" rIns="0" bIns="45720" rtlCol="0" anchor="t">
            <a:normAutofit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201168" lvl="1" indent="0" algn="just">
              <a:lnSpc>
                <a:spcPct val="100000"/>
              </a:lnSpc>
              <a:buClr>
                <a:schemeClr val="bg1"/>
              </a:buClr>
              <a:buNone/>
            </a:pPr>
            <a:r>
              <a:rPr lang="tr-TR" sz="2000" b="1" dirty="0" err="1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Group</a:t>
            </a:r>
            <a:r>
              <a:rPr lang="tr-TR" sz="2000" b="1" dirty="0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tr-TR" sz="2000" b="1" dirty="0" err="1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box</a:t>
            </a:r>
            <a:r>
              <a:rPr lang="tr-TR" sz="2000" b="1" dirty="0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</a:p>
          <a:p>
            <a:pPr marL="201168" lvl="1" indent="0">
              <a:lnSpc>
                <a:spcPct val="100000"/>
              </a:lnSpc>
              <a:buClr>
                <a:schemeClr val="bg1"/>
              </a:buClr>
              <a:buNone/>
            </a:pPr>
            <a:r>
              <a:rPr lang="tr-TR" sz="2000" dirty="0" err="1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Group</a:t>
            </a:r>
            <a:r>
              <a:rPr lang="tr-TR" sz="2000" dirty="0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tr-TR" sz="2000" dirty="0" err="1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box</a:t>
            </a:r>
            <a:r>
              <a:rPr lang="tr-TR" sz="2000" dirty="0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bir arada tutmak istediğimiz özellikler için kullandığımız bir araçtır. </a:t>
            </a:r>
          </a:p>
          <a:p>
            <a:pPr marL="201168" lvl="1" indent="0">
              <a:lnSpc>
                <a:spcPct val="100000"/>
              </a:lnSpc>
              <a:buClr>
                <a:schemeClr val="bg1"/>
              </a:buClr>
              <a:buNone/>
            </a:pPr>
            <a:r>
              <a:rPr lang="tr-TR" sz="2000" i="1" dirty="0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Araçlar</a:t>
            </a:r>
            <a:r>
              <a:rPr lang="tr-TR" sz="2000" dirty="0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menüsünden forma bir </a:t>
            </a:r>
            <a:r>
              <a:rPr lang="tr-TR" sz="2000" i="1" dirty="0" err="1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GroupBox</a:t>
            </a:r>
            <a:r>
              <a:rPr lang="tr-TR" sz="2000" dirty="0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sürüklüyoruz ve </a:t>
            </a:r>
            <a:r>
              <a:rPr lang="tr-TR" sz="2000" i="1" dirty="0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Özellikler</a:t>
            </a:r>
            <a:r>
              <a:rPr lang="tr-TR" sz="2000" dirty="0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menüsünden istediğimiz biçimde ayarlıyoruz.</a:t>
            </a:r>
            <a:endParaRPr lang="tr-TR" sz="2000" b="0" dirty="0">
              <a:solidFill>
                <a:srgbClr val="222222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" name="Resim 1">
            <a:extLst>
              <a:ext uri="{FF2B5EF4-FFF2-40B4-BE49-F238E27FC236}">
                <a16:creationId xmlns:a16="http://schemas.microsoft.com/office/drawing/2014/main" xmlns="" id="{D9F79E21-27AE-4DC1-859A-CB139595676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73934" y="627408"/>
            <a:ext cx="7810038" cy="4593522"/>
          </a:xfrm>
          <a:prstGeom prst="rect">
            <a:avLst/>
          </a:prstGeom>
        </p:spPr>
      </p:pic>
      <p:sp>
        <p:nvSpPr>
          <p:cNvPr id="7" name="Dikdörtgen 6">
            <a:extLst>
              <a:ext uri="{FF2B5EF4-FFF2-40B4-BE49-F238E27FC236}">
                <a16:creationId xmlns:a16="http://schemas.microsoft.com/office/drawing/2014/main" xmlns="" id="{AC29510F-4939-4595-AD09-1F5DB4B259CF}"/>
              </a:ext>
            </a:extLst>
          </p:cNvPr>
          <p:cNvSpPr/>
          <p:nvPr/>
        </p:nvSpPr>
        <p:spPr>
          <a:xfrm>
            <a:off x="9291483" y="3923071"/>
            <a:ext cx="2128811" cy="33921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tr-TR" dirty="0"/>
          </a:p>
        </p:txBody>
      </p:sp>
      <p:sp>
        <p:nvSpPr>
          <p:cNvPr id="8" name="Dikdörtgen 7">
            <a:extLst>
              <a:ext uri="{FF2B5EF4-FFF2-40B4-BE49-F238E27FC236}">
                <a16:creationId xmlns:a16="http://schemas.microsoft.com/office/drawing/2014/main" xmlns="" id="{F3067E66-3F57-42CE-9187-F7089BC969E0}"/>
              </a:ext>
            </a:extLst>
          </p:cNvPr>
          <p:cNvSpPr/>
          <p:nvPr/>
        </p:nvSpPr>
        <p:spPr>
          <a:xfrm>
            <a:off x="4273935" y="2607079"/>
            <a:ext cx="1654918" cy="28360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tr-TR" dirty="0"/>
          </a:p>
        </p:txBody>
      </p:sp>
      <p:sp>
        <p:nvSpPr>
          <p:cNvPr id="9" name="Dikdörtgen 8">
            <a:extLst>
              <a:ext uri="{FF2B5EF4-FFF2-40B4-BE49-F238E27FC236}">
                <a16:creationId xmlns:a16="http://schemas.microsoft.com/office/drawing/2014/main" xmlns="" id="{24D736A7-A1AC-4B89-9305-5C0075977BC3}"/>
              </a:ext>
            </a:extLst>
          </p:cNvPr>
          <p:cNvSpPr/>
          <p:nvPr/>
        </p:nvSpPr>
        <p:spPr>
          <a:xfrm>
            <a:off x="6343624" y="1353463"/>
            <a:ext cx="2416917" cy="125361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tr-TR" dirty="0"/>
          </a:p>
        </p:txBody>
      </p:sp>
    </p:spTree>
    <p:extLst>
      <p:ext uri="{BB962C8B-B14F-4D97-AF65-F5344CB8AC3E}">
        <p14:creationId xmlns:p14="http://schemas.microsoft.com/office/powerpoint/2010/main" val="423823679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Alt Başlık 2">
            <a:extLst>
              <a:ext uri="{FF2B5EF4-FFF2-40B4-BE49-F238E27FC236}">
                <a16:creationId xmlns:a16="http://schemas.microsoft.com/office/drawing/2014/main" xmlns="" id="{4DE85122-41A6-43DF-A9E4-E5B2F9B7FA4D}"/>
              </a:ext>
            </a:extLst>
          </p:cNvPr>
          <p:cNvSpPr txBox="1">
            <a:spLocks/>
          </p:cNvSpPr>
          <p:nvPr/>
        </p:nvSpPr>
        <p:spPr>
          <a:xfrm>
            <a:off x="108028" y="1933"/>
            <a:ext cx="12083972" cy="612032"/>
          </a:xfrm>
          <a:prstGeom prst="rect">
            <a:avLst/>
          </a:prstGeom>
        </p:spPr>
        <p:txBody>
          <a:bodyPr vert="horz" lIns="0" tIns="45720" rIns="0" bIns="45720" rtlCol="0" anchor="ctr">
            <a:normAutofit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Calibri" panose="020F0502020204030204" pitchFamily="34" charset="0"/>
              <a:buNone/>
            </a:pPr>
            <a:r>
              <a:rPr lang="tr-TR" sz="3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Bir Forma Kontroller Ekleme – Örnek Uygulama Üzerinden</a:t>
            </a:r>
          </a:p>
        </p:txBody>
      </p:sp>
      <p:sp>
        <p:nvSpPr>
          <p:cNvPr id="6" name="Alt Başlık 2">
            <a:extLst>
              <a:ext uri="{FF2B5EF4-FFF2-40B4-BE49-F238E27FC236}">
                <a16:creationId xmlns:a16="http://schemas.microsoft.com/office/drawing/2014/main" xmlns="" id="{615FDF6B-391F-4184-B633-E113FEF09731}"/>
              </a:ext>
            </a:extLst>
          </p:cNvPr>
          <p:cNvSpPr txBox="1">
            <a:spLocks/>
          </p:cNvSpPr>
          <p:nvPr/>
        </p:nvSpPr>
        <p:spPr>
          <a:xfrm>
            <a:off x="108028" y="627408"/>
            <a:ext cx="4110011" cy="5552166"/>
          </a:xfrm>
          <a:prstGeom prst="rect">
            <a:avLst/>
          </a:prstGeom>
        </p:spPr>
        <p:txBody>
          <a:bodyPr vert="horz" lIns="0" tIns="45720" rIns="0" bIns="45720" rtlCol="0" anchor="t">
            <a:normAutofit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Clr>
                <a:schemeClr val="bg1"/>
              </a:buClr>
              <a:buNone/>
            </a:pPr>
            <a:r>
              <a:rPr lang="tr-TR" b="1" dirty="0">
                <a:solidFill>
                  <a:srgbClr val="222222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Etiket Kontrolü: </a:t>
            </a:r>
          </a:p>
          <a:p>
            <a:pPr marL="0" indent="0">
              <a:lnSpc>
                <a:spcPct val="100000"/>
              </a:lnSpc>
              <a:buClr>
                <a:schemeClr val="bg1"/>
              </a:buClr>
              <a:buNone/>
            </a:pPr>
            <a:r>
              <a:rPr lang="tr-TR" sz="2000" b="0" dirty="0">
                <a:solidFill>
                  <a:srgbClr val="222222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Etiket kontrolü, formda kullanıcıya bir metin veya mesaj görüntülemek için kullanılır. </a:t>
            </a:r>
          </a:p>
          <a:p>
            <a:pPr marL="0" indent="0">
              <a:lnSpc>
                <a:spcPct val="100000"/>
              </a:lnSpc>
              <a:buClr>
                <a:schemeClr val="bg1"/>
              </a:buClr>
              <a:buNone/>
            </a:pPr>
            <a:r>
              <a:rPr lang="tr-TR" sz="2000" b="0" dirty="0">
                <a:solidFill>
                  <a:srgbClr val="222222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Etiket kontrolü normalde diğer kontrollerle birlikte kullanılır. Yaygın örnekler, metin kutusu denetimiyle birlikte bir etiketin eklenmesidir. </a:t>
            </a:r>
          </a:p>
          <a:p>
            <a:pPr marL="0" indent="0">
              <a:lnSpc>
                <a:spcPct val="100000"/>
              </a:lnSpc>
              <a:buClr>
                <a:schemeClr val="bg1"/>
              </a:buClr>
              <a:buNone/>
            </a:pPr>
            <a:r>
              <a:rPr lang="tr-TR" sz="2000" b="0" dirty="0">
                <a:solidFill>
                  <a:srgbClr val="222222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Bu örnek için</a:t>
            </a:r>
            <a:r>
              <a:rPr lang="tr-TR" dirty="0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"isim" ve "adres" olarak isimlendireceğimiz iki tane </a:t>
            </a:r>
            <a:r>
              <a:rPr lang="tr-TR" i="1" dirty="0" err="1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Label</a:t>
            </a:r>
            <a:r>
              <a:rPr lang="tr-TR" dirty="0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ekleyeceğiz. </a:t>
            </a:r>
          </a:p>
          <a:p>
            <a:pPr marL="0" indent="0">
              <a:lnSpc>
                <a:spcPct val="100000"/>
              </a:lnSpc>
              <a:buClr>
                <a:schemeClr val="bg1"/>
              </a:buClr>
              <a:buNone/>
            </a:pPr>
            <a:r>
              <a:rPr lang="tr-TR" dirty="0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Kullanıcı bilgileri isimli grup kutusu içine bu </a:t>
            </a:r>
            <a:r>
              <a:rPr lang="tr-TR" dirty="0" err="1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labelları</a:t>
            </a:r>
            <a:r>
              <a:rPr lang="tr-TR" dirty="0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sürüklüyoruz ve Özellikler menüsünden isimlendiriyoruz. </a:t>
            </a:r>
            <a:endParaRPr lang="tr-TR" sz="2000" b="0" dirty="0">
              <a:solidFill>
                <a:srgbClr val="222222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" name="Resim 2">
            <a:extLst>
              <a:ext uri="{FF2B5EF4-FFF2-40B4-BE49-F238E27FC236}">
                <a16:creationId xmlns:a16="http://schemas.microsoft.com/office/drawing/2014/main" xmlns="" id="{18F9E724-883F-489E-8658-8B75A0B28A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15371" y="613964"/>
            <a:ext cx="7768601" cy="5167403"/>
          </a:xfrm>
          <a:prstGeom prst="rect">
            <a:avLst/>
          </a:prstGeom>
        </p:spPr>
      </p:pic>
      <p:sp>
        <p:nvSpPr>
          <p:cNvPr id="7" name="Dikdörtgen 6">
            <a:extLst>
              <a:ext uri="{FF2B5EF4-FFF2-40B4-BE49-F238E27FC236}">
                <a16:creationId xmlns:a16="http://schemas.microsoft.com/office/drawing/2014/main" xmlns="" id="{A8F40BE6-2642-425B-BA43-99DB43ECC3E6}"/>
              </a:ext>
            </a:extLst>
          </p:cNvPr>
          <p:cNvSpPr/>
          <p:nvPr/>
        </p:nvSpPr>
        <p:spPr>
          <a:xfrm>
            <a:off x="9778180" y="4129548"/>
            <a:ext cx="2128811" cy="33921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tr-TR" dirty="0"/>
          </a:p>
        </p:txBody>
      </p:sp>
      <p:sp>
        <p:nvSpPr>
          <p:cNvPr id="8" name="Dikdörtgen 7">
            <a:extLst>
              <a:ext uri="{FF2B5EF4-FFF2-40B4-BE49-F238E27FC236}">
                <a16:creationId xmlns:a16="http://schemas.microsoft.com/office/drawing/2014/main" xmlns="" id="{FA15C8BD-2F3E-49E6-BDF6-5CAF914A2FEC}"/>
              </a:ext>
            </a:extLst>
          </p:cNvPr>
          <p:cNvSpPr/>
          <p:nvPr/>
        </p:nvSpPr>
        <p:spPr>
          <a:xfrm>
            <a:off x="4344867" y="3587285"/>
            <a:ext cx="1115962" cy="27627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tr-TR" dirty="0"/>
          </a:p>
        </p:txBody>
      </p:sp>
      <p:sp>
        <p:nvSpPr>
          <p:cNvPr id="9" name="Dikdörtgen 8">
            <a:extLst>
              <a:ext uri="{FF2B5EF4-FFF2-40B4-BE49-F238E27FC236}">
                <a16:creationId xmlns:a16="http://schemas.microsoft.com/office/drawing/2014/main" xmlns="" id="{2A0A7A45-9AC1-498D-BE9D-B57974907920}"/>
              </a:ext>
            </a:extLst>
          </p:cNvPr>
          <p:cNvSpPr/>
          <p:nvPr/>
        </p:nvSpPr>
        <p:spPr>
          <a:xfrm>
            <a:off x="6871757" y="1512678"/>
            <a:ext cx="679417" cy="72907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tr-TR" dirty="0"/>
          </a:p>
        </p:txBody>
      </p:sp>
    </p:spTree>
    <p:extLst>
      <p:ext uri="{BB962C8B-B14F-4D97-AF65-F5344CB8AC3E}">
        <p14:creationId xmlns:p14="http://schemas.microsoft.com/office/powerpoint/2010/main" val="299417387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Alt Başlık 2">
            <a:extLst>
              <a:ext uri="{FF2B5EF4-FFF2-40B4-BE49-F238E27FC236}">
                <a16:creationId xmlns:a16="http://schemas.microsoft.com/office/drawing/2014/main" xmlns="" id="{4DE85122-41A6-43DF-A9E4-E5B2F9B7FA4D}"/>
              </a:ext>
            </a:extLst>
          </p:cNvPr>
          <p:cNvSpPr txBox="1">
            <a:spLocks/>
          </p:cNvSpPr>
          <p:nvPr/>
        </p:nvSpPr>
        <p:spPr>
          <a:xfrm>
            <a:off x="108028" y="1933"/>
            <a:ext cx="12083972" cy="612032"/>
          </a:xfrm>
          <a:prstGeom prst="rect">
            <a:avLst/>
          </a:prstGeom>
        </p:spPr>
        <p:txBody>
          <a:bodyPr vert="horz" lIns="0" tIns="45720" rIns="0" bIns="45720" rtlCol="0" anchor="ctr">
            <a:normAutofit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Calibri" panose="020F0502020204030204" pitchFamily="34" charset="0"/>
              <a:buNone/>
            </a:pPr>
            <a:r>
              <a:rPr lang="tr-TR" sz="3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Bir Forma Kontroller Ekleme – Örnek Uygulama Üzerinden</a:t>
            </a:r>
          </a:p>
        </p:txBody>
      </p:sp>
      <p:sp>
        <p:nvSpPr>
          <p:cNvPr id="6" name="Alt Başlık 2">
            <a:extLst>
              <a:ext uri="{FF2B5EF4-FFF2-40B4-BE49-F238E27FC236}">
                <a16:creationId xmlns:a16="http://schemas.microsoft.com/office/drawing/2014/main" xmlns="" id="{615FDF6B-391F-4184-B633-E113FEF09731}"/>
              </a:ext>
            </a:extLst>
          </p:cNvPr>
          <p:cNvSpPr txBox="1">
            <a:spLocks/>
          </p:cNvSpPr>
          <p:nvPr/>
        </p:nvSpPr>
        <p:spPr>
          <a:xfrm>
            <a:off x="108028" y="627408"/>
            <a:ext cx="4729443" cy="5831266"/>
          </a:xfrm>
          <a:prstGeom prst="rect">
            <a:avLst/>
          </a:prstGeom>
        </p:spPr>
        <p:txBody>
          <a:bodyPr vert="horz" lIns="0" tIns="45720" rIns="0" bIns="45720" rtlCol="0" anchor="t">
            <a:normAutofit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Clr>
                <a:schemeClr val="bg1"/>
              </a:buClr>
              <a:buNone/>
            </a:pPr>
            <a:r>
              <a:rPr lang="tr-TR" b="1" dirty="0">
                <a:solidFill>
                  <a:srgbClr val="222222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Metin Kutusu (</a:t>
            </a:r>
            <a:r>
              <a:rPr lang="tr-TR" b="1" dirty="0" err="1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</a:t>
            </a:r>
            <a:r>
              <a:rPr lang="tr-TR" b="1" dirty="0" err="1">
                <a:solidFill>
                  <a:srgbClr val="222222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extbox</a:t>
            </a:r>
            <a:r>
              <a:rPr lang="tr-TR" b="1" dirty="0">
                <a:solidFill>
                  <a:srgbClr val="222222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): </a:t>
            </a:r>
          </a:p>
          <a:p>
            <a:pPr marL="0" indent="0">
              <a:lnSpc>
                <a:spcPct val="100000"/>
              </a:lnSpc>
              <a:buClr>
                <a:schemeClr val="bg1"/>
              </a:buClr>
              <a:buNone/>
            </a:pPr>
            <a:r>
              <a:rPr lang="tr-TR" sz="2000" b="0" dirty="0">
                <a:solidFill>
                  <a:srgbClr val="222222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Kullanıcının Windows uygulamasına C# ile metin girmesine izin vermek için metin kutusu kullanılır. </a:t>
            </a:r>
          </a:p>
          <a:p>
            <a:pPr marL="0" indent="0">
              <a:lnSpc>
                <a:spcPct val="100000"/>
              </a:lnSpc>
              <a:buClr>
                <a:schemeClr val="bg1"/>
              </a:buClr>
              <a:buNone/>
            </a:pPr>
            <a:r>
              <a:rPr lang="tr-TR" dirty="0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Bu örnekte </a:t>
            </a:r>
            <a:r>
              <a:rPr lang="tr-TR" sz="2000" b="0" dirty="0">
                <a:solidFill>
                  <a:srgbClr val="222222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forma 2 adet </a:t>
            </a:r>
            <a:r>
              <a:rPr lang="tr-TR" sz="2000" b="0" dirty="0" err="1">
                <a:solidFill>
                  <a:srgbClr val="222222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textbox</a:t>
            </a:r>
            <a:r>
              <a:rPr lang="tr-TR" sz="2000" b="0" dirty="0">
                <a:solidFill>
                  <a:srgbClr val="222222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ekleyeceğiz, biri </a:t>
            </a:r>
            <a:r>
              <a:rPr lang="tr-TR" sz="2000" b="0" i="1" dirty="0">
                <a:solidFill>
                  <a:srgbClr val="222222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İsim</a:t>
            </a:r>
            <a:r>
              <a:rPr lang="tr-TR" sz="2000" b="0" dirty="0">
                <a:solidFill>
                  <a:srgbClr val="222222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diğeri ise </a:t>
            </a:r>
            <a:r>
              <a:rPr lang="tr-TR" sz="2000" b="0" i="1" dirty="0">
                <a:solidFill>
                  <a:srgbClr val="222222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Adres</a:t>
            </a:r>
            <a:r>
              <a:rPr lang="tr-TR" sz="2000" b="0" dirty="0">
                <a:solidFill>
                  <a:srgbClr val="222222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alanı için.</a:t>
            </a:r>
          </a:p>
          <a:p>
            <a:pPr marL="0" indent="0">
              <a:lnSpc>
                <a:spcPct val="100000"/>
              </a:lnSpc>
              <a:buClr>
                <a:schemeClr val="bg1"/>
              </a:buClr>
              <a:buNone/>
            </a:pPr>
            <a:r>
              <a:rPr lang="tr-TR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NOT: </a:t>
            </a:r>
            <a:r>
              <a:rPr lang="tr-TR" dirty="0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Her bir metin kutusuna anlamlı bir isim verilmelidir. Örneğin, kullanıcının isim metin kutusunu </a:t>
            </a:r>
            <a:r>
              <a:rPr lang="tr-TR" i="1" dirty="0" err="1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txtName</a:t>
            </a:r>
            <a:r>
              <a:rPr lang="tr-TR" dirty="0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ve adres için olanı </a:t>
            </a:r>
            <a:r>
              <a:rPr lang="tr-TR" i="1" dirty="0" err="1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txtAddress</a:t>
            </a:r>
            <a:r>
              <a:rPr lang="tr-TR" dirty="0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olarak adlandırılabiliriz. Bunun nedeni kontrollere (daha sonra görecek olduğumuz) daha kolay fonksiyon eklemektir. </a:t>
            </a:r>
            <a:endParaRPr lang="tr-TR" sz="2000" b="0" dirty="0">
              <a:solidFill>
                <a:srgbClr val="222222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" name="Resim 1">
            <a:extLst>
              <a:ext uri="{FF2B5EF4-FFF2-40B4-BE49-F238E27FC236}">
                <a16:creationId xmlns:a16="http://schemas.microsoft.com/office/drawing/2014/main" xmlns="" id="{243DA7E9-C8B8-40BE-AE1A-46A6BC3E1B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71095" y="828312"/>
            <a:ext cx="7020905" cy="5201376"/>
          </a:xfrm>
          <a:prstGeom prst="rect">
            <a:avLst/>
          </a:prstGeom>
        </p:spPr>
      </p:pic>
      <p:sp>
        <p:nvSpPr>
          <p:cNvPr id="4" name="Dikdörtgen 3">
            <a:extLst>
              <a:ext uri="{FF2B5EF4-FFF2-40B4-BE49-F238E27FC236}">
                <a16:creationId xmlns:a16="http://schemas.microsoft.com/office/drawing/2014/main" xmlns="" id="{C84681CC-9C44-4399-B31A-7A2C0C745F30}"/>
              </a:ext>
            </a:extLst>
          </p:cNvPr>
          <p:cNvSpPr/>
          <p:nvPr/>
        </p:nvSpPr>
        <p:spPr>
          <a:xfrm>
            <a:off x="9955161" y="5102942"/>
            <a:ext cx="2128811" cy="33921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tr-TR" dirty="0"/>
          </a:p>
        </p:txBody>
      </p:sp>
      <p:sp>
        <p:nvSpPr>
          <p:cNvPr id="7" name="Dikdörtgen 6">
            <a:extLst>
              <a:ext uri="{FF2B5EF4-FFF2-40B4-BE49-F238E27FC236}">
                <a16:creationId xmlns:a16="http://schemas.microsoft.com/office/drawing/2014/main" xmlns="" id="{9F2B8C5F-83D9-44CB-8E10-CF3EE33F9D0B}"/>
              </a:ext>
            </a:extLst>
          </p:cNvPr>
          <p:cNvSpPr/>
          <p:nvPr/>
        </p:nvSpPr>
        <p:spPr>
          <a:xfrm>
            <a:off x="8018333" y="1730477"/>
            <a:ext cx="1243654" cy="70300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tr-TR" dirty="0"/>
          </a:p>
        </p:txBody>
      </p:sp>
      <p:sp>
        <p:nvSpPr>
          <p:cNvPr id="8" name="Dikdörtgen 7">
            <a:extLst>
              <a:ext uri="{FF2B5EF4-FFF2-40B4-BE49-F238E27FC236}">
                <a16:creationId xmlns:a16="http://schemas.microsoft.com/office/drawing/2014/main" xmlns="" id="{5DFA6CA1-CF19-4A25-81B0-910990EB7F8D}"/>
              </a:ext>
            </a:extLst>
          </p:cNvPr>
          <p:cNvSpPr/>
          <p:nvPr/>
        </p:nvSpPr>
        <p:spPr>
          <a:xfrm>
            <a:off x="5277466" y="2600634"/>
            <a:ext cx="1017639" cy="33921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tr-TR" dirty="0"/>
          </a:p>
        </p:txBody>
      </p:sp>
    </p:spTree>
    <p:extLst>
      <p:ext uri="{BB962C8B-B14F-4D97-AF65-F5344CB8AC3E}">
        <p14:creationId xmlns:p14="http://schemas.microsoft.com/office/powerpoint/2010/main" val="154618246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Alt Başlık 2">
            <a:extLst>
              <a:ext uri="{FF2B5EF4-FFF2-40B4-BE49-F238E27FC236}">
                <a16:creationId xmlns:a16="http://schemas.microsoft.com/office/drawing/2014/main" xmlns="" id="{4DE85122-41A6-43DF-A9E4-E5B2F9B7FA4D}"/>
              </a:ext>
            </a:extLst>
          </p:cNvPr>
          <p:cNvSpPr txBox="1">
            <a:spLocks/>
          </p:cNvSpPr>
          <p:nvPr/>
        </p:nvSpPr>
        <p:spPr>
          <a:xfrm>
            <a:off x="108028" y="1933"/>
            <a:ext cx="12083972" cy="612032"/>
          </a:xfrm>
          <a:prstGeom prst="rect">
            <a:avLst/>
          </a:prstGeom>
        </p:spPr>
        <p:txBody>
          <a:bodyPr vert="horz" lIns="0" tIns="45720" rIns="0" bIns="45720" rtlCol="0" anchor="ctr">
            <a:normAutofit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Calibri" panose="020F0502020204030204" pitchFamily="34" charset="0"/>
              <a:buNone/>
            </a:pPr>
            <a:r>
              <a:rPr lang="tr-TR" sz="3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Bir Forma Kontroller Ekleme – Örnek Uygulama Üzerinden</a:t>
            </a:r>
          </a:p>
        </p:txBody>
      </p:sp>
      <p:sp>
        <p:nvSpPr>
          <p:cNvPr id="6" name="Alt Başlık 2">
            <a:extLst>
              <a:ext uri="{FF2B5EF4-FFF2-40B4-BE49-F238E27FC236}">
                <a16:creationId xmlns:a16="http://schemas.microsoft.com/office/drawing/2014/main" xmlns="" id="{615FDF6B-391F-4184-B633-E113FEF09731}"/>
              </a:ext>
            </a:extLst>
          </p:cNvPr>
          <p:cNvSpPr txBox="1">
            <a:spLocks/>
          </p:cNvSpPr>
          <p:nvPr/>
        </p:nvSpPr>
        <p:spPr>
          <a:xfrm>
            <a:off x="108028" y="627408"/>
            <a:ext cx="4729443" cy="5831266"/>
          </a:xfrm>
          <a:prstGeom prst="rect">
            <a:avLst/>
          </a:prstGeom>
        </p:spPr>
        <p:txBody>
          <a:bodyPr vert="horz" lIns="0" tIns="45720" rIns="0" bIns="45720" rtlCol="0" anchor="t">
            <a:normAutofit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Clr>
                <a:schemeClr val="bg1"/>
              </a:buClr>
              <a:buNone/>
            </a:pPr>
            <a:r>
              <a:rPr lang="tr-TR" b="1" dirty="0">
                <a:solidFill>
                  <a:srgbClr val="222222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Liste Kutusu (</a:t>
            </a:r>
            <a:r>
              <a:rPr lang="tr-TR" b="1" dirty="0" err="1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List</a:t>
            </a:r>
            <a:r>
              <a:rPr lang="tr-TR" b="1" dirty="0" err="1">
                <a:solidFill>
                  <a:srgbClr val="222222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box</a:t>
            </a:r>
            <a:r>
              <a:rPr lang="tr-TR" b="1" dirty="0">
                <a:solidFill>
                  <a:srgbClr val="222222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): </a:t>
            </a:r>
          </a:p>
          <a:p>
            <a:pPr marL="0" indent="0">
              <a:lnSpc>
                <a:spcPct val="100000"/>
              </a:lnSpc>
              <a:buClr>
                <a:schemeClr val="bg1"/>
              </a:buClr>
              <a:buNone/>
            </a:pPr>
            <a:r>
              <a:rPr lang="tr-TR" sz="2000" b="0" dirty="0">
                <a:solidFill>
                  <a:srgbClr val="222222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Windows formundaki öğelerin bir listesini göstermek için </a:t>
            </a:r>
            <a:r>
              <a:rPr lang="tr-TR" dirty="0" err="1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listbox</a:t>
            </a:r>
            <a:r>
              <a:rPr lang="tr-TR" dirty="0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tr-TR" sz="2000" b="0" dirty="0">
                <a:solidFill>
                  <a:srgbClr val="222222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kullanılır. Bu örnekte bazı şehir konumlarını saklamak için forma bir liste kutusu ekleyeceğiz. </a:t>
            </a:r>
          </a:p>
          <a:p>
            <a:pPr marL="0" indent="0">
              <a:lnSpc>
                <a:spcPct val="100000"/>
              </a:lnSpc>
              <a:buClr>
                <a:schemeClr val="bg1"/>
              </a:buClr>
              <a:buNone/>
            </a:pPr>
            <a:r>
              <a:rPr lang="tr-TR" dirty="0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İlk olarak </a:t>
            </a:r>
            <a:r>
              <a:rPr lang="tr-TR" dirty="0" err="1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listboxa</a:t>
            </a:r>
            <a:r>
              <a:rPr lang="tr-TR" dirty="0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tr-TR" i="1" dirty="0" err="1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listCity</a:t>
            </a:r>
            <a:r>
              <a:rPr lang="tr-TR" dirty="0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ismini verdik. </a:t>
            </a:r>
          </a:p>
          <a:p>
            <a:pPr marL="0" indent="0">
              <a:lnSpc>
                <a:spcPct val="100000"/>
              </a:lnSpc>
              <a:buClr>
                <a:schemeClr val="bg1"/>
              </a:buClr>
              <a:buNone/>
            </a:pPr>
            <a:r>
              <a:rPr lang="tr-TR" sz="2000" b="0" dirty="0">
                <a:solidFill>
                  <a:srgbClr val="222222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Daha sonra </a:t>
            </a:r>
            <a:r>
              <a:rPr lang="tr-TR" sz="2000" b="0" i="1" dirty="0" err="1">
                <a:solidFill>
                  <a:srgbClr val="222222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Items</a:t>
            </a:r>
            <a:r>
              <a:rPr lang="tr-TR" sz="2000" b="0" dirty="0">
                <a:solidFill>
                  <a:srgbClr val="222222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(öğeler) özelliğine tıkladık. Bu özellik birden çok öğe girmemize imkan tanır. </a:t>
            </a:r>
            <a:r>
              <a:rPr lang="tr-TR" sz="2000" b="0" i="1" dirty="0">
                <a:solidFill>
                  <a:srgbClr val="222222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Collection</a:t>
            </a:r>
            <a:r>
              <a:rPr lang="tr-TR" sz="2000" b="0" dirty="0">
                <a:solidFill>
                  <a:srgbClr val="222222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(koleksiyon) öğesini seçtik ve açılan ekranda (</a:t>
            </a:r>
            <a:r>
              <a:rPr lang="tr-TR" sz="2000" b="0" dirty="0" err="1">
                <a:solidFill>
                  <a:srgbClr val="222222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string</a:t>
            </a:r>
            <a:r>
              <a:rPr lang="tr-TR" sz="2000" b="0" dirty="0">
                <a:solidFill>
                  <a:srgbClr val="222222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tr-TR" sz="2000" b="0" dirty="0" err="1">
                <a:solidFill>
                  <a:srgbClr val="222222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collection</a:t>
            </a:r>
            <a:r>
              <a:rPr lang="tr-TR" sz="2000" b="0" dirty="0">
                <a:solidFill>
                  <a:srgbClr val="222222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editör) şehir isimlerini girdik. Tamam butonuna tıklayarak şehir girme işlemini sonlandırdık. </a:t>
            </a:r>
          </a:p>
        </p:txBody>
      </p:sp>
      <p:pic>
        <p:nvPicPr>
          <p:cNvPr id="2" name="Resim 1">
            <a:extLst>
              <a:ext uri="{FF2B5EF4-FFF2-40B4-BE49-F238E27FC236}">
                <a16:creationId xmlns:a16="http://schemas.microsoft.com/office/drawing/2014/main" xmlns="" id="{AE7328E6-E73E-4F20-A5ED-2E2DD29513E8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5621"/>
          <a:stretch/>
        </p:blipFill>
        <p:spPr>
          <a:xfrm>
            <a:off x="4769283" y="929640"/>
            <a:ext cx="7422717" cy="5300952"/>
          </a:xfrm>
          <a:prstGeom prst="rect">
            <a:avLst/>
          </a:prstGeom>
        </p:spPr>
      </p:pic>
      <p:sp>
        <p:nvSpPr>
          <p:cNvPr id="7" name="Dikdörtgen 6">
            <a:extLst>
              <a:ext uri="{FF2B5EF4-FFF2-40B4-BE49-F238E27FC236}">
                <a16:creationId xmlns:a16="http://schemas.microsoft.com/office/drawing/2014/main" xmlns="" id="{DA5170B0-E4F6-4C86-9C84-2B863BF16906}"/>
              </a:ext>
            </a:extLst>
          </p:cNvPr>
          <p:cNvSpPr/>
          <p:nvPr/>
        </p:nvSpPr>
        <p:spPr>
          <a:xfrm>
            <a:off x="9498726" y="4940710"/>
            <a:ext cx="2462216" cy="29496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tr-TR" dirty="0"/>
          </a:p>
        </p:txBody>
      </p:sp>
      <p:sp>
        <p:nvSpPr>
          <p:cNvPr id="8" name="Dikdörtgen 7">
            <a:extLst>
              <a:ext uri="{FF2B5EF4-FFF2-40B4-BE49-F238E27FC236}">
                <a16:creationId xmlns:a16="http://schemas.microsoft.com/office/drawing/2014/main" xmlns="" id="{62A5CC4E-11DE-4228-891C-E87229E9EF68}"/>
              </a:ext>
            </a:extLst>
          </p:cNvPr>
          <p:cNvSpPr/>
          <p:nvPr/>
        </p:nvSpPr>
        <p:spPr>
          <a:xfrm>
            <a:off x="4821411" y="2706054"/>
            <a:ext cx="1442229" cy="31146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tr-TR" dirty="0"/>
          </a:p>
        </p:txBody>
      </p:sp>
      <p:sp>
        <p:nvSpPr>
          <p:cNvPr id="9" name="Dikdörtgen 8">
            <a:extLst>
              <a:ext uri="{FF2B5EF4-FFF2-40B4-BE49-F238E27FC236}">
                <a16:creationId xmlns:a16="http://schemas.microsoft.com/office/drawing/2014/main" xmlns="" id="{175D4BE2-6FCA-40F3-A513-753BF7A63AB4}"/>
              </a:ext>
            </a:extLst>
          </p:cNvPr>
          <p:cNvSpPr/>
          <p:nvPr/>
        </p:nvSpPr>
        <p:spPr>
          <a:xfrm>
            <a:off x="7080536" y="2645418"/>
            <a:ext cx="1442229" cy="124078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tr-TR" dirty="0"/>
          </a:p>
        </p:txBody>
      </p:sp>
    </p:spTree>
    <p:extLst>
      <p:ext uri="{BB962C8B-B14F-4D97-AF65-F5344CB8AC3E}">
        <p14:creationId xmlns:p14="http://schemas.microsoft.com/office/powerpoint/2010/main" val="10861977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Resim 2">
            <a:extLst>
              <a:ext uri="{FF2B5EF4-FFF2-40B4-BE49-F238E27FC236}">
                <a16:creationId xmlns:a16="http://schemas.microsoft.com/office/drawing/2014/main" xmlns="" id="{CB402AFC-AD37-4E9A-B22F-3A843535410B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7275"/>
          <a:stretch/>
        </p:blipFill>
        <p:spPr>
          <a:xfrm>
            <a:off x="4207995" y="613965"/>
            <a:ext cx="7875977" cy="4957584"/>
          </a:xfrm>
          <a:prstGeom prst="rect">
            <a:avLst/>
          </a:prstGeom>
        </p:spPr>
      </p:pic>
      <p:sp>
        <p:nvSpPr>
          <p:cNvPr id="5" name="Alt Başlık 2">
            <a:extLst>
              <a:ext uri="{FF2B5EF4-FFF2-40B4-BE49-F238E27FC236}">
                <a16:creationId xmlns:a16="http://schemas.microsoft.com/office/drawing/2014/main" xmlns="" id="{4DE85122-41A6-43DF-A9E4-E5B2F9B7FA4D}"/>
              </a:ext>
            </a:extLst>
          </p:cNvPr>
          <p:cNvSpPr txBox="1">
            <a:spLocks/>
          </p:cNvSpPr>
          <p:nvPr/>
        </p:nvSpPr>
        <p:spPr>
          <a:xfrm>
            <a:off x="108028" y="1933"/>
            <a:ext cx="12083972" cy="612032"/>
          </a:xfrm>
          <a:prstGeom prst="rect">
            <a:avLst/>
          </a:prstGeom>
        </p:spPr>
        <p:txBody>
          <a:bodyPr vert="horz" lIns="0" tIns="45720" rIns="0" bIns="45720" rtlCol="0" anchor="ctr">
            <a:normAutofit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Calibri" panose="020F0502020204030204" pitchFamily="34" charset="0"/>
              <a:buNone/>
            </a:pPr>
            <a:r>
              <a:rPr lang="tr-TR" sz="3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Bir Forma Kontroller Ekleme – Örnek Uygulama Üzerinden</a:t>
            </a:r>
          </a:p>
        </p:txBody>
      </p:sp>
      <p:sp>
        <p:nvSpPr>
          <p:cNvPr id="6" name="Alt Başlık 2">
            <a:extLst>
              <a:ext uri="{FF2B5EF4-FFF2-40B4-BE49-F238E27FC236}">
                <a16:creationId xmlns:a16="http://schemas.microsoft.com/office/drawing/2014/main" xmlns="" id="{615FDF6B-391F-4184-B633-E113FEF09731}"/>
              </a:ext>
            </a:extLst>
          </p:cNvPr>
          <p:cNvSpPr txBox="1">
            <a:spLocks/>
          </p:cNvSpPr>
          <p:nvPr/>
        </p:nvSpPr>
        <p:spPr>
          <a:xfrm>
            <a:off x="108028" y="627408"/>
            <a:ext cx="4099967" cy="5831266"/>
          </a:xfrm>
          <a:prstGeom prst="rect">
            <a:avLst/>
          </a:prstGeom>
        </p:spPr>
        <p:txBody>
          <a:bodyPr vert="horz" lIns="0" tIns="45720" rIns="0" bIns="45720" rtlCol="0" anchor="t">
            <a:normAutofit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Clr>
                <a:schemeClr val="bg1"/>
              </a:buClr>
              <a:buNone/>
            </a:pPr>
            <a:r>
              <a:rPr lang="tr-TR" b="1" dirty="0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Seçenek düğmesi </a:t>
            </a:r>
            <a:r>
              <a:rPr lang="tr-TR" b="1" dirty="0">
                <a:solidFill>
                  <a:srgbClr val="222222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tr-TR" b="1" dirty="0" err="1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Radiobutton</a:t>
            </a:r>
            <a:r>
              <a:rPr lang="tr-TR" b="1" dirty="0">
                <a:solidFill>
                  <a:srgbClr val="222222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): </a:t>
            </a:r>
          </a:p>
          <a:p>
            <a:pPr marL="0" indent="0">
              <a:lnSpc>
                <a:spcPct val="100000"/>
              </a:lnSpc>
              <a:buClr>
                <a:schemeClr val="bg1"/>
              </a:buClr>
              <a:buNone/>
            </a:pPr>
            <a:r>
              <a:rPr lang="tr-TR" sz="2000" b="0" dirty="0">
                <a:solidFill>
                  <a:srgbClr val="222222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Kullanıcının aralarından birini seçebileceği öğelerin bir listesini göstermek için </a:t>
            </a:r>
            <a:r>
              <a:rPr lang="tr-TR" dirty="0" err="1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</a:t>
            </a:r>
            <a:r>
              <a:rPr lang="tr-TR" sz="2000" b="0" dirty="0" err="1">
                <a:solidFill>
                  <a:srgbClr val="222222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adiobutton</a:t>
            </a:r>
            <a:r>
              <a:rPr lang="tr-TR" sz="2000" b="0" dirty="0">
                <a:solidFill>
                  <a:srgbClr val="222222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kullanılır. </a:t>
            </a:r>
            <a:endParaRPr lang="tr-TR" dirty="0">
              <a:solidFill>
                <a:srgbClr val="222222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lnSpc>
                <a:spcPct val="100000"/>
              </a:lnSpc>
              <a:buClr>
                <a:schemeClr val="bg1"/>
              </a:buClr>
              <a:buNone/>
            </a:pPr>
            <a:r>
              <a:rPr lang="tr-TR" sz="2000" b="0" dirty="0">
                <a:solidFill>
                  <a:srgbClr val="222222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Bu örnekte cinsiyet seçimi için (erkek/kadın) </a:t>
            </a:r>
            <a:r>
              <a:rPr lang="tr-TR" sz="2000" b="0" dirty="0" err="1">
                <a:solidFill>
                  <a:srgbClr val="222222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radiobutton</a:t>
            </a:r>
            <a:r>
              <a:rPr lang="tr-TR" sz="2000" b="0" dirty="0">
                <a:solidFill>
                  <a:srgbClr val="222222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ekleyeceğiz.</a:t>
            </a:r>
          </a:p>
          <a:p>
            <a:pPr marL="0" indent="0">
              <a:lnSpc>
                <a:spcPct val="100000"/>
              </a:lnSpc>
              <a:buClr>
                <a:schemeClr val="bg1"/>
              </a:buClr>
              <a:buNone/>
            </a:pPr>
            <a:r>
              <a:rPr lang="tr-TR" dirty="0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NOT: İlk olarak, Özellikler penceresinden radyo butonların metinleri (</a:t>
            </a:r>
            <a:r>
              <a:rPr lang="tr-TR" i="1" dirty="0" err="1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Text</a:t>
            </a:r>
            <a:r>
              <a:rPr lang="tr-TR" dirty="0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 değiştirilir. Benzer şekilde, her iki radyo butonun program içerisinden erişilecek olan ismi de değiştirilir (</a:t>
            </a:r>
            <a:r>
              <a:rPr lang="tr-TR" i="1" dirty="0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Name</a:t>
            </a:r>
            <a:r>
              <a:rPr lang="tr-TR" dirty="0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özelliğinden).</a:t>
            </a:r>
            <a:endParaRPr lang="tr-TR" sz="2000" b="0" dirty="0">
              <a:solidFill>
                <a:srgbClr val="222222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Dikdörtgen 6">
            <a:extLst>
              <a:ext uri="{FF2B5EF4-FFF2-40B4-BE49-F238E27FC236}">
                <a16:creationId xmlns:a16="http://schemas.microsoft.com/office/drawing/2014/main" xmlns="" id="{DA5170B0-E4F6-4C86-9C84-2B863BF16906}"/>
              </a:ext>
            </a:extLst>
          </p:cNvPr>
          <p:cNvSpPr/>
          <p:nvPr/>
        </p:nvSpPr>
        <p:spPr>
          <a:xfrm>
            <a:off x="9999406" y="4586749"/>
            <a:ext cx="2138580" cy="30971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tr-TR" dirty="0"/>
          </a:p>
        </p:txBody>
      </p:sp>
      <p:sp>
        <p:nvSpPr>
          <p:cNvPr id="8" name="Dikdörtgen 7">
            <a:extLst>
              <a:ext uri="{FF2B5EF4-FFF2-40B4-BE49-F238E27FC236}">
                <a16:creationId xmlns:a16="http://schemas.microsoft.com/office/drawing/2014/main" xmlns="" id="{8F610BA2-2A59-4748-92BC-45939617763A}"/>
              </a:ext>
            </a:extLst>
          </p:cNvPr>
          <p:cNvSpPr/>
          <p:nvPr/>
        </p:nvSpPr>
        <p:spPr>
          <a:xfrm>
            <a:off x="9999406" y="2633100"/>
            <a:ext cx="2138580" cy="30971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tr-TR" dirty="0"/>
          </a:p>
        </p:txBody>
      </p:sp>
      <p:sp>
        <p:nvSpPr>
          <p:cNvPr id="9" name="Dikdörtgen 8">
            <a:extLst>
              <a:ext uri="{FF2B5EF4-FFF2-40B4-BE49-F238E27FC236}">
                <a16:creationId xmlns:a16="http://schemas.microsoft.com/office/drawing/2014/main" xmlns="" id="{ECBC23CF-D70B-4B97-BA81-6F4464D1AF0D}"/>
              </a:ext>
            </a:extLst>
          </p:cNvPr>
          <p:cNvSpPr/>
          <p:nvPr/>
        </p:nvSpPr>
        <p:spPr>
          <a:xfrm>
            <a:off x="4207995" y="1529634"/>
            <a:ext cx="2138580" cy="30971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tr-TR" dirty="0"/>
          </a:p>
        </p:txBody>
      </p:sp>
      <p:sp>
        <p:nvSpPr>
          <p:cNvPr id="10" name="Dikdörtgen 9">
            <a:extLst>
              <a:ext uri="{FF2B5EF4-FFF2-40B4-BE49-F238E27FC236}">
                <a16:creationId xmlns:a16="http://schemas.microsoft.com/office/drawing/2014/main" xmlns="" id="{4EE5C3F5-96AC-4810-851D-E2E45B52C183}"/>
              </a:ext>
            </a:extLst>
          </p:cNvPr>
          <p:cNvSpPr/>
          <p:nvPr/>
        </p:nvSpPr>
        <p:spPr>
          <a:xfrm>
            <a:off x="7652235" y="1286450"/>
            <a:ext cx="1034565" cy="612031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tr-TR" dirty="0"/>
          </a:p>
        </p:txBody>
      </p:sp>
    </p:spTree>
    <p:extLst>
      <p:ext uri="{BB962C8B-B14F-4D97-AF65-F5344CB8AC3E}">
        <p14:creationId xmlns:p14="http://schemas.microsoft.com/office/powerpoint/2010/main" val="82971573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Resim 1">
            <a:extLst>
              <a:ext uri="{FF2B5EF4-FFF2-40B4-BE49-F238E27FC236}">
                <a16:creationId xmlns:a16="http://schemas.microsoft.com/office/drawing/2014/main" xmlns="" id="{CB53E4F9-8076-4F69-A234-6EF77C5AC2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23542" y="613965"/>
            <a:ext cx="7868458" cy="5507921"/>
          </a:xfrm>
          <a:prstGeom prst="rect">
            <a:avLst/>
          </a:prstGeom>
        </p:spPr>
      </p:pic>
      <p:sp>
        <p:nvSpPr>
          <p:cNvPr id="5" name="Alt Başlık 2">
            <a:extLst>
              <a:ext uri="{FF2B5EF4-FFF2-40B4-BE49-F238E27FC236}">
                <a16:creationId xmlns:a16="http://schemas.microsoft.com/office/drawing/2014/main" xmlns="" id="{4DE85122-41A6-43DF-A9E4-E5B2F9B7FA4D}"/>
              </a:ext>
            </a:extLst>
          </p:cNvPr>
          <p:cNvSpPr txBox="1">
            <a:spLocks/>
          </p:cNvSpPr>
          <p:nvPr/>
        </p:nvSpPr>
        <p:spPr>
          <a:xfrm>
            <a:off x="108028" y="1933"/>
            <a:ext cx="12083972" cy="612032"/>
          </a:xfrm>
          <a:prstGeom prst="rect">
            <a:avLst/>
          </a:prstGeom>
        </p:spPr>
        <p:txBody>
          <a:bodyPr vert="horz" lIns="0" tIns="45720" rIns="0" bIns="45720" rtlCol="0" anchor="ctr">
            <a:normAutofit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Calibri" panose="020F0502020204030204" pitchFamily="34" charset="0"/>
              <a:buNone/>
            </a:pPr>
            <a:r>
              <a:rPr lang="tr-TR" sz="3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Bir Forma Kontroller Ekleme – Örnek Uygulama Üzerinden</a:t>
            </a:r>
          </a:p>
        </p:txBody>
      </p:sp>
      <p:sp>
        <p:nvSpPr>
          <p:cNvPr id="6" name="Alt Başlık 2">
            <a:extLst>
              <a:ext uri="{FF2B5EF4-FFF2-40B4-BE49-F238E27FC236}">
                <a16:creationId xmlns:a16="http://schemas.microsoft.com/office/drawing/2014/main" xmlns="" id="{615FDF6B-391F-4184-B633-E113FEF09731}"/>
              </a:ext>
            </a:extLst>
          </p:cNvPr>
          <p:cNvSpPr txBox="1">
            <a:spLocks/>
          </p:cNvSpPr>
          <p:nvPr/>
        </p:nvSpPr>
        <p:spPr>
          <a:xfrm>
            <a:off x="108028" y="627408"/>
            <a:ext cx="4099967" cy="5831266"/>
          </a:xfrm>
          <a:prstGeom prst="rect">
            <a:avLst/>
          </a:prstGeom>
        </p:spPr>
        <p:txBody>
          <a:bodyPr vert="horz" lIns="0" tIns="45720" rIns="0" bIns="45720" rtlCol="0" anchor="t">
            <a:normAutofit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Clr>
                <a:schemeClr val="bg1"/>
              </a:buClr>
              <a:buNone/>
            </a:pPr>
            <a:r>
              <a:rPr lang="tr-TR" b="1" dirty="0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Onay Kutusu (</a:t>
            </a:r>
            <a:r>
              <a:rPr lang="tr-TR" b="1" dirty="0" err="1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Checkbox</a:t>
            </a:r>
            <a:r>
              <a:rPr lang="tr-TR" b="1" dirty="0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 :</a:t>
            </a:r>
            <a:endParaRPr lang="tr-TR" b="1" dirty="0">
              <a:solidFill>
                <a:srgbClr val="222222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lnSpc>
                <a:spcPct val="100000"/>
              </a:lnSpc>
              <a:buClr>
                <a:schemeClr val="bg1"/>
              </a:buClr>
              <a:buNone/>
            </a:pPr>
            <a:r>
              <a:rPr lang="tr-TR" sz="2000" b="0" dirty="0">
                <a:solidFill>
                  <a:srgbClr val="222222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Kullanıcının birden fazla seçenek seçebileceği bir seçenekler listesi sağlamak için onay kutusu kullanılır.</a:t>
            </a:r>
          </a:p>
          <a:p>
            <a:pPr marL="0" indent="0">
              <a:lnSpc>
                <a:spcPct val="100000"/>
              </a:lnSpc>
              <a:buClr>
                <a:schemeClr val="bg1"/>
              </a:buClr>
              <a:buNone/>
            </a:pPr>
            <a:r>
              <a:rPr lang="tr-TR" dirty="0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Bu örnekte kullanıcının almak istediği kursları seçmek için </a:t>
            </a:r>
            <a:r>
              <a:rPr lang="tr-TR" dirty="0" err="1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checkbox</a:t>
            </a:r>
            <a:r>
              <a:rPr lang="tr-TR" dirty="0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ekleyeceğiz. </a:t>
            </a:r>
            <a:endParaRPr lang="tr-TR" sz="2000" b="0" dirty="0">
              <a:solidFill>
                <a:srgbClr val="222222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lnSpc>
                <a:spcPct val="100000"/>
              </a:lnSpc>
              <a:buClr>
                <a:schemeClr val="bg1"/>
              </a:buClr>
              <a:buNone/>
            </a:pPr>
            <a:r>
              <a:rPr lang="tr-TR" dirty="0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NOT: Bir seçeneğin varsayılan olarak onay kutusu işaretlemiş olması isteniyorsa, </a:t>
            </a:r>
            <a:r>
              <a:rPr lang="tr-TR" i="1" dirty="0" err="1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Checked</a:t>
            </a:r>
            <a:r>
              <a:rPr lang="tr-TR" dirty="0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seçeneği </a:t>
            </a:r>
            <a:r>
              <a:rPr lang="tr-TR" i="1" dirty="0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True</a:t>
            </a:r>
            <a:r>
              <a:rPr lang="tr-TR" dirty="0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olarak seçilmelidir. Bu işlem radyo buton için de aynı şekildedir. </a:t>
            </a:r>
            <a:endParaRPr lang="tr-TR" sz="2000" b="0" dirty="0">
              <a:solidFill>
                <a:srgbClr val="222222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Dikdörtgen 6">
            <a:extLst>
              <a:ext uri="{FF2B5EF4-FFF2-40B4-BE49-F238E27FC236}">
                <a16:creationId xmlns:a16="http://schemas.microsoft.com/office/drawing/2014/main" xmlns="" id="{DA5170B0-E4F6-4C86-9C84-2B863BF16906}"/>
              </a:ext>
            </a:extLst>
          </p:cNvPr>
          <p:cNvSpPr/>
          <p:nvPr/>
        </p:nvSpPr>
        <p:spPr>
          <a:xfrm>
            <a:off x="9453715" y="3988925"/>
            <a:ext cx="2138580" cy="30971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tr-TR" dirty="0"/>
          </a:p>
        </p:txBody>
      </p:sp>
      <p:sp>
        <p:nvSpPr>
          <p:cNvPr id="9" name="Dikdörtgen 8">
            <a:extLst>
              <a:ext uri="{FF2B5EF4-FFF2-40B4-BE49-F238E27FC236}">
                <a16:creationId xmlns:a16="http://schemas.microsoft.com/office/drawing/2014/main" xmlns="" id="{E4FEA65A-3B57-45AA-95F9-9980E2B767C0}"/>
              </a:ext>
            </a:extLst>
          </p:cNvPr>
          <p:cNvSpPr/>
          <p:nvPr/>
        </p:nvSpPr>
        <p:spPr>
          <a:xfrm>
            <a:off x="4354022" y="1623510"/>
            <a:ext cx="1665778" cy="327209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tr-TR" dirty="0"/>
          </a:p>
        </p:txBody>
      </p:sp>
      <p:sp>
        <p:nvSpPr>
          <p:cNvPr id="10" name="Dikdörtgen 9">
            <a:extLst>
              <a:ext uri="{FF2B5EF4-FFF2-40B4-BE49-F238E27FC236}">
                <a16:creationId xmlns:a16="http://schemas.microsoft.com/office/drawing/2014/main" xmlns="" id="{96CC15DD-58E2-4C52-82EF-511B51A4B21F}"/>
              </a:ext>
            </a:extLst>
          </p:cNvPr>
          <p:cNvSpPr/>
          <p:nvPr/>
        </p:nvSpPr>
        <p:spPr>
          <a:xfrm>
            <a:off x="7061035" y="2541124"/>
            <a:ext cx="1046645" cy="114695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tr-TR" dirty="0"/>
          </a:p>
        </p:txBody>
      </p:sp>
    </p:spTree>
    <p:extLst>
      <p:ext uri="{BB962C8B-B14F-4D97-AF65-F5344CB8AC3E}">
        <p14:creationId xmlns:p14="http://schemas.microsoft.com/office/powerpoint/2010/main" val="128211791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Resim 2">
            <a:extLst>
              <a:ext uri="{FF2B5EF4-FFF2-40B4-BE49-F238E27FC236}">
                <a16:creationId xmlns:a16="http://schemas.microsoft.com/office/drawing/2014/main" xmlns="" id="{A6CBFE59-0E0D-4DE8-AF2F-E4D5B35076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50845" y="531030"/>
            <a:ext cx="8397080" cy="4778390"/>
          </a:xfrm>
          <a:prstGeom prst="rect">
            <a:avLst/>
          </a:prstGeom>
        </p:spPr>
      </p:pic>
      <p:sp>
        <p:nvSpPr>
          <p:cNvPr id="5" name="Alt Başlık 2">
            <a:extLst>
              <a:ext uri="{FF2B5EF4-FFF2-40B4-BE49-F238E27FC236}">
                <a16:creationId xmlns:a16="http://schemas.microsoft.com/office/drawing/2014/main" xmlns="" id="{4DE85122-41A6-43DF-A9E4-E5B2F9B7FA4D}"/>
              </a:ext>
            </a:extLst>
          </p:cNvPr>
          <p:cNvSpPr txBox="1">
            <a:spLocks/>
          </p:cNvSpPr>
          <p:nvPr/>
        </p:nvSpPr>
        <p:spPr>
          <a:xfrm>
            <a:off x="108028" y="1933"/>
            <a:ext cx="12083972" cy="612032"/>
          </a:xfrm>
          <a:prstGeom prst="rect">
            <a:avLst/>
          </a:prstGeom>
        </p:spPr>
        <p:txBody>
          <a:bodyPr vert="horz" lIns="0" tIns="45720" rIns="0" bIns="45720" rtlCol="0" anchor="ctr">
            <a:normAutofit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Calibri" panose="020F0502020204030204" pitchFamily="34" charset="0"/>
              <a:buNone/>
            </a:pPr>
            <a:r>
              <a:rPr lang="tr-TR" sz="3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Bir Forma Kontroller Ekleme – Örnek Uygulama Üzerinden</a:t>
            </a:r>
          </a:p>
        </p:txBody>
      </p:sp>
      <p:sp>
        <p:nvSpPr>
          <p:cNvPr id="6" name="Alt Başlık 2">
            <a:extLst>
              <a:ext uri="{FF2B5EF4-FFF2-40B4-BE49-F238E27FC236}">
                <a16:creationId xmlns:a16="http://schemas.microsoft.com/office/drawing/2014/main" xmlns="" id="{615FDF6B-391F-4184-B633-E113FEF09731}"/>
              </a:ext>
            </a:extLst>
          </p:cNvPr>
          <p:cNvSpPr txBox="1">
            <a:spLocks/>
          </p:cNvSpPr>
          <p:nvPr/>
        </p:nvSpPr>
        <p:spPr>
          <a:xfrm>
            <a:off x="108028" y="627408"/>
            <a:ext cx="3505327" cy="5831266"/>
          </a:xfrm>
          <a:prstGeom prst="rect">
            <a:avLst/>
          </a:prstGeom>
        </p:spPr>
        <p:txBody>
          <a:bodyPr vert="horz" lIns="0" tIns="45720" rIns="0" bIns="45720" rtlCol="0" anchor="t">
            <a:normAutofit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Clr>
                <a:schemeClr val="bg1"/>
              </a:buClr>
              <a:buNone/>
            </a:pPr>
            <a:r>
              <a:rPr lang="tr-TR" b="1" dirty="0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Düğme / Buton (</a:t>
            </a:r>
            <a:r>
              <a:rPr lang="tr-TR" b="1" dirty="0" err="1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Button</a:t>
            </a:r>
            <a:r>
              <a:rPr lang="tr-TR" b="1" dirty="0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 :</a:t>
            </a:r>
            <a:endParaRPr lang="tr-TR" b="1" dirty="0">
              <a:solidFill>
                <a:srgbClr val="222222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lnSpc>
                <a:spcPct val="100000"/>
              </a:lnSpc>
              <a:buClr>
                <a:schemeClr val="bg1"/>
              </a:buClr>
              <a:buNone/>
            </a:pPr>
            <a:r>
              <a:rPr lang="tr-TR" sz="2000" b="0" dirty="0">
                <a:solidFill>
                  <a:srgbClr val="222222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Kullanıcının formun işlenmesini başlatacak bir düğmeyi tıklamasına izin vermek için buton kullanılır. </a:t>
            </a:r>
          </a:p>
          <a:p>
            <a:pPr marL="0" indent="0">
              <a:lnSpc>
                <a:spcPct val="100000"/>
              </a:lnSpc>
              <a:buClr>
                <a:schemeClr val="bg1"/>
              </a:buClr>
              <a:buNone/>
            </a:pPr>
            <a:r>
              <a:rPr lang="tr-TR" dirty="0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Bu örnekte </a:t>
            </a:r>
            <a:r>
              <a:rPr lang="tr-TR" sz="2000" b="0" dirty="0">
                <a:solidFill>
                  <a:srgbClr val="222222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formdaki tüm bilgileri göndermek için kullanılacak olan 'Kaydet’ adında basit bir buton ekleyeceğiz.</a:t>
            </a:r>
          </a:p>
        </p:txBody>
      </p:sp>
      <p:sp>
        <p:nvSpPr>
          <p:cNvPr id="7" name="Dikdörtgen 6">
            <a:extLst>
              <a:ext uri="{FF2B5EF4-FFF2-40B4-BE49-F238E27FC236}">
                <a16:creationId xmlns:a16="http://schemas.microsoft.com/office/drawing/2014/main" xmlns="" id="{DA5170B0-E4F6-4C86-9C84-2B863BF16906}"/>
              </a:ext>
            </a:extLst>
          </p:cNvPr>
          <p:cNvSpPr/>
          <p:nvPr/>
        </p:nvSpPr>
        <p:spPr>
          <a:xfrm>
            <a:off x="9861695" y="2536769"/>
            <a:ext cx="2138580" cy="30971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tr-TR" dirty="0"/>
          </a:p>
        </p:txBody>
      </p:sp>
      <p:sp>
        <p:nvSpPr>
          <p:cNvPr id="8" name="Dikdörtgen 7">
            <a:extLst>
              <a:ext uri="{FF2B5EF4-FFF2-40B4-BE49-F238E27FC236}">
                <a16:creationId xmlns:a16="http://schemas.microsoft.com/office/drawing/2014/main" xmlns="" id="{4DE94A29-86DB-4D34-B9FE-4AE67F333442}"/>
              </a:ext>
            </a:extLst>
          </p:cNvPr>
          <p:cNvSpPr/>
          <p:nvPr/>
        </p:nvSpPr>
        <p:spPr>
          <a:xfrm>
            <a:off x="9861695" y="4355737"/>
            <a:ext cx="2138580" cy="30971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tr-TR" dirty="0"/>
          </a:p>
        </p:txBody>
      </p:sp>
      <p:sp>
        <p:nvSpPr>
          <p:cNvPr id="9" name="Dikdörtgen 8">
            <a:extLst>
              <a:ext uri="{FF2B5EF4-FFF2-40B4-BE49-F238E27FC236}">
                <a16:creationId xmlns:a16="http://schemas.microsoft.com/office/drawing/2014/main" xmlns="" id="{7988B980-E5C7-4642-AB0A-7B263E06FE32}"/>
              </a:ext>
            </a:extLst>
          </p:cNvPr>
          <p:cNvSpPr/>
          <p:nvPr/>
        </p:nvSpPr>
        <p:spPr>
          <a:xfrm>
            <a:off x="6997916" y="2352415"/>
            <a:ext cx="1216940" cy="30971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tr-TR" dirty="0"/>
          </a:p>
        </p:txBody>
      </p:sp>
      <p:sp>
        <p:nvSpPr>
          <p:cNvPr id="10" name="Metin kutusu 9">
            <a:extLst>
              <a:ext uri="{FF2B5EF4-FFF2-40B4-BE49-F238E27FC236}">
                <a16:creationId xmlns:a16="http://schemas.microsoft.com/office/drawing/2014/main" xmlns="" id="{DE50ABA1-D8A3-4447-9DEE-9EE335A40AED}"/>
              </a:ext>
            </a:extLst>
          </p:cNvPr>
          <p:cNvSpPr txBox="1"/>
          <p:nvPr/>
        </p:nvSpPr>
        <p:spPr>
          <a:xfrm>
            <a:off x="24331" y="5466819"/>
            <a:ext cx="12123594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tr-TR" sz="2000" b="0" i="0" dirty="0">
                <a:solidFill>
                  <a:srgbClr val="222222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Artık </a:t>
            </a:r>
            <a:r>
              <a:rPr lang="en-US" sz="2000" b="0" i="0" dirty="0">
                <a:solidFill>
                  <a:srgbClr val="222222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ilk </a:t>
            </a:r>
            <a:r>
              <a:rPr lang="en-US" sz="2000" b="0" i="0" dirty="0" err="1">
                <a:solidFill>
                  <a:srgbClr val="222222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temel</a:t>
            </a:r>
            <a:r>
              <a:rPr lang="en-US" sz="2000" b="0" i="0" dirty="0">
                <a:solidFill>
                  <a:srgbClr val="222222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Windows </a:t>
            </a:r>
            <a:r>
              <a:rPr lang="en-US" sz="2000" b="0" i="0" dirty="0" err="1">
                <a:solidFill>
                  <a:srgbClr val="222222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Formu</a:t>
            </a:r>
            <a:r>
              <a:rPr lang="tr-TR" sz="2000" b="0" i="0" dirty="0">
                <a:solidFill>
                  <a:srgbClr val="222222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m</a:t>
            </a:r>
            <a:r>
              <a:rPr lang="en-US" sz="2000" b="0" i="0" dirty="0" err="1">
                <a:solidFill>
                  <a:srgbClr val="222222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uz</a:t>
            </a:r>
            <a:r>
              <a:rPr lang="en-US" sz="2000" b="0" i="0" dirty="0">
                <a:solidFill>
                  <a:srgbClr val="222222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b="0" i="0" dirty="0" err="1">
                <a:solidFill>
                  <a:srgbClr val="222222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hazır</a:t>
            </a:r>
            <a:r>
              <a:rPr lang="en-US" sz="2000" b="0" i="0" dirty="0">
                <a:solidFill>
                  <a:srgbClr val="222222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  <a:r>
              <a:rPr lang="en-US" sz="2000" b="0" i="0" dirty="0" err="1">
                <a:solidFill>
                  <a:srgbClr val="222222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Şimdi</a:t>
            </a:r>
            <a:r>
              <a:rPr lang="en-US" sz="2000" b="0" i="0" dirty="0">
                <a:solidFill>
                  <a:srgbClr val="222222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tr-TR" sz="2000" dirty="0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</a:t>
            </a:r>
            <a:r>
              <a:rPr lang="en-US" sz="2000" b="0" i="0" dirty="0" err="1">
                <a:solidFill>
                  <a:srgbClr val="222222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ontroller</a:t>
            </a:r>
            <a:r>
              <a:rPr lang="tr-TR" sz="2000" b="0" i="0" dirty="0">
                <a:solidFill>
                  <a:srgbClr val="222222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(</a:t>
            </a:r>
            <a:r>
              <a:rPr lang="tr-TR" sz="2000" dirty="0" err="1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</a:t>
            </a:r>
            <a:r>
              <a:rPr lang="tr-TR" sz="2000" b="0" i="0" dirty="0" err="1">
                <a:solidFill>
                  <a:srgbClr val="222222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ontrols</a:t>
            </a:r>
            <a:r>
              <a:rPr lang="tr-TR" sz="2000" b="0" i="0" dirty="0">
                <a:solidFill>
                  <a:srgbClr val="222222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  <a:r>
              <a:rPr lang="en-US" sz="2000" b="0" i="0" dirty="0">
                <a:solidFill>
                  <a:srgbClr val="222222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b="0" i="0" dirty="0" err="1">
                <a:solidFill>
                  <a:srgbClr val="222222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için</a:t>
            </a:r>
            <a:r>
              <a:rPr lang="en-US" sz="2000" b="0" i="0" dirty="0">
                <a:solidFill>
                  <a:srgbClr val="222222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tr-TR" sz="2000" b="0" i="0" dirty="0">
                <a:solidFill>
                  <a:srgbClr val="222222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o</a:t>
            </a:r>
            <a:r>
              <a:rPr lang="en-US" sz="2000" b="0" i="0" dirty="0">
                <a:solidFill>
                  <a:srgbClr val="222222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lay </a:t>
            </a:r>
            <a:r>
              <a:rPr lang="en-US" sz="2000" b="0" i="0" dirty="0" err="1">
                <a:solidFill>
                  <a:srgbClr val="222222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işlemeyi</a:t>
            </a:r>
            <a:r>
              <a:rPr lang="tr-TR" sz="2000" b="0" i="0" dirty="0">
                <a:solidFill>
                  <a:srgbClr val="222222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(</a:t>
            </a:r>
            <a:r>
              <a:rPr lang="tr-TR" sz="2000" b="0" i="0" dirty="0" err="1">
                <a:solidFill>
                  <a:srgbClr val="222222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event</a:t>
            </a:r>
            <a:r>
              <a:rPr lang="tr-TR" sz="2000" b="0" i="0" dirty="0">
                <a:solidFill>
                  <a:srgbClr val="222222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tr-TR" sz="2000" b="0" i="0" dirty="0" err="1">
                <a:solidFill>
                  <a:srgbClr val="222222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handling</a:t>
            </a:r>
            <a:r>
              <a:rPr lang="tr-TR" sz="2000" b="0" i="0" dirty="0">
                <a:solidFill>
                  <a:srgbClr val="222222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  <a:r>
              <a:rPr lang="en-US" sz="2000" b="0" i="0" dirty="0">
                <a:solidFill>
                  <a:srgbClr val="222222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b="0" i="0" dirty="0" err="1">
                <a:solidFill>
                  <a:srgbClr val="222222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nasıl</a:t>
            </a:r>
            <a:r>
              <a:rPr lang="en-US" sz="2000" b="0" i="0" dirty="0">
                <a:solidFill>
                  <a:srgbClr val="222222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b="0" i="0" dirty="0" err="1">
                <a:solidFill>
                  <a:srgbClr val="222222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yapabileceğimi</a:t>
            </a:r>
            <a:r>
              <a:rPr lang="tr-TR" sz="2000" b="0" i="0" dirty="0" err="1">
                <a:solidFill>
                  <a:srgbClr val="222222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zi</a:t>
            </a:r>
            <a:r>
              <a:rPr lang="tr-TR" sz="2000" b="0" i="0" dirty="0">
                <a:solidFill>
                  <a:srgbClr val="222222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görelim. </a:t>
            </a:r>
            <a:endParaRPr lang="tr-TR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Dikdörtgen 10">
            <a:extLst>
              <a:ext uri="{FF2B5EF4-FFF2-40B4-BE49-F238E27FC236}">
                <a16:creationId xmlns:a16="http://schemas.microsoft.com/office/drawing/2014/main" xmlns="" id="{83B37975-FF24-4C67-BD17-E65ACFF853F0}"/>
              </a:ext>
            </a:extLst>
          </p:cNvPr>
          <p:cNvSpPr/>
          <p:nvPr/>
        </p:nvSpPr>
        <p:spPr>
          <a:xfrm>
            <a:off x="3919436" y="1024808"/>
            <a:ext cx="1216940" cy="30971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tr-TR" dirty="0"/>
          </a:p>
        </p:txBody>
      </p:sp>
    </p:spTree>
    <p:extLst>
      <p:ext uri="{BB962C8B-B14F-4D97-AF65-F5344CB8AC3E}">
        <p14:creationId xmlns:p14="http://schemas.microsoft.com/office/powerpoint/2010/main" val="238294094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Alt Başlık 2">
            <a:extLst>
              <a:ext uri="{FF2B5EF4-FFF2-40B4-BE49-F238E27FC236}">
                <a16:creationId xmlns:a16="http://schemas.microsoft.com/office/drawing/2014/main" xmlns="" id="{4DE85122-41A6-43DF-A9E4-E5B2F9B7FA4D}"/>
              </a:ext>
            </a:extLst>
          </p:cNvPr>
          <p:cNvSpPr txBox="1">
            <a:spLocks/>
          </p:cNvSpPr>
          <p:nvPr/>
        </p:nvSpPr>
        <p:spPr>
          <a:xfrm>
            <a:off x="108028" y="1933"/>
            <a:ext cx="12083972" cy="612032"/>
          </a:xfrm>
          <a:prstGeom prst="rect">
            <a:avLst/>
          </a:prstGeom>
        </p:spPr>
        <p:txBody>
          <a:bodyPr vert="horz" lIns="0" tIns="45720" rIns="0" bIns="45720" rtlCol="0" anchor="ctr">
            <a:normAutofit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Calibri" panose="020F0502020204030204" pitchFamily="34" charset="0"/>
              <a:buNone/>
            </a:pPr>
            <a:r>
              <a:rPr lang="tr-TR" sz="3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Kontroller için C# Olay İşleme</a:t>
            </a:r>
          </a:p>
        </p:txBody>
      </p:sp>
      <p:sp>
        <p:nvSpPr>
          <p:cNvPr id="6" name="Alt Başlık 2">
            <a:extLst>
              <a:ext uri="{FF2B5EF4-FFF2-40B4-BE49-F238E27FC236}">
                <a16:creationId xmlns:a16="http://schemas.microsoft.com/office/drawing/2014/main" xmlns="" id="{615FDF6B-391F-4184-B633-E113FEF09731}"/>
              </a:ext>
            </a:extLst>
          </p:cNvPr>
          <p:cNvSpPr txBox="1">
            <a:spLocks/>
          </p:cNvSpPr>
          <p:nvPr/>
        </p:nvSpPr>
        <p:spPr>
          <a:xfrm>
            <a:off x="108028" y="627408"/>
            <a:ext cx="11975942" cy="5831266"/>
          </a:xfrm>
          <a:prstGeom prst="rect">
            <a:avLst/>
          </a:prstGeom>
        </p:spPr>
        <p:txBody>
          <a:bodyPr vert="horz" lIns="0" tIns="45720" rIns="0" bIns="45720" rtlCol="0" anchor="t">
            <a:normAutofit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just">
              <a:lnSpc>
                <a:spcPct val="100000"/>
              </a:lnSpc>
              <a:buClr>
                <a:schemeClr val="bg1"/>
              </a:buClr>
              <a:buNone/>
            </a:pPr>
            <a:r>
              <a:rPr lang="tr-TR" b="0" dirty="0">
                <a:solidFill>
                  <a:srgbClr val="222222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Windows formuyla çalışırken, kontrollere olaylar (</a:t>
            </a:r>
            <a:r>
              <a:rPr lang="tr-TR" b="0" dirty="0" err="1">
                <a:solidFill>
                  <a:srgbClr val="222222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events</a:t>
            </a:r>
            <a:r>
              <a:rPr lang="tr-TR" b="0" dirty="0">
                <a:solidFill>
                  <a:srgbClr val="222222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) ekleyebilirsiniz. </a:t>
            </a:r>
          </a:p>
          <a:p>
            <a:pPr marL="0" indent="0" algn="just">
              <a:lnSpc>
                <a:spcPct val="100000"/>
              </a:lnSpc>
              <a:buClr>
                <a:schemeClr val="bg1"/>
              </a:buClr>
              <a:buNone/>
            </a:pPr>
            <a:r>
              <a:rPr lang="tr-TR" b="0" dirty="0">
                <a:solidFill>
                  <a:srgbClr val="222222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Olay (</a:t>
            </a:r>
            <a:r>
              <a:rPr lang="tr-TR" b="0" dirty="0" err="1">
                <a:solidFill>
                  <a:srgbClr val="222222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event</a:t>
            </a:r>
            <a:r>
              <a:rPr lang="tr-TR" b="0" dirty="0">
                <a:solidFill>
                  <a:srgbClr val="222222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), bir eylem gerçekleştirildiğinde gerçekleşen bir durumdur. </a:t>
            </a:r>
          </a:p>
          <a:p>
            <a:pPr marL="0" indent="0" algn="just">
              <a:lnSpc>
                <a:spcPct val="100000"/>
              </a:lnSpc>
              <a:buClr>
                <a:schemeClr val="bg1"/>
              </a:buClr>
              <a:buNone/>
            </a:pPr>
            <a:r>
              <a:rPr lang="tr-TR" b="0" dirty="0">
                <a:solidFill>
                  <a:srgbClr val="222222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En yaygın eylem, bir formdaki bir butona tıklamaktır. C# Windows </a:t>
            </a:r>
            <a:r>
              <a:rPr lang="tr-TR" b="0" dirty="0" err="1">
                <a:solidFill>
                  <a:srgbClr val="222222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Forms'da</a:t>
            </a:r>
            <a:r>
              <a:rPr lang="tr-TR" b="0" dirty="0">
                <a:solidFill>
                  <a:srgbClr val="222222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, formda bir düğmeye basıldığında belirli eylemleri gerçekleştirmek için kullanılabilecek kod ekleyebilirsiniz.</a:t>
            </a:r>
          </a:p>
          <a:p>
            <a:pPr marL="0" indent="0" algn="just">
              <a:lnSpc>
                <a:spcPct val="100000"/>
              </a:lnSpc>
              <a:buClr>
                <a:schemeClr val="bg1"/>
              </a:buClr>
              <a:buNone/>
            </a:pPr>
            <a:r>
              <a:rPr lang="tr-TR" sz="2000" dirty="0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Örnekte </a:t>
            </a:r>
            <a:r>
              <a:rPr lang="tr-TR" dirty="0" err="1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</a:t>
            </a:r>
            <a:r>
              <a:rPr lang="tr-TR" sz="2000" dirty="0" err="1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istbox</a:t>
            </a:r>
            <a:r>
              <a:rPr lang="tr-TR" sz="2000" dirty="0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kontrolü için bir olay gerçekleştirilecektir. Yani </a:t>
            </a:r>
            <a:r>
              <a:rPr lang="tr-TR" sz="2000" dirty="0" err="1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listbox’tan</a:t>
            </a:r>
            <a:r>
              <a:rPr lang="tr-TR" sz="2000" dirty="0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bir öğe seçildiğinde seçilen öğeyi gösteren bir mesaj kutusu açılması için ne yapılabilir?</a:t>
            </a:r>
          </a:p>
          <a:p>
            <a:pPr marL="0" indent="0" algn="just">
              <a:lnSpc>
                <a:spcPct val="100000"/>
              </a:lnSpc>
              <a:buClr>
                <a:schemeClr val="bg1"/>
              </a:buClr>
              <a:buNone/>
            </a:pPr>
            <a:r>
              <a:rPr lang="tr-TR" dirty="0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Adım 1: Form ekranında </a:t>
            </a:r>
            <a:r>
              <a:rPr lang="tr-TR" dirty="0" err="1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listbox'a</a:t>
            </a:r>
            <a:r>
              <a:rPr lang="tr-TR" dirty="0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çift tıklıyoruz. Bu durumda, Visual </a:t>
            </a:r>
            <a:r>
              <a:rPr lang="tr-TR" dirty="0" err="1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Studio</a:t>
            </a:r>
            <a:r>
              <a:rPr lang="tr-TR" dirty="0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formun kod dosyasını otomatik olarak açacaktır ve otomatik olarak koda bir olay metodu ekleyecektir. Bu olay metodu, liste kutusundaki herhangi bir öğe seçildiğinde tetiklenir.</a:t>
            </a:r>
          </a:p>
          <a:p>
            <a:pPr marL="0" indent="0" algn="just">
              <a:lnSpc>
                <a:spcPct val="100000"/>
              </a:lnSpc>
              <a:buClr>
                <a:schemeClr val="bg1"/>
              </a:buClr>
              <a:buNone/>
            </a:pPr>
            <a:endParaRPr lang="tr-TR" sz="2000" dirty="0">
              <a:solidFill>
                <a:srgbClr val="222222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" name="Resim 1">
            <a:extLst>
              <a:ext uri="{FF2B5EF4-FFF2-40B4-BE49-F238E27FC236}">
                <a16:creationId xmlns:a16="http://schemas.microsoft.com/office/drawing/2014/main" xmlns="" id="{5C64F988-53F7-437B-8FFB-98844C3C60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49355" y="4525200"/>
            <a:ext cx="8370704" cy="13195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640149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Alt Başlık 2">
            <a:extLst>
              <a:ext uri="{FF2B5EF4-FFF2-40B4-BE49-F238E27FC236}">
                <a16:creationId xmlns:a16="http://schemas.microsoft.com/office/drawing/2014/main" xmlns="" id="{4DE85122-41A6-43DF-A9E4-E5B2F9B7FA4D}"/>
              </a:ext>
            </a:extLst>
          </p:cNvPr>
          <p:cNvSpPr txBox="1">
            <a:spLocks/>
          </p:cNvSpPr>
          <p:nvPr/>
        </p:nvSpPr>
        <p:spPr>
          <a:xfrm>
            <a:off x="108028" y="1933"/>
            <a:ext cx="12083972" cy="612032"/>
          </a:xfrm>
          <a:prstGeom prst="rect">
            <a:avLst/>
          </a:prstGeom>
        </p:spPr>
        <p:txBody>
          <a:bodyPr vert="horz" lIns="0" tIns="45720" rIns="0" bIns="45720" rtlCol="0" anchor="ctr">
            <a:normAutofit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Calibri" panose="020F0502020204030204" pitchFamily="34" charset="0"/>
              <a:buNone/>
            </a:pPr>
            <a:r>
              <a:rPr lang="tr-TR" sz="3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Kontroller için C# Olay İşleme</a:t>
            </a:r>
          </a:p>
        </p:txBody>
      </p:sp>
      <p:sp>
        <p:nvSpPr>
          <p:cNvPr id="6" name="Alt Başlık 2">
            <a:extLst>
              <a:ext uri="{FF2B5EF4-FFF2-40B4-BE49-F238E27FC236}">
                <a16:creationId xmlns:a16="http://schemas.microsoft.com/office/drawing/2014/main" xmlns="" id="{615FDF6B-391F-4184-B633-E113FEF09731}"/>
              </a:ext>
            </a:extLst>
          </p:cNvPr>
          <p:cNvSpPr txBox="1">
            <a:spLocks/>
          </p:cNvSpPr>
          <p:nvPr/>
        </p:nvSpPr>
        <p:spPr>
          <a:xfrm>
            <a:off x="108028" y="627408"/>
            <a:ext cx="11975942" cy="5831266"/>
          </a:xfrm>
          <a:prstGeom prst="rect">
            <a:avLst/>
          </a:prstGeom>
        </p:spPr>
        <p:txBody>
          <a:bodyPr vert="horz" lIns="0" tIns="45720" rIns="0" bIns="45720" rtlCol="0" anchor="t">
            <a:normAutofit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just">
              <a:lnSpc>
                <a:spcPct val="100000"/>
              </a:lnSpc>
              <a:buClr>
                <a:schemeClr val="bg1"/>
              </a:buClr>
              <a:buNone/>
            </a:pPr>
            <a:r>
              <a:rPr lang="tr-TR" b="0" dirty="0">
                <a:solidFill>
                  <a:srgbClr val="222222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Adım 2: Liste kutusu olayına gerekli işlevselliği eklemek için bu kod parçacığına aşağıdaki kod bölümünü eklemek gerekir.</a:t>
            </a:r>
          </a:p>
          <a:p>
            <a:pPr marL="0" indent="0" algn="just">
              <a:lnSpc>
                <a:spcPct val="100000"/>
              </a:lnSpc>
              <a:buClr>
                <a:schemeClr val="bg1"/>
              </a:buClr>
              <a:buNone/>
            </a:pPr>
            <a:endParaRPr lang="tr-TR" dirty="0">
              <a:solidFill>
                <a:srgbClr val="222222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lnSpc>
                <a:spcPct val="100000"/>
              </a:lnSpc>
              <a:buClr>
                <a:schemeClr val="bg1"/>
              </a:buClr>
              <a:buNone/>
            </a:pPr>
            <a:endParaRPr lang="tr-TR" b="0" dirty="0">
              <a:solidFill>
                <a:srgbClr val="222222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lnSpc>
                <a:spcPct val="100000"/>
              </a:lnSpc>
              <a:buClr>
                <a:schemeClr val="bg1"/>
              </a:buClr>
              <a:buNone/>
            </a:pPr>
            <a:endParaRPr lang="tr-TR" dirty="0">
              <a:solidFill>
                <a:srgbClr val="222222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lnSpc>
                <a:spcPct val="100000"/>
              </a:lnSpc>
              <a:buClr>
                <a:schemeClr val="bg1"/>
              </a:buClr>
              <a:buNone/>
            </a:pPr>
            <a:r>
              <a:rPr lang="tr-TR" b="0" dirty="0">
                <a:solidFill>
                  <a:srgbClr val="222222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Burada </a:t>
            </a:r>
            <a:r>
              <a:rPr lang="tr-TR" b="0" i="1" dirty="0" err="1">
                <a:solidFill>
                  <a:srgbClr val="222222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listCity</a:t>
            </a:r>
            <a:r>
              <a:rPr lang="tr-TR" b="0" dirty="0">
                <a:solidFill>
                  <a:srgbClr val="222222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tr-TR" b="0" dirty="0" err="1">
                <a:solidFill>
                  <a:srgbClr val="222222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Listbox</a:t>
            </a:r>
            <a:r>
              <a:rPr lang="tr-TR" b="0" dirty="0">
                <a:solidFill>
                  <a:srgbClr val="222222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kontrolümüzün adı ve seçilen liste </a:t>
            </a:r>
            <a:r>
              <a:rPr lang="tr-TR" dirty="0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öğesini (</a:t>
            </a:r>
            <a:r>
              <a:rPr lang="tr-TR" b="0" i="1" dirty="0" err="1">
                <a:solidFill>
                  <a:srgbClr val="222222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SelectedItem</a:t>
            </a:r>
            <a:r>
              <a:rPr lang="tr-TR" b="0" dirty="0">
                <a:solidFill>
                  <a:srgbClr val="222222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), </a:t>
            </a:r>
            <a:r>
              <a:rPr lang="tr-TR" b="0" i="1" dirty="0" err="1">
                <a:solidFill>
                  <a:srgbClr val="222222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listCity</a:t>
            </a:r>
            <a:r>
              <a:rPr lang="tr-TR" b="0" dirty="0" err="1">
                <a:solidFill>
                  <a:srgbClr val="222222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r>
              <a:rPr lang="tr-TR" b="0" i="1" dirty="0" err="1">
                <a:solidFill>
                  <a:srgbClr val="222222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SelectedItem</a:t>
            </a:r>
            <a:r>
              <a:rPr lang="tr-TR" b="0" dirty="0">
                <a:solidFill>
                  <a:srgbClr val="222222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özelliği aracılığıyla alıyoruz. </a:t>
            </a:r>
          </a:p>
          <a:p>
            <a:pPr marL="0" indent="0" algn="just">
              <a:lnSpc>
                <a:spcPct val="100000"/>
              </a:lnSpc>
              <a:buClr>
                <a:schemeClr val="bg1"/>
              </a:buClr>
              <a:buNone/>
            </a:pPr>
            <a:r>
              <a:rPr lang="tr-TR" b="0" dirty="0">
                <a:solidFill>
                  <a:srgbClr val="222222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Ardından, seçilen öğenin gerçek değerini almak için </a:t>
            </a:r>
            <a:r>
              <a:rPr lang="tr-TR" b="0" i="1" dirty="0" err="1">
                <a:solidFill>
                  <a:srgbClr val="222222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GetItemText</a:t>
            </a:r>
            <a:r>
              <a:rPr lang="tr-TR" b="0" dirty="0">
                <a:solidFill>
                  <a:srgbClr val="222222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yöntemini kullanırız. Daha sonra bu değeri </a:t>
            </a:r>
            <a:r>
              <a:rPr lang="tr-TR" b="0" i="1" dirty="0" err="1">
                <a:solidFill>
                  <a:srgbClr val="222222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text</a:t>
            </a:r>
            <a:r>
              <a:rPr lang="tr-TR" b="0" dirty="0">
                <a:solidFill>
                  <a:srgbClr val="222222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değişkenine atarız. </a:t>
            </a:r>
          </a:p>
          <a:p>
            <a:pPr marL="0" indent="0" algn="just">
              <a:lnSpc>
                <a:spcPct val="100000"/>
              </a:lnSpc>
              <a:buClr>
                <a:schemeClr val="bg1"/>
              </a:buClr>
              <a:buNone/>
            </a:pPr>
            <a:r>
              <a:rPr lang="tr-TR" b="0" dirty="0">
                <a:solidFill>
                  <a:srgbClr val="222222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Son olarak, metin değişkeni değerini kullanıcıya göstermek için </a:t>
            </a:r>
            <a:r>
              <a:rPr lang="tr-TR" b="0" i="1" dirty="0" err="1">
                <a:solidFill>
                  <a:srgbClr val="222222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MessageBox</a:t>
            </a:r>
            <a:r>
              <a:rPr lang="tr-TR" b="0" dirty="0">
                <a:solidFill>
                  <a:srgbClr val="222222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yöntemini kullanıyoruz.</a:t>
            </a:r>
          </a:p>
          <a:p>
            <a:pPr marL="0" indent="0" algn="just">
              <a:lnSpc>
                <a:spcPct val="100000"/>
              </a:lnSpc>
              <a:buClr>
                <a:schemeClr val="bg1"/>
              </a:buClr>
              <a:buNone/>
            </a:pPr>
            <a:endParaRPr lang="tr-TR" sz="2000" dirty="0">
              <a:solidFill>
                <a:srgbClr val="222222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" name="Resim 2">
            <a:extLst>
              <a:ext uri="{FF2B5EF4-FFF2-40B4-BE49-F238E27FC236}">
                <a16:creationId xmlns:a16="http://schemas.microsoft.com/office/drawing/2014/main" xmlns="" id="{FF1D6A77-DF7B-4C76-A519-FCBD0B17D4B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03635" y="1150374"/>
            <a:ext cx="8111111" cy="15338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0868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Alt Başlık 2">
            <a:extLst>
              <a:ext uri="{FF2B5EF4-FFF2-40B4-BE49-F238E27FC236}">
                <a16:creationId xmlns:a16="http://schemas.microsoft.com/office/drawing/2014/main" xmlns="" id="{4DE85122-41A6-43DF-A9E4-E5B2F9B7FA4D}"/>
              </a:ext>
            </a:extLst>
          </p:cNvPr>
          <p:cNvSpPr txBox="1">
            <a:spLocks/>
          </p:cNvSpPr>
          <p:nvPr/>
        </p:nvSpPr>
        <p:spPr>
          <a:xfrm>
            <a:off x="108028" y="1933"/>
            <a:ext cx="12083972" cy="612032"/>
          </a:xfrm>
          <a:prstGeom prst="rect">
            <a:avLst/>
          </a:prstGeom>
        </p:spPr>
        <p:txBody>
          <a:bodyPr vert="horz" lIns="0" tIns="45720" rIns="0" bIns="45720" rtlCol="0" anchor="ctr">
            <a:normAutofit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Calibri" panose="020F0502020204030204" pitchFamily="34" charset="0"/>
              <a:buNone/>
            </a:pPr>
            <a:r>
              <a:rPr lang="tr-TR" sz="3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Kontroller için C# Olay İşleme</a:t>
            </a:r>
          </a:p>
        </p:txBody>
      </p:sp>
      <p:pic>
        <p:nvPicPr>
          <p:cNvPr id="2" name="Resim 1">
            <a:extLst>
              <a:ext uri="{FF2B5EF4-FFF2-40B4-BE49-F238E27FC236}">
                <a16:creationId xmlns:a16="http://schemas.microsoft.com/office/drawing/2014/main" xmlns="" id="{9AFC05AB-0DDC-4CFF-B8A9-7014AA56C6B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8945" y="731951"/>
            <a:ext cx="6498239" cy="5086122"/>
          </a:xfrm>
          <a:prstGeom prst="rect">
            <a:avLst/>
          </a:prstGeom>
          <a:ln>
            <a:solidFill>
              <a:schemeClr val="bg1"/>
            </a:solidFill>
          </a:ln>
        </p:spPr>
      </p:pic>
      <p:sp>
        <p:nvSpPr>
          <p:cNvPr id="7" name="Metin kutusu 6">
            <a:extLst>
              <a:ext uri="{FF2B5EF4-FFF2-40B4-BE49-F238E27FC236}">
                <a16:creationId xmlns:a16="http://schemas.microsoft.com/office/drawing/2014/main" xmlns="" id="{8E8D749E-E986-4D4F-B77F-EB282E3D5A8D}"/>
              </a:ext>
            </a:extLst>
          </p:cNvPr>
          <p:cNvSpPr txBox="1"/>
          <p:nvPr/>
        </p:nvSpPr>
        <p:spPr>
          <a:xfrm>
            <a:off x="7437221" y="731951"/>
            <a:ext cx="4070554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tr-T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Liste kutusundan herhangi bir öğe seçildiğinde bir mesaj kutusunun açılarak seçilen öğeyi gösterir. </a:t>
            </a:r>
          </a:p>
        </p:txBody>
      </p:sp>
    </p:spTree>
    <p:extLst>
      <p:ext uri="{BB962C8B-B14F-4D97-AF65-F5344CB8AC3E}">
        <p14:creationId xmlns:p14="http://schemas.microsoft.com/office/powerpoint/2010/main" val="195759842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Alt Başlık 2">
            <a:extLst>
              <a:ext uri="{FF2B5EF4-FFF2-40B4-BE49-F238E27FC236}">
                <a16:creationId xmlns:a16="http://schemas.microsoft.com/office/drawing/2014/main" xmlns="" id="{4DE85122-41A6-43DF-A9E4-E5B2F9B7FA4D}"/>
              </a:ext>
            </a:extLst>
          </p:cNvPr>
          <p:cNvSpPr txBox="1">
            <a:spLocks/>
          </p:cNvSpPr>
          <p:nvPr/>
        </p:nvSpPr>
        <p:spPr>
          <a:xfrm>
            <a:off x="108028" y="1933"/>
            <a:ext cx="12083972" cy="612032"/>
          </a:xfrm>
          <a:prstGeom prst="rect">
            <a:avLst/>
          </a:prstGeom>
        </p:spPr>
        <p:txBody>
          <a:bodyPr vert="horz" lIns="0" tIns="45720" rIns="0" bIns="45720" rtlCol="0" anchor="ctr">
            <a:normAutofit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Calibri" panose="020F0502020204030204" pitchFamily="34" charset="0"/>
              <a:buNone/>
            </a:pPr>
            <a:r>
              <a:rPr lang="tr-TR" sz="3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Kontroller için C# Olay İşleme</a:t>
            </a:r>
          </a:p>
        </p:txBody>
      </p:sp>
      <p:sp>
        <p:nvSpPr>
          <p:cNvPr id="6" name="Alt Başlık 2">
            <a:extLst>
              <a:ext uri="{FF2B5EF4-FFF2-40B4-BE49-F238E27FC236}">
                <a16:creationId xmlns:a16="http://schemas.microsoft.com/office/drawing/2014/main" xmlns="" id="{615FDF6B-391F-4184-B633-E113FEF09731}"/>
              </a:ext>
            </a:extLst>
          </p:cNvPr>
          <p:cNvSpPr txBox="1">
            <a:spLocks/>
          </p:cNvSpPr>
          <p:nvPr/>
        </p:nvSpPr>
        <p:spPr>
          <a:xfrm>
            <a:off x="108028" y="627408"/>
            <a:ext cx="11975942" cy="5831266"/>
          </a:xfrm>
          <a:prstGeom prst="rect">
            <a:avLst/>
          </a:prstGeom>
        </p:spPr>
        <p:txBody>
          <a:bodyPr vert="horz" lIns="0" tIns="45720" rIns="0" bIns="45720" rtlCol="0" anchor="t">
            <a:normAutofit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just">
              <a:lnSpc>
                <a:spcPct val="100000"/>
              </a:lnSpc>
              <a:buClr>
                <a:schemeClr val="bg1"/>
              </a:buClr>
              <a:buNone/>
            </a:pPr>
            <a:r>
              <a:rPr lang="tr-TR" sz="2000" dirty="0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Önceki işlemlere benzer şekilde buton tıklama metodunu ekleyelim. Form </a:t>
            </a:r>
            <a:r>
              <a:rPr lang="tr-TR" sz="2000" dirty="0" err="1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designer</a:t>
            </a:r>
            <a:r>
              <a:rPr lang="tr-TR" sz="2000" dirty="0">
                <a:solidFill>
                  <a:srgbClr val="22222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üzerinden butona çift tıklayarak kod ekranına geçiyoruz ve aşağıdaki eklemeleri yapıyoruz: </a:t>
            </a:r>
          </a:p>
          <a:p>
            <a:pPr marL="0" indent="0" algn="just">
              <a:lnSpc>
                <a:spcPct val="100000"/>
              </a:lnSpc>
              <a:buClr>
                <a:schemeClr val="bg1"/>
              </a:buClr>
              <a:buNone/>
            </a:pPr>
            <a:endParaRPr lang="tr-TR" sz="2000" dirty="0">
              <a:solidFill>
                <a:srgbClr val="222222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" name="Resim 1">
            <a:extLst>
              <a:ext uri="{FF2B5EF4-FFF2-40B4-BE49-F238E27FC236}">
                <a16:creationId xmlns:a16="http://schemas.microsoft.com/office/drawing/2014/main" xmlns="" id="{A6659621-F55D-47DF-B672-FAE6F4C7287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6974" y="2965901"/>
            <a:ext cx="5857778" cy="3376047"/>
          </a:xfrm>
          <a:prstGeom prst="rect">
            <a:avLst/>
          </a:prstGeom>
          <a:ln>
            <a:solidFill>
              <a:schemeClr val="bg1"/>
            </a:solidFill>
          </a:ln>
        </p:spPr>
      </p:pic>
      <p:pic>
        <p:nvPicPr>
          <p:cNvPr id="4" name="Resim 3">
            <a:extLst>
              <a:ext uri="{FF2B5EF4-FFF2-40B4-BE49-F238E27FC236}">
                <a16:creationId xmlns:a16="http://schemas.microsoft.com/office/drawing/2014/main" xmlns="" id="{E1A11CAA-C205-4880-A6B3-94930C0A276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6974" y="1422522"/>
            <a:ext cx="5857779" cy="1497659"/>
          </a:xfrm>
          <a:prstGeom prst="rect">
            <a:avLst/>
          </a:prstGeom>
        </p:spPr>
      </p:pic>
      <p:sp>
        <p:nvSpPr>
          <p:cNvPr id="8" name="Metin kutusu 7">
            <a:extLst>
              <a:ext uri="{FF2B5EF4-FFF2-40B4-BE49-F238E27FC236}">
                <a16:creationId xmlns:a16="http://schemas.microsoft.com/office/drawing/2014/main" xmlns="" id="{CA3F2ABE-F19F-4F39-B887-F544430E6B3B}"/>
              </a:ext>
            </a:extLst>
          </p:cNvPr>
          <p:cNvSpPr txBox="1"/>
          <p:nvPr/>
        </p:nvSpPr>
        <p:spPr>
          <a:xfrm>
            <a:off x="6582882" y="1422522"/>
            <a:ext cx="5272958" cy="3477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tr-T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Burada ad ve adres metin kutusuna girilen değerleri </a:t>
            </a:r>
            <a:r>
              <a:rPr lang="tr-TR" sz="2000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txtName</a:t>
            </a:r>
            <a:r>
              <a:rPr lang="tr-T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ve </a:t>
            </a:r>
            <a:r>
              <a:rPr lang="tr-TR" sz="2000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txtAddress</a:t>
            </a:r>
            <a:r>
              <a:rPr lang="tr-T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kontrolleri sayesinde alıyoruz. </a:t>
            </a:r>
          </a:p>
          <a:p>
            <a:pPr algn="just"/>
            <a:endParaRPr lang="tr-TR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tr-T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Değerler, metin kutusunun </a:t>
            </a:r>
            <a:r>
              <a:rPr lang="tr-TR" sz="2000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Text</a:t>
            </a:r>
            <a:r>
              <a:rPr lang="tr-T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özelliğinden alınabilir. Daha sonra alınan bu değerler </a:t>
            </a:r>
            <a:r>
              <a:rPr lang="tr-TR" sz="2000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String</a:t>
            </a:r>
            <a:r>
              <a:rPr lang="tr-T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türünden </a:t>
            </a:r>
            <a:r>
              <a:rPr lang="tr-TR" sz="20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name</a:t>
            </a:r>
            <a:r>
              <a:rPr lang="tr-T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ve </a:t>
            </a:r>
            <a:r>
              <a:rPr lang="tr-TR" sz="2000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address</a:t>
            </a:r>
            <a:r>
              <a:rPr lang="tr-T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değişkenlerine atanır. </a:t>
            </a:r>
          </a:p>
          <a:p>
            <a:pPr algn="just"/>
            <a:endParaRPr lang="tr-TR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tr-T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Son olarak, kullanıcıya isim ve adres değerlerini görüntülemek için </a:t>
            </a:r>
            <a:r>
              <a:rPr lang="tr-TR" sz="2000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MessageBox</a:t>
            </a:r>
            <a:r>
              <a:rPr lang="tr-T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yöntemini kullanıyoruz.</a:t>
            </a:r>
          </a:p>
        </p:txBody>
      </p:sp>
    </p:spTree>
    <p:extLst>
      <p:ext uri="{BB962C8B-B14F-4D97-AF65-F5344CB8AC3E}">
        <p14:creationId xmlns:p14="http://schemas.microsoft.com/office/powerpoint/2010/main" val="1353042063"/>
      </p:ext>
    </p:extLst>
  </p:cSld>
  <p:clrMapOvr>
    <a:masterClrMapping/>
  </p:clrMapOvr>
</p:sld>
</file>

<file path=ppt/theme/theme1.xml><?xml version="1.0" encoding="utf-8"?>
<a:theme xmlns:a="http://schemas.openxmlformats.org/drawingml/2006/main" name="Geçmişe bakış">
  <a:themeElements>
    <a:clrScheme name="Özel 1">
      <a:dk1>
        <a:srgbClr val="2D2D2D"/>
      </a:dk1>
      <a:lt1>
        <a:srgbClr val="2D2D2D"/>
      </a:lt1>
      <a:dk2>
        <a:srgbClr val="FFFFFF"/>
      </a:dk2>
      <a:lt2>
        <a:srgbClr val="FFFFFF"/>
      </a:lt2>
      <a:accent1>
        <a:srgbClr val="AD84C6"/>
      </a:accent1>
      <a:accent2>
        <a:srgbClr val="8784C7"/>
      </a:accent2>
      <a:accent3>
        <a:srgbClr val="5D739A"/>
      </a:accent3>
      <a:accent4>
        <a:srgbClr val="6997AF"/>
      </a:accent4>
      <a:accent5>
        <a:srgbClr val="84ACB6"/>
      </a:accent5>
      <a:accent6>
        <a:srgbClr val="F2F2F2"/>
      </a:accent6>
      <a:hlink>
        <a:srgbClr val="6B9F25"/>
      </a:hlink>
      <a:folHlink>
        <a:srgbClr val="B26B02"/>
      </a:folHlink>
    </a:clrScheme>
    <a:fontScheme name="Geçmişe bakış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Geçmişe bakış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xmlns="" name="Retrospect" id="{5F128B03-DCCA-4EEB-AB3B-CF2899314A46}" vid="{CA72677B-2F8C-4192-8EBE-D360BE3B20F6}"/>
    </a:ext>
  </a:extLst>
</a:theme>
</file>

<file path=ppt/theme/theme2.xml><?xml version="1.0" encoding="utf-8"?>
<a:theme xmlns:a="http://schemas.openxmlformats.org/drawingml/2006/main" name="Office Teması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xmlns="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Hafta1</Template>
  <TotalTime>4352</TotalTime>
  <Words>1309</Words>
  <Application>Microsoft Office PowerPoint</Application>
  <PresentationFormat>Özel</PresentationFormat>
  <Paragraphs>124</Paragraphs>
  <Slides>21</Slides>
  <Notes>20</Notes>
  <HiddenSlides>0</HiddenSlides>
  <MMClips>0</MMClips>
  <ScaleCrop>false</ScaleCrop>
  <HeadingPairs>
    <vt:vector size="4" baseType="variant">
      <vt:variant>
        <vt:lpstr>Tema</vt:lpstr>
      </vt:variant>
      <vt:variant>
        <vt:i4>1</vt:i4>
      </vt:variant>
      <vt:variant>
        <vt:lpstr>Slayt Başlıkları</vt:lpstr>
      </vt:variant>
      <vt:variant>
        <vt:i4>21</vt:i4>
      </vt:variant>
    </vt:vector>
  </HeadingPairs>
  <TitlesOfParts>
    <vt:vector size="22" baseType="lpstr">
      <vt:lpstr>Geçmişe bakış</vt:lpstr>
      <vt:lpstr>BİL207-NESNE YÖNELİMLİ PROGRAMLAMA I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BİL102-ALGORİTMA ve PROGRAMLAMA I</dc:title>
  <dc:creator>FUNDA KUTLU ONAY</dc:creator>
  <cp:lastModifiedBy>01</cp:lastModifiedBy>
  <cp:revision>64</cp:revision>
  <dcterms:created xsi:type="dcterms:W3CDTF">2021-02-24T12:37:41Z</dcterms:created>
  <dcterms:modified xsi:type="dcterms:W3CDTF">2024-10-30T06:29:48Z</dcterms:modified>
</cp:coreProperties>
</file>