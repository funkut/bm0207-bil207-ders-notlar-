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10"/>
  </p:notesMasterIdLst>
  <p:sldIdLst>
    <p:sldId id="256" r:id="rId2"/>
    <p:sldId id="396" r:id="rId3"/>
    <p:sldId id="335" r:id="rId4"/>
    <p:sldId id="397" r:id="rId5"/>
    <p:sldId id="398" r:id="rId6"/>
    <p:sldId id="399" r:id="rId7"/>
    <p:sldId id="400" r:id="rId8"/>
    <p:sldId id="37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33CC33"/>
    <a:srgbClr val="FF6600"/>
    <a:srgbClr val="66FF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700" autoAdjust="0"/>
  </p:normalViewPr>
  <p:slideViewPr>
    <p:cSldViewPr snapToGrid="0">
      <p:cViewPr varScale="1">
        <p:scale>
          <a:sx n="106" d="100"/>
          <a:sy n="106" d="100"/>
        </p:scale>
        <p:origin x="8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C61F-CF9C-438D-878D-5F289BFF98B2}" type="datetimeFigureOut">
              <a:rPr lang="tr-TR" smtClean="0"/>
              <a:t>16.10.2024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0F1D-777A-4D20-B29A-2D838269C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0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8125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179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2946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8728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3941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398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2411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</a:t>
            </a:r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9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(Çeşitli Örnekler)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Funda 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1: Girilen mesajı girilen sayı kadar ekrana uyarı olarak yazdırma.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571BBC5-281B-43F8-81BD-88E9B725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66" y="1380881"/>
            <a:ext cx="4792585" cy="3304840"/>
          </a:xfrm>
          <a:prstGeom prst="rect">
            <a:avLst/>
          </a:prstGeom>
          <a:ln>
            <a:solidFill>
              <a:schemeClr val="bg1">
                <a:lumMod val="90000"/>
                <a:lumOff val="10000"/>
              </a:schemeClr>
            </a:solidFill>
          </a:ln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BC2B8A3F-910B-4C50-9443-651F93AE4B76}"/>
              </a:ext>
            </a:extLst>
          </p:cNvPr>
          <p:cNvSpPr txBox="1"/>
          <p:nvPr/>
        </p:nvSpPr>
        <p:spPr>
          <a:xfrm>
            <a:off x="5434543" y="2377397"/>
            <a:ext cx="6527391" cy="230832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m 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msg.Text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Convert.ToInt32(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numMsg.Text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i=1;i&lt;=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num;i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(i + </a:t>
            </a:r>
            <a:r>
              <a:rPr lang="tr-TR" sz="1600" dirty="0">
                <a:solidFill>
                  <a:srgbClr val="A31515"/>
                </a:solidFill>
                <a:latin typeface="Consolas" panose="020B0609020204030204" pitchFamily="49" charset="0"/>
              </a:rPr>
              <a:t>" : "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m);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tr-TR" sz="1600" dirty="0"/>
          </a:p>
        </p:txBody>
      </p: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465530A5-26F0-4200-8AF0-7A19BCFC5244}"/>
              </a:ext>
            </a:extLst>
          </p:cNvPr>
          <p:cNvCxnSpPr>
            <a:cxnSpLocks/>
          </p:cNvCxnSpPr>
          <p:nvPr/>
        </p:nvCxnSpPr>
        <p:spPr>
          <a:xfrm flipV="1">
            <a:off x="2626358" y="2654710"/>
            <a:ext cx="2808185" cy="311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Download Highlight Free PNG HQ HQ PNG Image | FreePNGImg">
            <a:extLst>
              <a:ext uri="{FF2B5EF4-FFF2-40B4-BE49-F238E27FC236}">
                <a16:creationId xmlns:a16="http://schemas.microsoft.com/office/drawing/2014/main" id="{D945B077-F983-425F-8A2C-95FA6013E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861" y="2654710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39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Resim 35">
            <a:extLst>
              <a:ext uri="{FF2B5EF4-FFF2-40B4-BE49-F238E27FC236}">
                <a16:creationId xmlns:a16="http://schemas.microsoft.com/office/drawing/2014/main" id="{2A732908-52A9-4F9E-9A0B-BA670036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23" y="456955"/>
            <a:ext cx="7640995" cy="2666057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2: </a:t>
            </a:r>
            <a:r>
              <a:rPr lang="tr-T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Celcius</a:t>
            </a: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cinsinden girilen sıcaklık değerini </a:t>
            </a:r>
            <a:r>
              <a:rPr lang="tr-T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Fahrenheit</a:t>
            </a: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Kelvin’e dönüştüren program.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2F8E0C0-B13A-4AE8-94C2-BE6F46183C14}"/>
              </a:ext>
            </a:extLst>
          </p:cNvPr>
          <p:cNvSpPr txBox="1"/>
          <p:nvPr/>
        </p:nvSpPr>
        <p:spPr>
          <a:xfrm>
            <a:off x="958352" y="2538313"/>
            <a:ext cx="122341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celc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BE30516C-CB63-4E56-B827-5BF35CA26B6E}"/>
              </a:ext>
            </a:extLst>
          </p:cNvPr>
          <p:cNvCxnSpPr>
            <a:cxnSpLocks/>
          </p:cNvCxnSpPr>
          <p:nvPr/>
        </p:nvCxnSpPr>
        <p:spPr>
          <a:xfrm flipH="1">
            <a:off x="2001282" y="2094267"/>
            <a:ext cx="255222" cy="412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28170EA7-566C-4067-BBC3-518D7CDA8527}"/>
              </a:ext>
            </a:extLst>
          </p:cNvPr>
          <p:cNvCxnSpPr>
            <a:cxnSpLocks/>
          </p:cNvCxnSpPr>
          <p:nvPr/>
        </p:nvCxnSpPr>
        <p:spPr>
          <a:xfrm flipH="1">
            <a:off x="3111910" y="2094267"/>
            <a:ext cx="639098" cy="7743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0218D804-941A-4169-90ED-1A9811A3489B}"/>
              </a:ext>
            </a:extLst>
          </p:cNvPr>
          <p:cNvSpPr txBox="1"/>
          <p:nvPr/>
        </p:nvSpPr>
        <p:spPr>
          <a:xfrm>
            <a:off x="2347031" y="2856916"/>
            <a:ext cx="124264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fahr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310E7027-24AC-4A46-8A9F-BCC3A3F77889}"/>
              </a:ext>
            </a:extLst>
          </p:cNvPr>
          <p:cNvCxnSpPr>
            <a:cxnSpLocks/>
          </p:cNvCxnSpPr>
          <p:nvPr/>
        </p:nvCxnSpPr>
        <p:spPr>
          <a:xfrm>
            <a:off x="5985760" y="2094267"/>
            <a:ext cx="770977" cy="412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C580A20-F066-4D05-9EA2-A2C6031ACD76}"/>
              </a:ext>
            </a:extLst>
          </p:cNvPr>
          <p:cNvSpPr txBox="1"/>
          <p:nvPr/>
        </p:nvSpPr>
        <p:spPr>
          <a:xfrm>
            <a:off x="6272375" y="2538313"/>
            <a:ext cx="122982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kelv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5D8DB6BA-E72E-49EC-8C2F-EC2DBBB92446}"/>
              </a:ext>
            </a:extLst>
          </p:cNvPr>
          <p:cNvSpPr txBox="1"/>
          <p:nvPr/>
        </p:nvSpPr>
        <p:spPr>
          <a:xfrm>
            <a:off x="3727590" y="4455833"/>
            <a:ext cx="6975987" cy="175432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  <a:endParaRPr lang="tr-T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fr-F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(1.8 * c + 32);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(c + 273.15);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cxnSp>
        <p:nvCxnSpPr>
          <p:cNvPr id="30" name="Düz Ok Bağlayıcısı 29">
            <a:extLst>
              <a:ext uri="{FF2B5EF4-FFF2-40B4-BE49-F238E27FC236}">
                <a16:creationId xmlns:a16="http://schemas.microsoft.com/office/drawing/2014/main" id="{BAC00A48-AD94-4459-950D-E7B31CE5506C}"/>
              </a:ext>
            </a:extLst>
          </p:cNvPr>
          <p:cNvCxnSpPr>
            <a:cxnSpLocks/>
          </p:cNvCxnSpPr>
          <p:nvPr/>
        </p:nvCxnSpPr>
        <p:spPr>
          <a:xfrm>
            <a:off x="4331409" y="2735894"/>
            <a:ext cx="1199236" cy="17199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ownload Highlight Free PNG HQ HQ PNG Image | FreePNGImg">
            <a:extLst>
              <a:ext uri="{FF2B5EF4-FFF2-40B4-BE49-F238E27FC236}">
                <a16:creationId xmlns:a16="http://schemas.microsoft.com/office/drawing/2014/main" id="{98658251-84E1-4EF9-9BE8-39E35F57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622" y="2320445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2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F827F9AE-00C8-4F19-9003-5AFE97225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135" y="613965"/>
            <a:ext cx="6112615" cy="22883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3: Herhangi bir türden girilen sıcaklık değerini diğerlerine dönüştüren program.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2F8E0C0-B13A-4AE8-94C2-BE6F46183C14}"/>
              </a:ext>
            </a:extLst>
          </p:cNvPr>
          <p:cNvSpPr txBox="1"/>
          <p:nvPr/>
        </p:nvSpPr>
        <p:spPr>
          <a:xfrm>
            <a:off x="6236965" y="2677698"/>
            <a:ext cx="122341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celc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BE30516C-CB63-4E56-B827-5BF35CA26B6E}"/>
              </a:ext>
            </a:extLst>
          </p:cNvPr>
          <p:cNvCxnSpPr>
            <a:cxnSpLocks/>
          </p:cNvCxnSpPr>
          <p:nvPr/>
        </p:nvCxnSpPr>
        <p:spPr>
          <a:xfrm flipH="1">
            <a:off x="6892915" y="1956930"/>
            <a:ext cx="265618" cy="720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28170EA7-566C-4067-BBC3-518D7CDA8527}"/>
              </a:ext>
            </a:extLst>
          </p:cNvPr>
          <p:cNvCxnSpPr>
            <a:cxnSpLocks/>
          </p:cNvCxnSpPr>
          <p:nvPr/>
        </p:nvCxnSpPr>
        <p:spPr>
          <a:xfrm>
            <a:off x="8995800" y="1959717"/>
            <a:ext cx="0" cy="108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0218D804-941A-4169-90ED-1A9811A3489B}"/>
              </a:ext>
            </a:extLst>
          </p:cNvPr>
          <p:cNvSpPr txBox="1"/>
          <p:nvPr/>
        </p:nvSpPr>
        <p:spPr>
          <a:xfrm>
            <a:off x="8474726" y="3059668"/>
            <a:ext cx="124264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fahr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310E7027-24AC-4A46-8A9F-BCC3A3F7788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0794318" y="1956930"/>
            <a:ext cx="420281" cy="788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C580A20-F066-4D05-9EA2-A2C6031ACD76}"/>
              </a:ext>
            </a:extLst>
          </p:cNvPr>
          <p:cNvSpPr txBox="1"/>
          <p:nvPr/>
        </p:nvSpPr>
        <p:spPr>
          <a:xfrm>
            <a:off x="10599687" y="2745099"/>
            <a:ext cx="122982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kelv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5D8DB6BA-E72E-49EC-8C2F-EC2DBBB92446}"/>
              </a:ext>
            </a:extLst>
          </p:cNvPr>
          <p:cNvSpPr txBox="1"/>
          <p:nvPr/>
        </p:nvSpPr>
        <p:spPr>
          <a:xfrm>
            <a:off x="118999" y="1167617"/>
            <a:ext cx="5827649" cy="433965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"Herhangi bir değer girmelisiniz!"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fr-FR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fr-F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(1.8 * c + 32);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(c + 273.15);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f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((f - 32) / 1.8);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((f - 32) / 1.8 + 273.15);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k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((k - 273.15) * 1.8 + 32);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(k - 273.15);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pic>
        <p:nvPicPr>
          <p:cNvPr id="1026" name="Picture 2" descr="Download Highlight Free PNG HQ HQ PNG Image | FreePNGImg">
            <a:extLst>
              <a:ext uri="{FF2B5EF4-FFF2-40B4-BE49-F238E27FC236}">
                <a16:creationId xmlns:a16="http://schemas.microsoft.com/office/drawing/2014/main" id="{98658251-84E1-4EF9-9BE8-39E35F57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947" y="2048206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ownload Highlight Free PNG HQ HQ PNG Image | FreePNGImg">
            <a:extLst>
              <a:ext uri="{FF2B5EF4-FFF2-40B4-BE49-F238E27FC236}">
                <a16:creationId xmlns:a16="http://schemas.microsoft.com/office/drawing/2014/main" id="{D9A5575F-332A-4087-8F21-BAEF61528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368" y="2048206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etin kutusu 22">
            <a:extLst>
              <a:ext uri="{FF2B5EF4-FFF2-40B4-BE49-F238E27FC236}">
                <a16:creationId xmlns:a16="http://schemas.microsoft.com/office/drawing/2014/main" id="{92DC6566-C183-4971-A717-E4390FF259B1}"/>
              </a:ext>
            </a:extLst>
          </p:cNvPr>
          <p:cNvSpPr txBox="1"/>
          <p:nvPr/>
        </p:nvSpPr>
        <p:spPr>
          <a:xfrm>
            <a:off x="6236965" y="4058069"/>
            <a:ext cx="5827649" cy="13849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celc.Text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kelv.Text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fahr.Text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7CC79729-8DA0-4B18-B34E-5CEEB0654580}"/>
              </a:ext>
            </a:extLst>
          </p:cNvPr>
          <p:cNvCxnSpPr>
            <a:cxnSpLocks/>
          </p:cNvCxnSpPr>
          <p:nvPr/>
        </p:nvCxnSpPr>
        <p:spPr>
          <a:xfrm>
            <a:off x="10033103" y="2654089"/>
            <a:ext cx="0" cy="14039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63FB9638-9365-4A7D-BDC6-BD5B335C0501}"/>
              </a:ext>
            </a:extLst>
          </p:cNvPr>
          <p:cNvCxnSpPr>
            <a:cxnSpLocks/>
          </p:cNvCxnSpPr>
          <p:nvPr/>
        </p:nvCxnSpPr>
        <p:spPr>
          <a:xfrm flipH="1" flipV="1">
            <a:off x="5946649" y="2109330"/>
            <a:ext cx="1478719" cy="176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DA6DFDB6-07A3-4BEF-A80B-1D7258DF2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915386"/>
            <a:ext cx="6977435" cy="41174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4: İki değer arasındaki asal sayıları listeleyen ve adedini gösteren program.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2F8E0C0-B13A-4AE8-94C2-BE6F46183C14}"/>
              </a:ext>
            </a:extLst>
          </p:cNvPr>
          <p:cNvSpPr txBox="1"/>
          <p:nvPr/>
        </p:nvSpPr>
        <p:spPr>
          <a:xfrm>
            <a:off x="805654" y="2411002"/>
            <a:ext cx="11785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bas</a:t>
            </a: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BE30516C-CB63-4E56-B827-5BF35CA26B6E}"/>
              </a:ext>
            </a:extLst>
          </p:cNvPr>
          <p:cNvCxnSpPr>
            <a:cxnSpLocks/>
          </p:cNvCxnSpPr>
          <p:nvPr/>
        </p:nvCxnSpPr>
        <p:spPr>
          <a:xfrm>
            <a:off x="533913" y="1889557"/>
            <a:ext cx="453138" cy="521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0218D804-941A-4169-90ED-1A9811A3489B}"/>
              </a:ext>
            </a:extLst>
          </p:cNvPr>
          <p:cNvSpPr txBox="1"/>
          <p:nvPr/>
        </p:nvSpPr>
        <p:spPr>
          <a:xfrm>
            <a:off x="2095553" y="2604786"/>
            <a:ext cx="110158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bit</a:t>
            </a:r>
          </a:p>
        </p:txBody>
      </p: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310E7027-24AC-4A46-8A9F-BCC3A3F77889}"/>
              </a:ext>
            </a:extLst>
          </p:cNvPr>
          <p:cNvCxnSpPr>
            <a:cxnSpLocks/>
          </p:cNvCxnSpPr>
          <p:nvPr/>
        </p:nvCxnSpPr>
        <p:spPr>
          <a:xfrm>
            <a:off x="1678770" y="1881292"/>
            <a:ext cx="788162" cy="723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C580A20-F066-4D05-9EA2-A2C6031ACD76}"/>
              </a:ext>
            </a:extLst>
          </p:cNvPr>
          <p:cNvSpPr txBox="1"/>
          <p:nvPr/>
        </p:nvSpPr>
        <p:spPr>
          <a:xfrm>
            <a:off x="1394918" y="4848185"/>
            <a:ext cx="161454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listBox1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5D8DB6BA-E72E-49EC-8C2F-EC2DBBB92446}"/>
              </a:ext>
            </a:extLst>
          </p:cNvPr>
          <p:cNvSpPr txBox="1"/>
          <p:nvPr/>
        </p:nvSpPr>
        <p:spPr>
          <a:xfrm>
            <a:off x="7251056" y="2378805"/>
            <a:ext cx="4913715" cy="397031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btnList_Click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b1 = Convert.ToInt32(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bas.Text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b2 = Convert.ToInt32(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bit.Text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ctr=0;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i=b1; i&lt;=b2;i++)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nb-NO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b-NO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sz="1200" dirty="0">
                <a:solidFill>
                  <a:srgbClr val="000000"/>
                </a:solidFill>
                <a:latin typeface="Consolas" panose="020B0609020204030204" pitchFamily="49" charset="0"/>
              </a:rPr>
              <a:t> j=2;j&lt;Math.Sqrt(i);j++)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(i % j == 0)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	listBox1.Items.Add(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i.ToString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ctr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ctr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tane asal sayı vardır!"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cxnSp>
        <p:nvCxnSpPr>
          <p:cNvPr id="30" name="Düz Ok Bağlayıcısı 29">
            <a:extLst>
              <a:ext uri="{FF2B5EF4-FFF2-40B4-BE49-F238E27FC236}">
                <a16:creationId xmlns:a16="http://schemas.microsoft.com/office/drawing/2014/main" id="{BAC00A48-AD94-4459-950D-E7B31CE5506C}"/>
              </a:ext>
            </a:extLst>
          </p:cNvPr>
          <p:cNvCxnSpPr>
            <a:cxnSpLocks/>
          </p:cNvCxnSpPr>
          <p:nvPr/>
        </p:nvCxnSpPr>
        <p:spPr>
          <a:xfrm>
            <a:off x="4879225" y="1710880"/>
            <a:ext cx="4965744" cy="6497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ownload Highlight Free PNG HQ HQ PNG Image | FreePNGImg">
            <a:extLst>
              <a:ext uri="{FF2B5EF4-FFF2-40B4-BE49-F238E27FC236}">
                <a16:creationId xmlns:a16="http://schemas.microsoft.com/office/drawing/2014/main" id="{98658251-84E1-4EF9-9BE8-39E35F57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344" y="1469068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6A4121B1-4F80-4D81-AC4D-DCB4913A297A}"/>
              </a:ext>
            </a:extLst>
          </p:cNvPr>
          <p:cNvCxnSpPr>
            <a:cxnSpLocks/>
          </p:cNvCxnSpPr>
          <p:nvPr/>
        </p:nvCxnSpPr>
        <p:spPr>
          <a:xfrm>
            <a:off x="2095553" y="4319370"/>
            <a:ext cx="106637" cy="5288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Download Highlight Free PNG HQ HQ PNG Image | FreePNGImg">
            <a:extLst>
              <a:ext uri="{FF2B5EF4-FFF2-40B4-BE49-F238E27FC236}">
                <a16:creationId xmlns:a16="http://schemas.microsoft.com/office/drawing/2014/main" id="{E5264019-911F-45E8-88DA-0D5468E6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639" y="4408984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Metin kutusu 20">
            <a:extLst>
              <a:ext uri="{FF2B5EF4-FFF2-40B4-BE49-F238E27FC236}">
                <a16:creationId xmlns:a16="http://schemas.microsoft.com/office/drawing/2014/main" id="{FDD81F04-86D5-4140-9109-AD9C78D04D3F}"/>
              </a:ext>
            </a:extLst>
          </p:cNvPr>
          <p:cNvSpPr txBox="1"/>
          <p:nvPr/>
        </p:nvSpPr>
        <p:spPr>
          <a:xfrm>
            <a:off x="1707032" y="5466528"/>
            <a:ext cx="5455535" cy="13849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btnCln_Click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bas.Text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listBox1.Items.Clear();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895E882A-CB9E-435C-9A68-28869FBE8507}"/>
              </a:ext>
            </a:extLst>
          </p:cNvPr>
          <p:cNvCxnSpPr>
            <a:cxnSpLocks/>
          </p:cNvCxnSpPr>
          <p:nvPr/>
        </p:nvCxnSpPr>
        <p:spPr>
          <a:xfrm>
            <a:off x="4165185" y="5014867"/>
            <a:ext cx="131168" cy="451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979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0106C147-6E10-4F31-8AC8-EF4A694E7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69" y="633543"/>
            <a:ext cx="3465849" cy="3053554"/>
          </a:xfrm>
          <a:prstGeom prst="rect">
            <a:avLst/>
          </a:prstGeom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5: İki zarın değerini üreten ve zarlar aynı geldiğinde bu değeri gösteren program.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C2B8A3F-910B-4C50-9443-651F93AE4B76}"/>
              </a:ext>
            </a:extLst>
          </p:cNvPr>
          <p:cNvSpPr txBox="1"/>
          <p:nvPr/>
        </p:nvSpPr>
        <p:spPr>
          <a:xfrm>
            <a:off x="4291781" y="633543"/>
            <a:ext cx="7670153" cy="56323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	label1.Text = </a:t>
            </a:r>
            <a:r>
              <a:rPr lang="tr-TR" sz="15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rastgele = </a:t>
            </a:r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d1 = 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rastgele.Next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(1,7);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dice1.Text = d1.ToString();</a:t>
            </a:r>
          </a:p>
          <a:p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d2 = 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rastgele.Next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(1, 7);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dice2.Text = d2.ToString();</a:t>
            </a:r>
          </a:p>
          <a:p>
            <a:endParaRPr lang="tr-TR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(d1==d2)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5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(d1)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r>
              <a:rPr lang="tr-TR" sz="15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1: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"Hep 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yek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tr-TR" sz="15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2: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Dü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 bara"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3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3: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Düş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 se"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3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4: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Dört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cehar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tr-TR" sz="15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5: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Dübeş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6: label1.Text =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Düşeş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500" dirty="0"/>
          </a:p>
        </p:txBody>
      </p: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465530A5-26F0-4200-8AF0-7A19BCFC5244}"/>
              </a:ext>
            </a:extLst>
          </p:cNvPr>
          <p:cNvCxnSpPr>
            <a:cxnSpLocks/>
          </p:cNvCxnSpPr>
          <p:nvPr/>
        </p:nvCxnSpPr>
        <p:spPr>
          <a:xfrm flipV="1">
            <a:off x="2745055" y="2359742"/>
            <a:ext cx="1546726" cy="5573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Download Highlight Free PNG HQ HQ PNG Image | FreePNGImg">
            <a:extLst>
              <a:ext uri="{FF2B5EF4-FFF2-40B4-BE49-F238E27FC236}">
                <a16:creationId xmlns:a16="http://schemas.microsoft.com/office/drawing/2014/main" id="{D945B077-F983-425F-8A2C-95FA6013E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72" y="2654710"/>
            <a:ext cx="1531683" cy="6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67FC6D5-FF15-48D9-85C5-1403A1965807}"/>
              </a:ext>
            </a:extLst>
          </p:cNvPr>
          <p:cNvSpPr txBox="1"/>
          <p:nvPr/>
        </p:nvSpPr>
        <p:spPr>
          <a:xfrm>
            <a:off x="398206" y="3982065"/>
            <a:ext cx="3465849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rastgele = </a:t>
            </a:r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d1 = 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rastgele.Next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(1,7);</a:t>
            </a:r>
          </a:p>
        </p:txBody>
      </p:sp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9CCE0646-972D-44FC-B375-97BF3E728EF4}"/>
              </a:ext>
            </a:extLst>
          </p:cNvPr>
          <p:cNvCxnSpPr>
            <a:cxnSpLocks/>
          </p:cNvCxnSpPr>
          <p:nvPr/>
        </p:nvCxnSpPr>
        <p:spPr>
          <a:xfrm flipH="1">
            <a:off x="2023093" y="4536063"/>
            <a:ext cx="94434" cy="691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6FF0F492-DE83-4AFD-8A51-00EF6BDD8700}"/>
              </a:ext>
            </a:extLst>
          </p:cNvPr>
          <p:cNvSpPr txBox="1"/>
          <p:nvPr/>
        </p:nvSpPr>
        <p:spPr>
          <a:xfrm>
            <a:off x="230066" y="5281760"/>
            <a:ext cx="4008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kod satırları 1 ile 7 arasında (7 dahil değil) rastgele sayı üretir.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046A2417-E1EF-4BFC-B675-343588D05329}"/>
              </a:ext>
            </a:extLst>
          </p:cNvPr>
          <p:cNvSpPr txBox="1"/>
          <p:nvPr/>
        </p:nvSpPr>
        <p:spPr>
          <a:xfrm>
            <a:off x="398206" y="1274795"/>
            <a:ext cx="13580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dice1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92B2A326-4833-4E03-8393-B6EF8CB403AA}"/>
              </a:ext>
            </a:extLst>
          </p:cNvPr>
          <p:cNvSpPr txBox="1"/>
          <p:nvPr/>
        </p:nvSpPr>
        <p:spPr>
          <a:xfrm>
            <a:off x="2353710" y="1537220"/>
            <a:ext cx="13580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dice2</a:t>
            </a:r>
          </a:p>
        </p:txBody>
      </p: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B5F9C1F3-7280-419D-9A59-E2356BAD8EB4}"/>
              </a:ext>
            </a:extLst>
          </p:cNvPr>
          <p:cNvCxnSpPr>
            <a:cxnSpLocks/>
          </p:cNvCxnSpPr>
          <p:nvPr/>
        </p:nvCxnSpPr>
        <p:spPr>
          <a:xfrm flipV="1">
            <a:off x="2543728" y="1896634"/>
            <a:ext cx="372205" cy="337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B0B5948F-872F-4E1D-9F69-597A0244D927}"/>
              </a:ext>
            </a:extLst>
          </p:cNvPr>
          <p:cNvCxnSpPr>
            <a:cxnSpLocks/>
          </p:cNvCxnSpPr>
          <p:nvPr/>
        </p:nvCxnSpPr>
        <p:spPr>
          <a:xfrm flipH="1" flipV="1">
            <a:off x="1077238" y="1663705"/>
            <a:ext cx="306827" cy="58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30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DFF0474-A7ED-4E81-B4C6-7518F21E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66" y="686178"/>
            <a:ext cx="5410955" cy="2867425"/>
          </a:xfrm>
          <a:prstGeom prst="rect">
            <a:avLst/>
          </a:prstGeom>
          <a:ln>
            <a:solidFill>
              <a:schemeClr val="accent6">
                <a:lumMod val="25000"/>
              </a:schemeClr>
            </a:solidFill>
          </a:ln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6: Basit hesap makinesi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C2B8A3F-910B-4C50-9443-651F93AE4B76}"/>
              </a:ext>
            </a:extLst>
          </p:cNvPr>
          <p:cNvSpPr txBox="1"/>
          <p:nvPr/>
        </p:nvSpPr>
        <p:spPr>
          <a:xfrm>
            <a:off x="7121768" y="178306"/>
            <a:ext cx="4754889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btnAdd_Click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n1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(num1.Text);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(num2.Text);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res.Text = (n1 + n2).ToString();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465530A5-26F0-4200-8AF0-7A19BCFC5244}"/>
              </a:ext>
            </a:extLst>
          </p:cNvPr>
          <p:cNvCxnSpPr>
            <a:cxnSpLocks/>
          </p:cNvCxnSpPr>
          <p:nvPr/>
        </p:nvCxnSpPr>
        <p:spPr>
          <a:xfrm flipH="1" flipV="1">
            <a:off x="1710813" y="1172178"/>
            <a:ext cx="191729" cy="172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4BF69C9-9B4E-4B67-AADA-ED864CEB4250}"/>
              </a:ext>
            </a:extLst>
          </p:cNvPr>
          <p:cNvSpPr txBox="1"/>
          <p:nvPr/>
        </p:nvSpPr>
        <p:spPr>
          <a:xfrm>
            <a:off x="888699" y="802846"/>
            <a:ext cx="137088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num1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2025749E-B145-4979-9126-336AB76BC226}"/>
              </a:ext>
            </a:extLst>
          </p:cNvPr>
          <p:cNvSpPr txBox="1"/>
          <p:nvPr/>
        </p:nvSpPr>
        <p:spPr>
          <a:xfrm>
            <a:off x="2596508" y="802846"/>
            <a:ext cx="137088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num2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ECB6A924-1503-461F-BE70-874827B89282}"/>
              </a:ext>
            </a:extLst>
          </p:cNvPr>
          <p:cNvSpPr txBox="1"/>
          <p:nvPr/>
        </p:nvSpPr>
        <p:spPr>
          <a:xfrm>
            <a:off x="4357478" y="802846"/>
            <a:ext cx="113146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11FA82FB-C3CE-44F3-8FBF-F0FD93B640AC}"/>
              </a:ext>
            </a:extLst>
          </p:cNvPr>
          <p:cNvCxnSpPr>
            <a:cxnSpLocks/>
          </p:cNvCxnSpPr>
          <p:nvPr/>
        </p:nvCxnSpPr>
        <p:spPr>
          <a:xfrm flipV="1">
            <a:off x="2596508" y="1172178"/>
            <a:ext cx="685444" cy="7168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0B16CD5A-9677-4C47-B240-2CF8318003B6}"/>
              </a:ext>
            </a:extLst>
          </p:cNvPr>
          <p:cNvCxnSpPr>
            <a:cxnSpLocks/>
          </p:cNvCxnSpPr>
          <p:nvPr/>
        </p:nvCxnSpPr>
        <p:spPr>
          <a:xfrm flipV="1">
            <a:off x="4304317" y="1135611"/>
            <a:ext cx="543564" cy="4598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F8769E38-7C9E-4911-B35F-3B669BA795B8}"/>
              </a:ext>
            </a:extLst>
          </p:cNvPr>
          <p:cNvSpPr txBox="1"/>
          <p:nvPr/>
        </p:nvSpPr>
        <p:spPr>
          <a:xfrm>
            <a:off x="957595" y="203255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33344C88-04B5-4205-8FDD-53F198F66EFE}"/>
              </a:ext>
            </a:extLst>
          </p:cNvPr>
          <p:cNvSpPr txBox="1"/>
          <p:nvPr/>
        </p:nvSpPr>
        <p:spPr>
          <a:xfrm>
            <a:off x="11514474" y="93365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169E8A6F-0FE9-479D-8F1A-F6F0E0CE7187}"/>
              </a:ext>
            </a:extLst>
          </p:cNvPr>
          <p:cNvSpPr txBox="1"/>
          <p:nvPr/>
        </p:nvSpPr>
        <p:spPr>
          <a:xfrm>
            <a:off x="5977942" y="1530606"/>
            <a:ext cx="4754889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_Click(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n1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(num1.Text);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(num2.Text);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res.Text = (n1 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n2).ToString();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31ACA41F-1C94-476D-8107-7CCAB2C30D82}"/>
              </a:ext>
            </a:extLst>
          </p:cNvPr>
          <p:cNvSpPr txBox="1"/>
          <p:nvPr/>
        </p:nvSpPr>
        <p:spPr>
          <a:xfrm>
            <a:off x="7097647" y="2828835"/>
            <a:ext cx="4803129" cy="120032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Mul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_Click(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n1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(num1.Text);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(num2.Text);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res.Text = (n1 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n2).ToString();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D19B498F-E0EE-47E6-B2FC-ABF0287116EE}"/>
              </a:ext>
            </a:extLst>
          </p:cNvPr>
          <p:cNvSpPr txBox="1"/>
          <p:nvPr/>
        </p:nvSpPr>
        <p:spPr>
          <a:xfrm>
            <a:off x="5929702" y="4232493"/>
            <a:ext cx="4803129" cy="175432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_Click(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n1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(num1.Text);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n2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(num2.Text);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(n2 != 0)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res.Text = (n1 / n2).ToString();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res.Text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"Tanımsız"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D35EE37B-A776-4007-A31C-804E50D26B4D}"/>
              </a:ext>
            </a:extLst>
          </p:cNvPr>
          <p:cNvSpPr txBox="1"/>
          <p:nvPr/>
        </p:nvSpPr>
        <p:spPr>
          <a:xfrm>
            <a:off x="10386261" y="226861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F4327C32-CC40-43F0-8953-3B01B18CD22F}"/>
              </a:ext>
            </a:extLst>
          </p:cNvPr>
          <p:cNvSpPr txBox="1"/>
          <p:nvPr/>
        </p:nvSpPr>
        <p:spPr>
          <a:xfrm>
            <a:off x="11513302" y="355360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7FA4F87F-E1E6-43B9-BB23-1E722C97FD96}"/>
              </a:ext>
            </a:extLst>
          </p:cNvPr>
          <p:cNvSpPr txBox="1"/>
          <p:nvPr/>
        </p:nvSpPr>
        <p:spPr>
          <a:xfrm>
            <a:off x="10386261" y="553859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6E7F3610-15A4-499E-B097-783C01092061}"/>
              </a:ext>
            </a:extLst>
          </p:cNvPr>
          <p:cNvSpPr txBox="1"/>
          <p:nvPr/>
        </p:nvSpPr>
        <p:spPr>
          <a:xfrm>
            <a:off x="2192404" y="203008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8C129BF0-292E-493F-BB80-F5C2713DEB94}"/>
              </a:ext>
            </a:extLst>
          </p:cNvPr>
          <p:cNvSpPr txBox="1"/>
          <p:nvPr/>
        </p:nvSpPr>
        <p:spPr>
          <a:xfrm>
            <a:off x="3427213" y="2032328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B2A029D5-1A98-4DB9-B06E-AB8A61CBD86E}"/>
              </a:ext>
            </a:extLst>
          </p:cNvPr>
          <p:cNvSpPr txBox="1"/>
          <p:nvPr/>
        </p:nvSpPr>
        <p:spPr>
          <a:xfrm>
            <a:off x="4501311" y="203481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7C81817B-DA8A-4CBC-BAF7-619A18CB6EF5}"/>
              </a:ext>
            </a:extLst>
          </p:cNvPr>
          <p:cNvSpPr txBox="1"/>
          <p:nvPr/>
        </p:nvSpPr>
        <p:spPr>
          <a:xfrm>
            <a:off x="3600498" y="301171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40E761D3-F457-4DE0-90E2-7B3D78324566}"/>
              </a:ext>
            </a:extLst>
          </p:cNvPr>
          <p:cNvSpPr txBox="1"/>
          <p:nvPr/>
        </p:nvSpPr>
        <p:spPr>
          <a:xfrm>
            <a:off x="230066" y="3900980"/>
            <a:ext cx="5410955" cy="13849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btnClr_Click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num1.Text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num2.Text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res.Text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40" name="Metin kutusu 39">
            <a:extLst>
              <a:ext uri="{FF2B5EF4-FFF2-40B4-BE49-F238E27FC236}">
                <a16:creationId xmlns:a16="http://schemas.microsoft.com/office/drawing/2014/main" id="{ED2D31B7-C8EB-471B-892C-CC2FA574549C}"/>
              </a:ext>
            </a:extLst>
          </p:cNvPr>
          <p:cNvSpPr txBox="1"/>
          <p:nvPr/>
        </p:nvSpPr>
        <p:spPr>
          <a:xfrm>
            <a:off x="5108880" y="473192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28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lang="tr-T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Kontrolü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615FDF6B-391F-4184-B633-E113FEF09731}"/>
              </a:ext>
            </a:extLst>
          </p:cNvPr>
          <p:cNvSpPr txBox="1">
            <a:spLocks/>
          </p:cNvSpPr>
          <p:nvPr/>
        </p:nvSpPr>
        <p:spPr>
          <a:xfrm>
            <a:off x="108028" y="627408"/>
            <a:ext cx="11975942" cy="583126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Ağaç kontrolü, öğeleri ağaç benzeri yapıda listelemek için kullanılır. Bilinen en iyi örnek, Windows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Gezgini'nin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kendisini gördüğümüz zamandır. Windows </a:t>
            </a:r>
            <a:r>
              <a:rPr lang="tr-TR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Gezgini'ndeki</a:t>
            </a:r>
            <a:r>
              <a:rPr lang="tr-TR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klasör yapısı, ağaç benzeri bir yapı gibidir.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017B3B9B-7A14-4C32-9DDB-23349A9E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52" y="1545713"/>
            <a:ext cx="5832247" cy="4440855"/>
          </a:xfrm>
          <a:prstGeom prst="rect">
            <a:avLst/>
          </a:prstGeom>
          <a:ln>
            <a:solidFill>
              <a:schemeClr val="accent6">
                <a:lumMod val="25000"/>
              </a:schemeClr>
            </a:solidFill>
          </a:ln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2F1FDFA-A163-49F4-81DC-53654832AD71}"/>
              </a:ext>
            </a:extLst>
          </p:cNvPr>
          <p:cNvSpPr txBox="1"/>
          <p:nvPr/>
        </p:nvSpPr>
        <p:spPr>
          <a:xfrm>
            <a:off x="6455003" y="1542845"/>
            <a:ext cx="5473245" cy="1384995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btnAdd_Click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rdRoot.Checked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treeCtg.Nodes.Add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txtCtg.Text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rdSub.Checked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treeCtg.SelectedNode.Nodes.Add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txtCtg.Text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A24223-E494-458F-A4A2-371E8FAC299D}"/>
              </a:ext>
            </a:extLst>
          </p:cNvPr>
          <p:cNvSpPr/>
          <p:nvPr/>
        </p:nvSpPr>
        <p:spPr>
          <a:xfrm>
            <a:off x="5648894" y="332200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BAE825-34D4-407B-9457-23266A32A94E}"/>
              </a:ext>
            </a:extLst>
          </p:cNvPr>
          <p:cNvSpPr/>
          <p:nvPr/>
        </p:nvSpPr>
        <p:spPr>
          <a:xfrm>
            <a:off x="11215773" y="183938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34144109-76EB-4C2F-A46F-B0733EE187F7}"/>
              </a:ext>
            </a:extLst>
          </p:cNvPr>
          <p:cNvSpPr txBox="1"/>
          <p:nvPr/>
        </p:nvSpPr>
        <p:spPr>
          <a:xfrm>
            <a:off x="6455003" y="3093624"/>
            <a:ext cx="5473245" cy="83099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btnShowAll_Click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treeCtg.ExpandAll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BD1618-0B47-4425-B1DA-FDBFAE6C5D85}"/>
              </a:ext>
            </a:extLst>
          </p:cNvPr>
          <p:cNvSpPr/>
          <p:nvPr/>
        </p:nvSpPr>
        <p:spPr>
          <a:xfrm>
            <a:off x="3426804" y="393837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27A17F-6753-4EB4-AE80-D059E00007D8}"/>
              </a:ext>
            </a:extLst>
          </p:cNvPr>
          <p:cNvSpPr/>
          <p:nvPr/>
        </p:nvSpPr>
        <p:spPr>
          <a:xfrm>
            <a:off x="11215773" y="334691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A439B5-F5FA-4345-A63E-5324E5B820F9}"/>
              </a:ext>
            </a:extLst>
          </p:cNvPr>
          <p:cNvSpPr/>
          <p:nvPr/>
        </p:nvSpPr>
        <p:spPr>
          <a:xfrm>
            <a:off x="5101041" y="3924621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C0FA82-1535-4E06-9B80-B26C2512E33D}"/>
              </a:ext>
            </a:extLst>
          </p:cNvPr>
          <p:cNvSpPr/>
          <p:nvPr/>
        </p:nvSpPr>
        <p:spPr>
          <a:xfrm>
            <a:off x="4250551" y="5341783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4C05E40E-C17B-4AF6-9855-3BF6268E9886}"/>
              </a:ext>
            </a:extLst>
          </p:cNvPr>
          <p:cNvSpPr txBox="1"/>
          <p:nvPr/>
        </p:nvSpPr>
        <p:spPr>
          <a:xfrm>
            <a:off x="6455003" y="4090405"/>
            <a:ext cx="5473245" cy="83099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btnDel_Click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treeCtg.Nodes.Remove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treeCtg.SelectedNode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A60912-D6F3-488F-A503-ECAA0783C2B6}"/>
              </a:ext>
            </a:extLst>
          </p:cNvPr>
          <p:cNvSpPr/>
          <p:nvPr/>
        </p:nvSpPr>
        <p:spPr>
          <a:xfrm>
            <a:off x="11215773" y="4341304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F4DF7EAB-AE06-4970-81CC-DD03B2B479F2}"/>
              </a:ext>
            </a:extLst>
          </p:cNvPr>
          <p:cNvSpPr txBox="1"/>
          <p:nvPr/>
        </p:nvSpPr>
        <p:spPr>
          <a:xfrm>
            <a:off x="6455003" y="5155571"/>
            <a:ext cx="5473245" cy="101566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btnCtg_Click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treeCtg.SelectedNode.Parent.Text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treeCtg.SelectedNode.Text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68E095-7BFB-4D4C-8FB3-432B3ED41394}"/>
              </a:ext>
            </a:extLst>
          </p:cNvPr>
          <p:cNvSpPr/>
          <p:nvPr/>
        </p:nvSpPr>
        <p:spPr>
          <a:xfrm>
            <a:off x="11227847" y="5812704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47554856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4901</TotalTime>
  <Words>1335</Words>
  <Application>Microsoft Office PowerPoint</Application>
  <PresentationFormat>Geniş ekran</PresentationFormat>
  <Paragraphs>204</Paragraphs>
  <Slides>8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Consolas</vt:lpstr>
      <vt:lpstr>Times New Roman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68</cp:revision>
  <dcterms:created xsi:type="dcterms:W3CDTF">2021-02-24T12:37:41Z</dcterms:created>
  <dcterms:modified xsi:type="dcterms:W3CDTF">2024-10-16T18:12:06Z</dcterms:modified>
</cp:coreProperties>
</file>